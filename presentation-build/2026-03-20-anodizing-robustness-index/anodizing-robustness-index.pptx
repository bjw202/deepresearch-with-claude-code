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</p:sldIdLst>
  <p:notesMasterIdLst>
    <p:notesMasterId r:id="rId7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notesMaster" Target="notesMasters/notesMaster1.xml"/><Relationship Id="rId78" Type="http://schemas.openxmlformats.org/officeDocument/2006/relationships/presProps" Target="presProps.xml"/><Relationship Id="rId79" Type="http://schemas.openxmlformats.org/officeDocument/2006/relationships/viewProps" Target="viewProps.xml"/><Relationship Id="rId80" Type="http://schemas.openxmlformats.org/officeDocument/2006/relationships/theme" Target="theme/theme1.xml"/><Relationship Id="rId8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103120"/>
            <a:ext cx="13716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286000"/>
            <a:ext cx="94457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00" b="1" spc="-5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아노다이징 피막의 품질,</a:t>
            </a:r>
            <a:endParaRPr lang="en-US" sz="4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000" b="1" spc="-5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숫자 하나로 판단할 수 있을까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393192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아노다이징 강건성 지수(Anodizing Robustness Index) 설계 리서치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548640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2026-03-20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/ 55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지금 새로운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판정 기준이 필요한가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56616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현행 Go/No-Go 체계의 한계와 종합 지수의 필요성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55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현재 품질 판정은 "합격 아니면 불합격"밖에 없다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A1F36"/>
                </a:solidFill>
              </a:rPr>
              <a:t>아노다이징 피막의 현행 품질 판정 체계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5568"/>
                </a:solidFill>
              </a:rPr>
              <a:t>• MIL-PRF-8625 (미군), QUALANOD (유럽), AAMA (미국 건축) 등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5568"/>
                </a:solidFill>
              </a:rPr>
              <a:t>  전 세계 모든 주요 인증 체계는 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4A7BF7"/>
                </a:solidFill>
              </a:rPr>
              <a:t>Go/No-Go(합격/불합격) 판정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5568"/>
                </a:solidFill>
              </a:rPr>
              <a:t>을 사용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5568"/>
                </a:solidFill>
              </a:rPr>
              <a:t>• 각 시험 항목(두께, 봉공, 내식성, 경도 등)을 개별적으로 판정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5568"/>
                </a:solidFill>
              </a:rPr>
              <a:t>• 하나라도 불합격이면 전체 로트 거부
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6B6B"/>
                </a:solidFill>
              </a:rPr>
              <a:t>• "얼마나 좋은가"의 연속적 판단은 불가능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55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같은 합격 제품인데도 현장 불량률이 다르다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A1F36"/>
                </a:solidFill>
              </a:rPr>
              <a:t>합격 제품 사이의 품질 차이가 보이지 않는 문제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5568"/>
                </a:solidFill>
              </a:rPr>
              <a:t>• 로트 A: 두께 18µm, 봉공 양호, 내식성 500시간 → 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0D4AA"/>
                </a:solidFill>
              </a:rPr>
              <a:t>합격</a:t>
            </a:r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5568"/>
                </a:solidFill>
              </a:rPr>
              <a:t>• 로트 B: 두께 12µm, 봉공 최소 기준, 내식성 340시간 → 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0D4AA"/>
                </a:solidFill>
              </a:rPr>
              <a:t>합격</a:t>
            </a:r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5568"/>
                </a:solidFill>
              </a:rPr>
              <a:t>→ 둘 다 합격이지만 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6B6B"/>
                </a:solidFill>
              </a:rPr>
              <a:t>동남아 현장에서 B의 불량률이 3배 높다</a:t>
            </a:r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5568"/>
                </a:solidFill>
              </a:rPr>
              <a:t>→ 현행 체계로는 이 차이를 사전에 구분할 수 없다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55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60년간 종합 점수가 없었던 3가지 이유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부재의 이유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362956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A1F36"/>
                </a:solidFill>
              </a:rPr>
              <a:t>1. Go/No-Go로 충분했다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전통 용도(항공·건축·군사)에서는 합격/불합격만 중요했고, 합격 제품 간 차이는 가격에 반영되지 않았음
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A1F36"/>
                </a:solidFill>
              </a:rPr>
              <a:t>2. 다축 성능 압축이 어렵다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내식성, 내마모성, 외관, 전기절연 등 용도마다 중요한 축이 달라 단일 축 등급화가 불가
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A1F36"/>
                </a:solidFill>
              </a:rPr>
              <a:t>3. 시험 시간이 이질적이다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두께(10초)와 염수분무(336시간)를 동일 시점에 평가하는 것이 비현실적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77356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그런데 지금은 달라졌다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77356" y="2148840"/>
            <a:ext cx="5362956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• 소비전자 OEM이 합격 내 품질 차별화를 요구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• 동남아 등 가혹 환경에서 합격 제품 간 불량률 차이가 비즈니스에 직결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• 저가 비파괴 검사 장비의 등장으로 정량 데이터 수집 비용이 하락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• 다른 산업(자동차, 식품, 반도체)은 이미 종합 점수 체계를 운영 중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55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종합 지수가 가치를 갖는 3가지 상황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4A7BF7"/>
                </a:solidFill>
              </a:rPr>
              <a:t>1. 공급자 비교 · 프리미엄 가격 차등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5568"/>
                </a:solidFill>
              </a:rPr>
              <a:t>   동일 인증 합격 공급자 중 누가 더 나은지 단일 수치로 비교
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0D4AA"/>
                </a:solidFill>
              </a:rPr>
              <a:t>2. 공정 개선 추적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5568"/>
                </a:solidFill>
              </a:rPr>
              <a:t>   봉공 조건 변경, 전해액 교체 등의 효과를 연속적 점수로 모니터링
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B020"/>
                </a:solidFill>
              </a:rPr>
              <a:t>3. 환경별 차별 판정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5568"/>
                </a:solidFill>
              </a:rPr>
              <a:t>   동남아 출하 제품과 온대 지역 제품에 서로 다른 가중치를 적용하여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5568"/>
                </a:solidFill>
              </a:rPr>
              <a:t>   동일 합격 로트 내에서 용도별로 분류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55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5641848" y="1828800"/>
            <a:ext cx="9144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286000"/>
            <a:ext cx="944575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800" i="1" dirty="0">
                <a:solidFill>
                  <a:srgbClr val="1A1F36"/>
                </a:solidFill>
                <a:latin typeface="ChosunNm" pitchFamily="34" charset="0"/>
                <a:ea typeface="ChosunNm" pitchFamily="34" charset="-122"/>
                <a:cs typeface="ChosunNm" pitchFamily="34" charset="-120"/>
              </a:rPr>
              <a:t>“합격/불합격을 넘어,</a:t>
            </a:r>
            <a:endParaRPr lang="en-US" sz="2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800" i="1" dirty="0">
                <a:solidFill>
                  <a:srgbClr val="1A1F36"/>
                </a:solidFill>
                <a:latin typeface="ChosunNm" pitchFamily="34" charset="0"/>
                <a:ea typeface="ChosunNm" pitchFamily="34" charset="-122"/>
                <a:cs typeface="ChosunNm" pitchFamily="34" charset="-120"/>
              </a:rPr>
              <a:t>얼마나 좋은가를 측정해야 한다”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475488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이 리서치의 핵심 전제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55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세계 인증 체계는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검사하는가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56616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4대 인증 체계의 판정 항목과 구조를 비교한다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55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미군 사양은 9가지 항목을 개별 합격/불합격으로 판정한다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MIL-PRF-8625F — 미국 군사 규격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시험 항목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적용 타입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합격 기준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불합격 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피막 두께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Type II: 5~25µm, Type III: &gt;50µm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최소값 충족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로트 거부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내식성 (염수분무)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Type II: 168~336시간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허용 범위 이내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로트 거부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봉공 품질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염료 흡착 최소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로트 거부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내마모성 (Taber)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Type III 필수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규정 사이클 통과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로트 거부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밀착성 (접착력)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지정 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박리/탈락 없음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로트 거부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내광성 (색변화)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Class 2 (착색)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색차 ΔE ≤ 3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로트 거부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균일, 밀착, 결함 없음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로트 거부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하나라도 불합격이면 전체 로트가 거부된다. 종합 점수 개념은 없다.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55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유럽 품질 마크는 두께 등급만 구분하고 나머지는 합격/불합격이다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QUALANOD — 국제 품질 라벨 (ISO 7599 기반)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시험 항목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피막 두께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등급별: 5, 10, 15, 20, 25µm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두께 등급은 존재하나 품질 점수는 아님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봉공 품질 — 비파괴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어드미턴스 또는 염료 반점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 시료 합격 필요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봉공 품질 — 파괴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규정 중량 손실 이내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산 용해 시험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내식성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염수분무 336h 또는 1000h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등급에 따라 차등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외관/색상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규정 거리에서 결함 없음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육안 검사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내광성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착색 피막 색차 기준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자외선 노출 시험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두께 등급(5~25µm)은 "최소 요구 두께"의 카테고리이지, 품질 점수가 아니다.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55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미국 건축 기준은 두께와 내식성으로 2개 등급을 나눈다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AAMA 611 — 미국 건축용 알루미늄 아노다이징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Class I (고성능)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Class II (상업용)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피막 두께 (최소)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≥ 17.8µm (0.7mil)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≥ 10.2µm (0.4mil)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내식성 (염수분무)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3,000시간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1,000시간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봉공 (산 용해)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&lt; 2.60 mg/in²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&lt; 2.60 mg/in²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색상 안정성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ΔE &lt; 5 (10년 야외)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ΔE &lt; 5 (10년 야외)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외부 노출 건축물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내부 또는 경외부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5~10년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해당 없음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2개 등급(Class I/II)은 사실상 "두께 + 내식성 시간" 기반. 등급 내에서는 Go/No-Go.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55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독일 인증만 3단계 등급 체계를 사용한다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GSB International — 분체도장 품질 인증 (아노다이징은 전처리)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등급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야외 노출 기간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총 자외선량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광택 유지 요구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Standard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12개월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300 MJ/m²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≥ 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Master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36개월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840 MJ/m²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70~80%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Premium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60개월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1,400 MJ/m²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70~100%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84048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B020"/>
                </a:solidFill>
              </a:rPr>
              <a:t>주의: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</a:rPr>
              <a:t>GSB는 분체도장 인증이며, "내후성(광택 유지)"이라는 단일 축으로 등급화에 성공했다.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</a:rPr>
              <a:t>아노다이징은 내식성·내마모성·외관 등 다축 평가가 필요하므로 같은 방식의 직접 적용은 어렵다.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55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4대 인증 체계를 한눈에 비교하면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042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MIL-PRF-8625F (미군)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504291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판정: 순수 Go/No-Go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등급: 없음 (Type 분류만)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특징: 가장 엄격, 항목별 독립 판정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대상: 군사·항공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828800"/>
            <a:ext cx="5042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QUALANOD (유럽)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14516" y="2194560"/>
            <a:ext cx="504291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판정: Go/No-Go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등급: 두께 등급 (5~25µm)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특징: 라이선스 기반, 연 2회 검사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대상: 건축·장식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43400"/>
            <a:ext cx="5042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AAMA 611 (미국 건축)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709160"/>
            <a:ext cx="504291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판정: Go/No-Go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등급: Class I / II (2단계)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특징: 두께+내식성 기반 등급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대상: 건축 외장재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6414516" y="4343400"/>
            <a:ext cx="5042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GSB (독일)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14516" y="4709160"/>
            <a:ext cx="504291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판정: Go/No-Go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등급: Standard/Master/Premium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특징: 유일한 3단계 등급화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대상: 분체도장 (아노다이징 아님)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55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모든 인증의 공통점: 종합 점수는 없다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4A7BF7"/>
                </a:solidFill>
              </a:rPr>
              <a:t>핵심 발견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5568"/>
                </a:solidFill>
              </a:rPr>
              <a:t>• 아노다이징 품질을 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6B6B"/>
                </a:solidFill>
              </a:rPr>
              <a:t>단일 지수로 통합한 학술 논문, 특허, 산업 표준이 전무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5568"/>
                </a:solidFill>
              </a:rPr>
              <a:t>
• 등급화(AAMA Class I/II, GSB 3단계)는 존재하지만,
  이는 "어떤 수준을 충족하는가"의 이산적 분류이지 "얼마나 좋은가"의 연속 점수가 아님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5568"/>
                </a:solidFill>
              </a:rPr>
              <a:t>• 검색 키워드: "anodizing quality index", "anodizing composite score" 등
  → 해당하는 결과 없음
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A1F36"/>
                </a:solidFill>
              </a:rPr>
              <a:t>→ 이것은 "혁신 기회"일 수도, "불필요해서 없는 것"일 수도 있다.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A1F36"/>
                </a:solidFill>
              </a:rPr>
              <a:t>   어느 쪽인지는 파일럿으로 검증해야 한다.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/ 55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대형 제조사의 내부 기준이 실질적 표준을 견인한다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A1F36"/>
                </a:solidFill>
              </a:rPr>
              <a:t>공식 인증 = 최소 기준 / 실질 기준 = 대형 OEM의 비공개 사양
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</a:rPr>
              <a:t>• Apple: 7000계 알루미늄, "항공우주 등급" 아노다이징 주장,
  매트 블랙(L* &lt; 10) 등 특정 외관 목표값을 특허로 관리
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</a:rPr>
              <a:t>• Samsung: "NO SPEC NO WORK" 원칙, 자체 품질 핸드북 운영
  최근 티타늄으로 전환 추세 (Galaxy S24 Ultra~)
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</a:rPr>
              <a:t>• 공통점: MIL/QUALANOD보다 외관(cosmetic) 기준이 훨씬 엄격
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4A7BF7"/>
                </a:solidFill>
              </a:rPr>
              <a:t>시사점: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1F36"/>
                </a:solidFill>
              </a:rPr>
              <a:t>강건성 지수는 이들 OEM의 "비공개 기준"을 체계화하는 도구가 될 수 있다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/ 55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산업의 종합 점수화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사례에서 배운다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56616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자동차, 식품, 소프트웨어 산업의 Gate+Score 구조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/ 55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결함을 등급별로 가중치를 매겨 합산하는 감점 체계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감점 체계 (Demerit Scoring System) — 제조업 범용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결함 등급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가중치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의미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아노다이징 예시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Class A (치명)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100점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안전 위험 또는 기능 상실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피막 완전 박리, 모재 노출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Class B (주요)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 기능 저하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봉공 불량, 심한 부식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Class C (경미)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경미한 성능 이슈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두께 하한 근접, 약한 변색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Class D (외관)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외관 결함만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미세 얼룩, 광택 불균일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5720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 지수 = (100×nA + 50×nB + 10×nC + 1×nD) ÷ 총 검사 수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52120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주의: 가중치 비율(100:50:10:1)은 경험적 설정이며, 아노다이징에 적용 시 전문가 합의로 재설정 필요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/ 55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브라질 주조 기업은 가중합과 감점 승수를 결합했다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Tupy SQI (Supplier Quality Index) — 자동차 주조 산업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A1F36"/>
                </a:solidFill>
              </a:rPr>
              <a:t>SQI 산출 공식
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4A7BF7"/>
                </a:solidFill>
              </a:rPr>
              <a:t>SQI = [자재품질(50%) + 품질시스템(20%) + 상업자세(30%)]
       × 시정조치 × 응답속도 × 공정품질 × 서류전달 × 재발방지
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A1F36"/>
                </a:solidFill>
              </a:rPr>
              <a:t>핵심 설계 원칙:
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</a:rPr>
              <a:t>• 일부 항목은 더하기(가중합) → 부분적 보상 가능
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</a:rPr>
              <a:t>• 일부 항목은 곱하기(승수) → 치명적 실패 시 전체 점수 급락
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</a:rPr>
              <a:t>• 승수가 0에 수렴하면 전체 SQI → 0 (사실상 불합격 관문)
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0D4AA"/>
                </a:solidFill>
              </a:rPr>
              <a:t>→ 이것이 Gate(관문) + Score(점수) 구조와 수학적으로 동일하다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 / 55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불량이 어디서 발견되느냐에 따라 감점이 기하급수적으로 커진다</a:t>
            </a:r>
            <a:endParaRPr lang="en-US" sz="2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불량 로트 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입고검사 발견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적용 단계 발견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고객 발견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현장(필드) 발견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0.80 (−20%)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0.60 (−40%)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0.40 (−60%)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0.20 (−80%)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0.64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0.36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0.16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0.04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0.51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0.22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0.06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5건 이상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0.33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0.08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0.00 (사실상 퇴출)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아노다이징에도 적용 가능: "공정 내 발견"보다 "고객 불만"이 훨씬 큰 감점을 받는 구조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 / 55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4가지 산업 사례의 공통 구조: 관문(Gate) + 점수(Score)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042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식품안전 (HACCP)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504291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관문: 위해요인 임계점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(온도, 시간 위반 → 즉시 폐기)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점수: 품질 관련 항목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(맛, 외관 등 등급화)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828800"/>
            <a:ext cx="5042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자동차 (Tupy SQI)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14516" y="2194560"/>
            <a:ext cx="504291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관문: 감점 승수 → 0 수렴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(치명 불량 발견 시)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점수: 가중합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(자재·시스템·상업 50:20:30)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43400"/>
            <a:ext cx="5042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소프트웨어 품질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709160"/>
            <a:ext cx="504291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관문: 컴파일·실행·메모리 안전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(실패 시 점수 = 0)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점수: 정확도·성능·코드 품질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(카테고리별 가중합)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6414516" y="4343400"/>
            <a:ext cx="5042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번역 품질 (MQM)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14516" y="4709160"/>
            <a:ext cx="504291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관문: 치명 오류 발생 시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(자동 불합격)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점수: 오류 가중합 → 정규화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(100점 만점 기준)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/ 55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식품 안전의 "관문"과 "품질점수" 2단계가 가장 좋은 모델이다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</a:rPr>
              <a:t>1단계: 관문 (CCP)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362956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Critical Control Point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위해요인 관리 필수 단계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살균 온도 &lt; 72°C → 즉시 폐기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금속 검출기 반응 → 즉시 격리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보상 불가: 다른 항목이 아무리 좋아도 무효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아노다이징 대응: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두께 미달, 봉공 불합격, 피막 박리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77356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</a:rPr>
              <a:t>2단계: 점수 (CQP)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77356" y="2148840"/>
            <a:ext cx="5362956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Critical Quality Point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품질 영향 단계 (안전과 무관)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외관, 맛, 포장 품질 → 등급/점수화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부분 보상 가능: 한 항목 낮으면 다른 항목으로 보완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아노다이징 대응: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색차, 광택, 경도, 두께 여유율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 / 55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교훈: 치명 항목은 점수화하지 말고 즉시 불합격 처리한다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A1F36"/>
                </a:solidFill>
              </a:rPr>
              <a:t>Gate(관문) 설계의 3가지 원칙
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4A7BF7"/>
                </a:solidFill>
              </a:rPr>
              <a:t>1. 보상 불가 원칙
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A5568"/>
                </a:solidFill>
              </a:rPr>
              <a:t>   봉공이 완전 실패한 피막은, 두께가 아무리 두꺼워도 구제할 수 없다.
   이런 항목은 점수화하지 않고 즉시 불합격(Gate) 처리한다.
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4A7BF7"/>
                </a:solidFill>
              </a:rPr>
              <a:t>2. 전수 비파괴 원칙
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A5568"/>
                </a:solidFill>
              </a:rPr>
              <a:t>   Gate 항목은 모든 제품에 적용해야 하므로,
   전수 비파괴 검사가 가능한 항목만 Gate에 포함한다.
   (예: 염수분무 336시간은 Gate 불가 → 자격 인증으로 배치)
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4A7BF7"/>
                </a:solidFill>
              </a:rPr>
              <a:t>3. 최소 항목 원칙
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A5568"/>
                </a:solidFill>
              </a:rPr>
              <a:t>   Gate를 늘리면 유연성이 줄어든다. 정말 치명적인 3~5개만 Gate에 넣는다.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 / 55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전기로 피막 속을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들여다보는 비파괴 검사법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56616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전기화학 임피던스 분광법(EIS)의 원리, 지표, 신뢰성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 / 55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전기화학 임피던스 분광법이란 무엇인가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4A7BF7"/>
                </a:solidFill>
              </a:rPr>
              <a:t>전기화학 임피던스 분광법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18096"/>
                </a:solidFill>
              </a:rPr>
              <a:t>(Electrochemical Impedance Spectroscopy, 이하 EIS)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5568"/>
                </a:solidFill>
              </a:rPr>
              <a:t>작은 교류 전압을 피막에 가하고, 돌아오는 전류의 크기와 시간차를 분석하여
피막의 저항성과 구조를 비파괴로 파악하는 방법
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A1F36"/>
                </a:solidFill>
              </a:rPr>
              <a:t>비유: 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5568"/>
                </a:solidFill>
              </a:rPr>
              <a:t>의사가 청진기로 심장 소리를 들어 건강 상태를 파악하듯,
EIS는 전기 신호로 피막 속 상태를 "듣는다"
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</a:rPr>
              <a:t>• 낮은 주파수(느린 신호) → 피막 전체의 저항(보호 능력) 파악
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</a:rPr>
              <a:t>• 높은 주파수(빠른 신호) → 피막 표면(봉공 상태) 파악
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</a:rPr>
              <a:t>• 중간 주파수 → 내부 구조(다공층/배리어층) 분리 가능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 / 55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아노다이징 피막은 2개 층으로 구성되어 있다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7BF7"/>
                </a:solidFill>
              </a:rPr>
              <a:t>다공층 (Porous Layer)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362956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벌집 모양의 미세한 구멍이 촘촘히 배열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두께: 5~100µm (공정 조건에 따라)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역할: 전체 피막 두께의 대부분 차지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봉공(sealing) 처리로 구멍을 막아 보호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봉공이 불완전하면: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수분·염분이 구멍으로 침투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내부에서 부식 시작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겉으로 보이지 않다가 갑자기 불량 발생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77356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</a:rPr>
              <a:t>배리어층 (Barrier Layer)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77356" y="2148840"/>
            <a:ext cx="5362956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알루미늄 모재 바로 위의 얇고 치밀한 층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두께: 10~100nm (매우 얇음)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역할: 부식 방지의 최후 방어선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EIS로 이 층의 저항(R_barrier)을 측정 가능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배리어층이 손상되면: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모재 알루미늄이 직접 부식에 노출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핏팅(국부 부식) 시작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피막 전체가 의미를 잃음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 / 55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복잡한 모델링 없이도 쓸 수 있는 3가지 간편 지표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1F36"/>
                </a:solidFill>
              </a:rPr>
              <a:t>"피팅-프리(fitting-free) 지표"란?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수학적 모델링(등가회로 피팅) 없이 측정 데이터에서 바로 읽어내는 수치.
전문가가 아니어도 자동화 시스템으로 판정 가능.
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4A7BF7"/>
                </a:solidFill>
              </a:rPr>
              <a:t>1. 저주파 임피던스 |Z|₀.₁Hz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   → 피막 전체의 보호 능력을 한 숫자로 표현
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0D4AA"/>
                </a:solidFill>
              </a:rPr>
              <a:t>2. 열화 지수 CDI%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   → 시간에 따라 피막이 얼마나 나빠졌는지 추적 (Coating Deterioration Index)
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B020"/>
                </a:solidFill>
              </a:rPr>
              <a:t>3. 주파수 전환점 f_b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   → 피막 결함이 차지하는 면적 비율을 추정 (breakpoint frequency)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 / 55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저주파 임피던스로 피막의 전체 저항성을 한 숫자로 본다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|Z|₀.₁Hz — 0.1Hz에서의 임피던스 크기</a:t>
            </a:r>
            <a:endParaRPr lang="en-US" sz="14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등급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임피던스 범위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의미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현장 판단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우수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&gt; 100,000,000 Ω·cm²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부식 방지 충분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출하 적합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10,000,000 ~ 100,000,000 Ω·cm²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모니터링 필요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조건부 출하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&lt; 1,000,000 Ω·cm²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보호 불충분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출하 부적합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11480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B020"/>
                </a:solidFill>
              </a:rPr>
              <a:t>⚠️ 주의: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18096"/>
                </a:solidFill>
              </a:rPr>
              <a:t>위 기준값은 유기코팅(에폭시, 폴리우레탄)에서 확립된 것이며(출처: USBR 2019),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18096"/>
                </a:solidFill>
              </a:rPr>
              <a:t>아노다이징 피막에 대한 직접 검증 데이터는 부족합니다. 현장 적용 전 합금별·봉공별 검증이 필요합니다.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 / 55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피막 열화를 시간에 따라 추적하는 열화 지수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CDI% (Coating Deterioration Index) — 피막 열화 지수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A1F36"/>
                </a:solidFill>
              </a:rPr>
              <a:t>계산 방법
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4A7BF7"/>
                </a:solidFill>
              </a:rPr>
              <a:t>CDI(t) = [초기 임피던스 − 현재 임피던스] ÷ 초기 임피던스 × 100
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1F36"/>
                </a:solidFill>
              </a:rPr>
              <a:t>해석
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A5568"/>
                </a:solidFill>
              </a:rPr>
              <a:t>• CDI = 0% → 초기와 동일, 열화 없음
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A5568"/>
                </a:solidFill>
              </a:rPr>
              <a:t>• CDI = 30% → 초기 대비 30% 보호 능력 감소
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A5568"/>
                </a:solidFill>
              </a:rPr>
              <a:t>• CDI &gt; 50% → 심각한 열화, 피막 교체 검토
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1F36"/>
                </a:solidFill>
              </a:rPr>
              <a:t>검증 현황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• Mansfeld 그룹이 제안(1991), 알루미늄 6061 아노다이징에서 직접 검증 ★★★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</a:rPr>
              <a:t>• 초기 측정 시점의 불안정성(수분 침투 과도현상)이 기준점을 왜곡할 수 있음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 / 55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주파수 전환점으로 피막의 활성 결함 비율을 추정한다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f_b (breakpoint frequency) — 전환 주파수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A1F36"/>
                </a:solidFill>
              </a:rPr>
              <a:t>원리
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A5568"/>
                </a:solidFill>
              </a:rPr>
              <a:t>피막이 전기를 "저장하는 거동"에서 "흘리는 거동"으로 바뀌는 주파수 지점
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A5568"/>
                </a:solidFill>
              </a:rPr>
              <a:t>• 건전한 피막: 전환 주파수가 낮다 (&lt; 1 Hz) → 결함 면적이 작다
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A5568"/>
                </a:solidFill>
              </a:rPr>
              <a:t>• 결함 있는 피막: 전환 주파수가 높다 (&gt; 10 Hz) → 결함 면적이 크다
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1F36"/>
                </a:solidFill>
              </a:rPr>
              <a:t>검증 현황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• Huang 등(2008): 알루미늄 6061 경질 아노다이징에서 365일간 직접 검증 ★★★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• 전환 주파수가 1년간 안정 유지 → 경질 아노다이징의 우수한 내식성 실증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8096"/>
                </a:solidFill>
              </a:rPr>
              <a:t>주의: 2개 이상의 전환점이 나타나거나, 전환이 불명확한 경우가 있어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8096"/>
                </a:solidFill>
              </a:rPr>
              <a:t>자동 판정 시 예외 처리 로직 필요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 / 55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등가회로 분석을 하면 각 층의 상태를 개별적으로 파악할 수 있다</a:t>
            </a:r>
            <a:endParaRPr lang="en-US" sz="24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파라미터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건전 피막 기준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열화 시 변화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의미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검증 도메인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R_pore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(다공층 저항)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&gt; 200 kΩ·cm²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감소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봉공 품질 직접 반영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아노다이징 직접 ★★★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R_barrier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(배리어층 저항)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&gt; 1,000,000 Ω·cm²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감소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최종 부식 방지 성능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아노다이징 직접 ★★★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C_por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(다공층 정전용량)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0.4~1.0 nF/cm²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증가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수분 침투도 반영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아노다이징 직접 ★★★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C_bar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(배리어층 정전용량)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~1 nF/cm²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증가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두께 감소 반영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아노다이징 직접 ★★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등가회로 분석은 전문가 의존도가 높아 자동화가 어렵다. 간편 지표를 우선 권장.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/ 55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아노다이징에서 직접 검증된 지표 vs 다른 코팅에서 빌려온 지표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08676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042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아노다이징 직접 검증 ★★★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5042916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비어드미턴스 A_s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(봉공 품질, ISO 2931 관련)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전환 주파수 f_b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(Huang 2008, Al 6061)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열화 지수 CDI%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(Mansfeld 그룹)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다공층/배리어층 저항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(Huang, Suay 등)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5408676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828800"/>
            <a:ext cx="5042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유기코팅에서 차용 ★~★★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14516" y="2194560"/>
            <a:ext cx="5042916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저주파 임피던스 기준값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(10⁸/10⁶ Ω 경계)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→ 유기코팅(USBR 2019)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확률 플롯 판정법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→ 파이프라인 코팅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⚠️ 아노다이징 피막은 유기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코팅보다 얇고 구조가 다르므로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기준값 직접 전용은 위험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 / 55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임계값은 아직 아노다이징에서 충분히 검증되지 않았다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4389120"/>
          </a:xfrm>
          <a:prstGeom prst="roundRect">
            <a:avLst>
              <a:gd name="adj" fmla="val 2083"/>
            </a:avLst>
          </a:prstGeom>
          <a:solidFill>
            <a:srgbClr val="FFF8E7"/>
          </a:solidFill>
          <a:ln w="25400">
            <a:solidFill>
              <a:srgbClr val="FFB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10360152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B020"/>
                </a:solidFill>
              </a:rPr>
              <a:t>⚠️ 검증 상태 요약 (독립 검증팀 리뷰 결과)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A1F36"/>
                </a:solidFill>
              </a:rPr>
              <a:t>1. 저주파 임피던스 기준(10⁸/10⁶ Ω)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   → 유기코팅에서 확립, 아노다이징 직접 검증은 불충분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A1F36"/>
                </a:solidFill>
              </a:rPr>
              <a:t>2. 연구자 간 임계값 불일치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   → 한 연구자는 10⁶ 미만을 "불량"으로, 다른 연구자는 10⁵ 이상을 "합격"으로 제시
   → 3자릿수(1,000배) 차이가 미해결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A1F36"/>
                </a:solidFill>
              </a:rPr>
              <a:t>3. 합금별 기준값 부재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   → 6063, 6061, 7075 등 합금에 따라 값이 크게 달라지나 통일 기준 없음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6B6B"/>
                </a:solidFill>
              </a:rPr>
              <a:t>결론: 현장 적용 전 반드시 합금별·봉공별 자체 검증 데이터 확보 필요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 / 55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비파괴 전기 검사를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현장에 도입할 수 있는가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56616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장비 비용, 측정 시간, 자동화, 표준화 현황 점검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 / 55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산업계는 이미 단순화된 전기 검사를 쓰고 있다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7BF7"/>
                </a:solidFill>
              </a:rPr>
              <a:t>어드미턴스 시험 (ISO 2931)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362956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봉공 품질 판정의 산업 표준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단일 주파수(~1kHz)로 정전용량 측정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측정 시간: 1~2분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장비: LCR 미터 ($500~2,000)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QUALANOD 인증의 핵심 시험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합격 기준: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어드미턴스 ≤ 400/두께(µm) µS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77356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</a:rPr>
              <a:t>사실 이것은...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77356" y="2148840"/>
            <a:ext cx="5362956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전기화학 임피던스 분광법(EIS)의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극단적 간소화 버전이다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EIS: 수십~수만 개 주파수를 스캔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→ 피막 전체 구조를 상세 파악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어드미턴스: 1개 주파수만 사용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→ 봉공 상태만 빠르게 확인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결론: 일상 봉공 품질관리에는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어드미턴스로 충분하다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 / 55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단일 주파수 검사와 전체 스펙트럼 검사의 차이</a:t>
            </a:r>
            <a:endParaRPr lang="en-US" sz="24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비교 항목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어드미턴스 (ISO 2931)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전체 임피던스 분광법 (EIS)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주파수 범위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1개 (~1kHz)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수십~수만 개 (0.01~100,000 Hz)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측정 시간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 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5~30분 (일반) / 1~2분 (고속)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알 수 있는 것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봉공 상태 (1개 수치)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다공층·배리어층 개별 상태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장비 비용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LCR 미터 $500~2,000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포텐시오스탯 $5,000~50,000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표준화 수준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ISO 2931, QUALANOD 채택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아노다이징 전용 표준 없음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전문성 요구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 (기사 수준)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 (전기화학 지식 필요)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적합 용도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일상 봉공 품질관리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공정 최적화, 불량 원인 분석, R&amp;D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 / 55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여러 주파수를 동시에 보내면 측정 시간을 4배 단축할 수 있다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멀티사인(Multi-sine) 기법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</a:rPr>
              <a:t>일반 방식: 주파수를 하나씩 순서대로 → 5~30분 소요
멀티사인: 여러 주파수를 동시에 인가 → 1~2분으로 단축
</a:t>
            </a:r>
            <a:endParaRPr lang="en-US" sz="16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 단축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정확도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 멀티사인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3~4배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일반 방식과 동등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상용 장비에 이미 탑재 (Gamry OptiEIS)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홀수랜덤위상 방식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최대 4배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일반보다 우수한 신뢰구간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비선형성 자동 감지 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최적화 멀티사인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~6배 (30초)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크기 오차 0.47%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2025년 최신 연구 결과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3035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30초 내 측정 가능해지면 배치 간 샘플링이 현실적으로 가능해진다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36 / 55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3만 원짜리 칩으로 임피던스 분석기를 만들 수 있다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AD5941 기반 저가 포텐시오스탯의 등장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4A7BF7"/>
                </a:solidFill>
              </a:rPr>
              <a:t>HunStat2 (2025년 발표)
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</a:rPr>
              <a:t>• 핵심 부품: Analog Devices AD5941 칩 (~$30)
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</a:rPr>
              <a:t>• 임피던스 측정 범위: 0.2Hz ~ 200kHz
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</a:rPr>
              <a:t>• 기능: 전압-전류 곡선(CV), 개방전위(OCP), 임피던스 분광법(EIS)
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</a:rPr>
              <a:t>• 무료 소프트웨어 제공
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A1F36"/>
                </a:solidFill>
              </a:rPr>
              <a:t>의미: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</a:rPr>
              <a:t>$30짜리 장비를 여러 대 설치하는 것이
$15,000 장비 1대보다 현장 커버리지 측면에서 유리할 수 있다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B020"/>
                </a:solidFill>
              </a:rPr>
              <a:t>⚠️ 단, 고임피던스(10⁹Ω 이상) 측정 정확도는 미검증.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B020"/>
                </a:solidFill>
              </a:rPr>
              <a:t>아노다이징 피막에서의 직접 검증 데이터가 아직 없다.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37 / 55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장비 가격대별 선택 가이드</a:t>
            </a:r>
            <a:endParaRPr lang="en-US" sz="24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등급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대표 제품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주파수 범위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적합 용도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연구용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Gamry Reference 3000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$15,000~30,000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0.00001~1,000,000 Hz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R&amp;D, 논문급 데이터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Gamry Interface 1010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$8,000~15,000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0.01~1,000,000 Hz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공정 최적화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현장 휴대용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PalmSens4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$5,000~8,000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0.01~1,000,000 Hz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현장 출장 측정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초저가 DIY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HunStat2 (AD5941)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~$30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0.2~200,000 Hz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다수 배치 (미검증)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기존 봉공 QC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LCR 미터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$500~2,000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단일 주파수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일상 봉공 판정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035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즉시 적용 가능: LCR 미터 + ISO 2931. 전체 EIS는 Tier 3(자격 인증)용으로만 정당화.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 / 55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자동 해석 소프트웨어가 전문가 의존도를 낮춘다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AutoEIS — 오픈소스 자동 등가회로 분석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</a:rPr>
              <a:t>• 파이썬(Python) 오픈소스 패키지
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</a:rPr>
              <a:t>• 측정 데이터를 넣으면 자동으로 등가회로 모델을 제안하고 피팅
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</a:rPr>
              <a:t>• 진화 알고리즘 + 베이지안 추론으로 최적 모델 선택
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</a:rPr>
              <a:t>• 수동 편향 제거, 재현성 향상
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B020"/>
                </a:solidFill>
              </a:rPr>
              <a:t>하지만 현장 QC에서는 과잉 투자일 수 있다
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</a:rPr>
              <a:t>간편 지표(저주파 임피던스 한 숫자)만으로 합격/불합격 판정이 충분하다면,
복잡한 등가회로 분석까지 갈 필요가 없다.
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4A7BF7"/>
                </a:solidFill>
              </a:rPr>
              <a:t>→ AutoEIS는 불량 원인 분석, 공정 개선 시에만 활용 권장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39 / 55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현장 도입의 4가지 미해결 과제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042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습식 셀 필수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504291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전기화학 측정이므로 전해질(액체)이 반드시 필요.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건식(마른 상태) 측정은 현재 불가능.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생산 라인에서 액체를 다루는 것은 비현실적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828800"/>
            <a:ext cx="5042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전용 표준 부재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14516" y="2194560"/>
            <a:ext cx="504291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아노다이징 피막 전용 EIS 표준이 없다.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전해질 종류, 온도, 면적, 주파수 범위가 연구자마다 다름.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측정값의 비교·호환이 어렵다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43400"/>
            <a:ext cx="5042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임계값 미확립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709160"/>
            <a:ext cx="504291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합격/불합격을 가르는 수치가 합금별·봉공별로 확정되지 않음.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유기코팅 기준을 빌려 쓰는 중이나 적합성 미검증.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"얼마여야 합격인가"에 대한 답이 없다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6414516" y="4343400"/>
            <a:ext cx="50429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국소 결함 미감지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14516" y="4709160"/>
            <a:ext cx="504291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EIS는 전체 면적의 평균 임피던스를 측정.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면적 1% 미만의 핀홀은 감지하지 못할 수 있다.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핀홀 탐지는 와전류나 광학 검사가 적합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 / 55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전체 스펙트럼 검사는 연구와 자격 인증에 적합하다</a:t>
            </a:r>
            <a:endParaRPr lang="en-US" sz="24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적합 도구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근거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봉공 품질관리 (일상)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어드미턴스 (ISO 2931)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산업 표준, 비파괴, 2분, $500~2,000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공정 최적화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전체 EIS (간편 지표)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배리어층/다공층 분리 진단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불량 원인 분석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전체 EIS + 등가회로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열화 메커니즘 규명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자격 인증 (연 1~2회)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저주파 임피던스 + 전환 주파수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장기 내식성 예측 지표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7200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결론: EIS를 일상 품질관리(QC)에 쓰려면 아직 이르다.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하지만 공정 개선과 자격 인증에서는 다른 도구로 대체할 수 없는 가치가 있다.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41 / 55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파괴/비파괴 시험법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16종을 정리한다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56616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내식성, 봉공, 기계적 성질, 두께, 외관, 가속 노화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 / 55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내식성 시험: 염수분무부터 인공땀까지</a:t>
            </a:r>
            <a:endParaRPr lang="en-US" sz="24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시험법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파괴/비파괴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염수분무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ASTM B117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336시간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산업 표준이나 실제 환경 상관성 낮음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CASS 시험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ASTM B368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16~48시간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3~6배 가속, 장식 도금에 최적화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AASS 시험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ISO 9227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48~96시간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CASS보다 덜 공격적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인공땀 침지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ISO 3160-2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24~72시간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소비전자에 직접 관련, 아노다이징 전용 규격 없음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 / 55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봉공 품질 시험: 전기 검사부터 산 용해까지</a:t>
            </a:r>
            <a:endParaRPr lang="en-US" sz="24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시험법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파괴/비파괴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어드미턴스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ISO 2931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1~2분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비파괴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정량적, EIS와 상관 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산 용해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ASTM B680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정량적 (질량 손실 ≤ 40mg/dm²)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염색 반점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ASTM B136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7~10분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비파괴(미세 흔적)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신속·저비용, 정량성 부족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염산 침지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사내 기준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5~10분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간단하나 표준화 부족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44 / 55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기계적 시험: 접착력, 경도, 마모 저항</a:t>
            </a:r>
            <a:endParaRPr lang="en-US" sz="24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시험법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파괴/비파괴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크로스컷 접착력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ISO 2409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파괴(소면적)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간편하나 아노다이징은 접착 메커니즘이 다름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풀오프 접착력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ASTM D4541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30분+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정량적(MPa), 접착제에 결과 의존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경도 (Knoop)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ASTM E384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비파괴(미소)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Type II: 300~400 HK, Type III: 500~700 HK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Taber 마모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ASTM D4060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30~60분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실사용 마모 시뮬레이션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 / 55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두께와 외관: 전수 비파괴 검사가 가능한 항목</a:t>
            </a:r>
            <a:endParaRPr lang="en-US" sz="24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시험법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파괴/비파괴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와전류 두께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ISO 2360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비파괴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가장 널리 사용, 전수검사 가능, ±1µm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현미경 단면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ASTM B487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1~2시간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절대 기준(referee), 층 구조 관찰 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색차 (ΔE)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ASTM D2244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비파괴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정량적, 분광측색기 사용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광택도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ISO 2813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비파괴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표면 마감 품질 지표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육안 검사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사내 기준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비파괴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즉시 판정, 주관적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46 / 55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시험 항목 간 상관관계: 중복을 줄일 수 있는 조합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4039" cy="448056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45920"/>
            <a:ext cx="3477463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314827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높은 상관 (중복 가능)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148279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어드미턴스 ↔ EIS 다공층 저항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(같은 물리량 측정)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염색 반점 ↔ 산 용해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(둘 다 봉공도 평가)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피막 두께 ↔ 염수분무 시간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(두께↑ → 내식↑, 대략 선형)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36999" y="1645920"/>
            <a:ext cx="3514039" cy="448056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55287" y="1645920"/>
            <a:ext cx="3477463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4519879" y="1828800"/>
            <a:ext cx="314827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낮은 상관 (독립 정보)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19879" y="2194560"/>
            <a:ext cx="3148279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열화 지수(CDI) ↔ 접착력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(다른 메커니즘)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경도/마모 ↔ 내식성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(기계적 vs 화학적)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색차(ΔE) ↔ 봉공 품질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(역은 성립하지 않음)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358" y="1645920"/>
            <a:ext cx="3514039" cy="448056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43646" y="1645920"/>
            <a:ext cx="3477463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8308238" y="1828800"/>
            <a:ext cx="314827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시사점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08238" y="2194560"/>
            <a:ext cx="3148279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어드미턴스 + 산 용해는 중복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하나만 선택해도 충분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경도와 내식성은 독립적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둘 다 측정해야 전체 품질 파악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지수 설계 시 중복 항목은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하나만 포함하여 가중치 편중 방지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47 / 55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전기 검사 값과 염수분무 합격률은 로그-선형 관계를 보인다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BF7"/>
                </a:solidFill>
              </a:rPr>
              <a:t>Buchheit 연구 (Sandia 국립연구소)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362956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33종 변환 피막 + 5종 알루미늄 합금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전기 저항(EIS) vs 168시간 염수분무 비교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결과: 로그-선형 관계 확인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전기 저항 ≥ 2~5백만 Ω·cm² 이면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염수분무 합격 확률 높음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EIS가 극단값에서 더 변별력 있음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(매우 좋거나 매우 나쁜 코팅 구분)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77356" y="1645920"/>
            <a:ext cx="5362956" cy="3657600"/>
          </a:xfrm>
          <a:prstGeom prst="roundRect">
            <a:avLst>
              <a:gd name="adj" fmla="val 2500"/>
            </a:avLst>
          </a:prstGeom>
          <a:solidFill>
            <a:srgbClr val="FFF8E7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82880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B020"/>
                </a:solidFill>
              </a:rPr>
              <a:t>⚠️ 주의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</a:rPr>
              <a:t>이 연구는 아노다이징이 아닌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</a:rPr>
              <a:t>크로메이트 변환 피막 대상.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</a:rPr>
              <a:t>아노다이징 피막(10~25µm)은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</a:rPr>
              <a:t>변환 피막(0.1~1µm)의 수십 배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</a:rPr>
              <a:t>두께이며 구조가 다르다.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</a:rPr>
              <a:t>임계값의 직접 전용은 위험하나,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</a:rPr>
              <a:t>"EIS가 염수분무보다 변별력 있다"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</a:rPr>
              <a:t>는 정성적 결론은 유효할 가능성 높음.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48 / 55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고온고습 환경과 인체 땀이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피막을 공격하는 메커니즘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0" y="356616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동남아 소비전자 시장의 핵심 열화 원인과 사전 예측법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49 / 55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동남아 열대 환경의 전형적 조건</a:t>
            </a:r>
            <a:endParaRPr lang="en-US" sz="24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파라미터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동남아 전형값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온대 지역 비교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온도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28~35°C (연평균 27°C)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10~20°C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반응 속도 2~3배 가속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상대습도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70~90% (연평균 80%)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40~60%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조해점 이상 → 연속 부식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연간 강수량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1,500~3,000mm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600~1,200mm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습건 사이클 빈번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일사량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4.5~5.5 kWh/m²/day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2.5~3.5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UV 열화 가속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84632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핵심: 습도 70% 이상에서 땀 잔류물(소금)이 공기 중 수분을 흡수하여 마르지 않는다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온대 지역에서는 건조되어 부식이 멈추지만, 동남아에서는 연속 부식 조건이 성립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 / 55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인체 땀의 조성: 소금, 젖산, 요소가 혼합된 약산성 전해질</a:t>
            </a:r>
            <a:endParaRPr lang="en-US" sz="24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농도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피막에 미치는 영향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~99%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전해질 용매 역할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염화나트륨 (NaCl)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1~5 g/L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핏팅(국부) 부식의 주원인 — 염소 이온이 피막을 공격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젖산 (Lactic acid)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1~3 g/L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산화피막을 균일하게 녹이는 킬레이트제 역할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요소 (Urea)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1~2 g/L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가수분해 → 암모니아 → 국소 pH 변화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pH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4.0~6.8 (평균 5.5)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약산성 — 산화알루미늄 안정 영역(pH 4~9)의 하한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035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염소 이온(Cl⁻) + 젖산의 복합 공격이 핵심. 단독보다 동시 존재 시 부식 가속.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 / 55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습도 40% 이상에서 땀 잔류물이 마르지 않아 부식이 멈추지 않는다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6B6B"/>
                </a:solidFill>
              </a:rPr>
              <a:t>이것이 동남아 필드 불량의 핵심 원인이다
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4A7BF7"/>
                </a:solidFill>
              </a:rPr>
              <a:t>온대 지역 (습도 40% 미만)
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A5568"/>
                </a:solidFill>
              </a:rPr>
              <a:t>  손에서 땀 → 피막 표면에 잔류 → 건조되어 결정화 → 부식 정지
  → 다음 접촉까지 피막이 회복할 시간 확보
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6B6B"/>
                </a:solidFill>
              </a:rPr>
              <a:t>동남아 (습도 70~90%)
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A5568"/>
                </a:solidFill>
              </a:rPr>
              <a:t>  손에서 땀 → 피막 표면에 잔류 → NaCl이 공기 중 수분을 흡수(조해)
  → 액체 상태 유지 → 부식이 24시간 연속 진행
  → 봉공 불완전 부위에서 부식이 점점 확대
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1F36"/>
                </a:solidFill>
              </a:rPr>
              <a:t>→ 핵심은 "피막의 문제"가 아니라 "봉공 불완전 + 건조 안 되는 환경"의 조합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 / 55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봉공 불완전에서 시작되는 5단계 열화 과정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" cy="45720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5" name="Shape 3"/>
          <p:cNvSpPr/>
          <p:nvPr/>
        </p:nvSpPr>
        <p:spPr>
          <a:xfrm>
            <a:off x="470916" y="1755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F7"/>
                </a:solidFill>
              </a:rPr>
              <a:t>1단계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645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</a:rPr>
              <a:t>봉공 미비 영역에 수분 침투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0" y="1645920"/>
            <a:ext cx="5056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다공층의 미봉공 구멍으로 습기가 스며든다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" y="26700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560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F7"/>
                </a:solidFill>
              </a:rPr>
              <a:t>2단계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0" y="2560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</a:rPr>
              <a:t>수화물 생성 및 팽창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2560320"/>
            <a:ext cx="5056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산화알루미늄이 물과 반응하여 부피가 ~33% 팽창 → 미세 균열 발생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33756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" y="35844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474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F7"/>
                </a:solidFill>
              </a:rPr>
              <a:t>3단계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86000" y="3474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</a:rPr>
              <a:t>염화물/유기산 침투 경로 생성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3474720"/>
            <a:ext cx="5056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미세 균열을 통해 NaCl, 젖산이 배리어층까지 도달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25196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" y="44988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389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F7"/>
                </a:solidFill>
              </a:rPr>
              <a:t>4단계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286000" y="4389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</a:rPr>
              <a:t>배리어층 공격 → 국부 부식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4389120"/>
            <a:ext cx="5056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최후 방어선이 뚫려 모재 알루미늄이 직접 부식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516636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" y="54132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303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BF7"/>
                </a:solidFill>
              </a:rPr>
              <a:t>5단계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86000" y="5303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</a:rPr>
              <a:t>외관 결함 발현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83680" y="5303520"/>
            <a:ext cx="5056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백화(흰 점), 지문 부식, 변색, 핀홀 → 고객 불만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53 / 55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피막 변색의 5가지 유형과 원인</a:t>
            </a:r>
            <a:endParaRPr lang="en-US" sz="24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변색 유형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 원인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 조건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백화 (White spots)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흰색 점/반점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합금 내 아연/구리 산화물 또는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봉공 부산물 석출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전처리 불량 + 습도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지문 부식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지문 형상 부식 자국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땀의 NaCl + 젖산이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봉공 불완전 영역에서 국부 부식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인체 접촉 + 고습도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얼룩 (Staining)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불규칙 변색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세척수 오염물 또는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봉공액 잔류물의 불균일 건조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제조 공정 결함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색 번짐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염색 경계 번짐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봉공 불량으로 염료가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이동·용출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봉공 부족 + 습도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황변 (Yellowing)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투명 아노다이징 황변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UV에 의한 봉공 수화물 변색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또는 합금 내 철/실리콘 산화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UV + 고온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54 / 55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에지 반경이 피막 두께의 10배 미만이면 박리가 발생한다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A5568"/>
                </a:solidFill>
              </a:rPr>
              <a:t>아노다이징 피막은 모재에서 직접 성장하므로 전체 박리는 드물다
그러나 아래 조건에서 국부 박리가 발생한다:
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6B6B"/>
                </a:solidFill>
              </a:rPr>
              <a:t>1. 날카로운 모서리 (에지/코너)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   모서리 반경 &lt; 피막 두께 × 10 → 피막 균열·박리
   (실제 사례: 스마트폰 카메라 플래토 에지에서 아노다이징 박리 보고)
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6B6B"/>
                </a:solidFill>
              </a:rPr>
              <a:t>2. 합금 내 금속간 화합물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   7000계 알루미늄의 MgZn₂ 등 주위에서 불균일 산화 → 국부 결함 → 언더컷팅
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6B6B"/>
                </a:solidFill>
              </a:rPr>
              <a:t>3. 열 사이클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   알루미늄(열팽창 23µm/m·°C)과 산화피막(8µm/m·°C)의 3배 차이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   → 온도 변화 시 계면 전단 응력 → 반복 피로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55 / 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합금 선택이 시험 결과보다 중요할 수 있다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1F36"/>
                </a:solidFill>
              </a:rPr>
              <a:t>아노다이징 불량의 원인이 항상 아노다이징 공정 자체는 아니다
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4A7BF7"/>
                </a:solidFill>
              </a:rPr>
              <a:t>숨은 변수 1: 합금 선택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  6063 (내식성 우수) vs 7075 (강도 우수, 핏팅 감수성 높음)
  → 7000계는 금속간 화합물이 많아 동남아 환경에서 취약
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4A7BF7"/>
                </a:solidFill>
              </a:rPr>
              <a:t>숨은 변수 2: 세척 잔류물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  제조 후 세척 불충분 → 잔류 산/알칼리가 열대 환경에서 활성화
  → 이것은 아노다이징이 아니라 후처리(세척) 문제
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4A7BF7"/>
                </a:solidFill>
              </a:rPr>
              <a:t>숨은 변수 3: 물류 결로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  해상 컨테이너 내 온도 변화 → 결로 → 백화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  → 시험 스펙이 아니라 포장/물류 관리 문제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56 / 55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가속 시험은 실제 환경을 얼마나 잘 예측하는가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</a:rPr>
              <a:t>예측력이 높은 시험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362956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어드미턴스 + 두께 조합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→ 봉공 불량 = 대부분 필드 불량의 선행 조건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인공땀 침지 72시간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→ 소비전자 사용 환경 직접 시뮬레이션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순환 습열 (25~55°C 사이클)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→ 열대 주야 사이클 재현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전기화학 임피던스 분광법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→ 봉공 + 배리어층 동시 평가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77356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020"/>
                </a:solidFill>
              </a:rPr>
              <a:t>주의가 필요한 시험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77356" y="2148840"/>
            <a:ext cx="5362956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85°C/85% 습열 시험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→ 반도체에서 유래, 아노다이징에는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과도한 가속일 수 있음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→ 85°C는 열수 봉공 온도(~100°C)에 근접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→ 실제와 다른 열화 모드 유발 가능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연속 염수분무 (ASTM B117)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→ 습건 사이클 없이 연속 분무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→ 실제 환경과 상관성 낮다는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오래된 비판 존재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60°C/90% RH가 더 현실적 대안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57 / 55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아노다이징 강건성 지수를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이렇게 설계한다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56616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Gate(관문) + Score(점수) 2단계 구조의 구체적 설계안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58 / 55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 지수는 기존 인증을 대체하지 않고 보완한다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71600" y="1828800"/>
            <a:ext cx="9445752" cy="36576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103120"/>
            <a:ext cx="853135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BF7"/>
                </a:solidFill>
              </a:rPr>
              <a:t>아노다이징 강건성 지수(ARI)의 위치
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A5568"/>
                </a:solidFill>
              </a:rPr>
              <a:t>• MIL-PRF-8625, QUALANOD 등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A1F36"/>
                </a:solidFill>
              </a:rPr>
              <a:t>기존 인증의 합격은 전제 조건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A5568"/>
                </a:solidFill>
              </a:rPr>
              <a:t>
• ARI는 합격 제품 사이의 품질 차이를 정량화하는 보완 도구
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A5568"/>
                </a:solidFill>
              </a:rPr>
              <a:t>• ARI가 아무리 높아도, 인증 불합격이면 출하 불가
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A5568"/>
                </a:solidFill>
              </a:rPr>
              <a:t>• ARI가 낮아도, 인증 합격이면 기본 출하는 가능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A5568"/>
                </a:solidFill>
              </a:rPr>
              <a:t>  (단, 가혹 환경 출하에는 ARI 등급 제한 적용 가능)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59 / 55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3단계 판정 구조: 인증 확인 → 관문 → 점수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" cy="45720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5" name="Shape 3"/>
          <p:cNvSpPr/>
          <p:nvPr/>
        </p:nvSpPr>
        <p:spPr>
          <a:xfrm>
            <a:off x="470916" y="1755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</a:rPr>
              <a:t>Stage 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</a:rPr>
              <a:t>인증 합격 확인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0" y="1691640"/>
            <a:ext cx="63367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</a:rPr>
              <a:t>MIL-PRF-8625 / QUALANOD / 고객 사양 합격? → No면 ARI 산출하지 않음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69748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" y="2898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</a:rPr>
              <a:t>Stage 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108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</a:rPr>
              <a:t>관문 (Gate) — 즉시 불합격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03520" y="2834640"/>
            <a:ext cx="63367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</a:rPr>
              <a:t>피막 두께 ≥ 규격 하한 / 봉공 합격 / 외관 치명 결함 없음 → 하나라도 FAIL → ARI = 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384048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" y="4041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</a:rPr>
              <a:t>Stage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4251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</a:rPr>
              <a:t>점수 (Score) — 가중합 0~100점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03520" y="3977640"/>
            <a:ext cx="63367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</a:rPr>
              <a:t>봉공(30%) + 내식성(25%) + 두께여유(20%) + 외관(15%) + 기계적(10%) = ARI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" y="498348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" y="5184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074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</a:rPr>
              <a:t>등급 부여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5394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</a:rPr>
              <a:t>A(85+) / B(65~84) / C(50~64) / F(&lt;50)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03520" y="5120640"/>
            <a:ext cx="63367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</a:rPr>
              <a:t>A: 가혹 환경 출하 가능 / B: 일반 환경 / C: 모니터링 필요 / F: 출하 부적합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 / 55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1단계 관문: 전수 비파괴로 즉시 판정하는 3가지 항목</a:t>
            </a:r>
            <a:endParaRPr lang="en-US" sz="24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1848612"/>
                <a:gridCol w="1848612"/>
                <a:gridCol w="1848612"/>
                <a:gridCol w="1848612"/>
                <a:gridCol w="1848612"/>
                <a:gridCol w="184861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관문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합격 기준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근거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와전류 두께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휴대 게이지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≥ 규격 두께의 80%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모든 인증 공통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G2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어드미턴스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봉공 테스터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1~2분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≤ QUALANOD 기준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ISO 2931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G3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외관 육안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육안 + 조명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크랙·박리·핀홀 없음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MIL-PRF-8625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114800"/>
            <a:ext cx="110916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A1F36"/>
                </a:solidFill>
              </a:rPr>
              <a:t>설계 원칙: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</a:rPr>
              <a:t>• 전수 비파괴 검사 가능한 항목만 Gate에 포함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</a:rPr>
              <a:t>• 파괴 시험(염수분무 336시간)은 Gate 불가 → 자격 인증(Tier 3)으로 배치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</a:rPr>
              <a:t>• Gate 항목 수를 최소화하여 유연성 확보 (3개)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61 / 55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2단계 점수: 5가지 항목의 가중합으로 0~100점 산출</a:t>
            </a:r>
            <a:endParaRPr lang="en-US" sz="24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측정법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전수/샘플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가중치 (초안)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정규화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봉공 품질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어드미턴스 수치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전수 비파괴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20→0 µS/cm² (낮을수록 우수)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내식성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인공땀 침지 24h 평가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로트 샘플링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5단계 등급 (무결함=100)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두께 여유율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(실측−규격 하한)/규격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전수 비파괴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0%→50% 여유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외관 품질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색차 ΔE + 광택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전수 비파괴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ΔE 3.0→0 (작을수록 우수)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기계적 성질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경도 (Knoop)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로트 샘플링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규격 하한→규격 150%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2920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FFF8E7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512064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⚠️ 가중치는 검증 전 초안입니다. 소비전자 외장·6063 합금·열수 봉공 가정.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필드 불량 데이터와 전문가 합의를 통해 결정해야 합니다.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 / 55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점수 정규화 방법: 측정값을 0~100으로 변환하는 공식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A1F36"/>
                </a:solidFill>
              </a:rPr>
              <a:t>정규화 공식
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4A7BF7"/>
                </a:solidFill>
              </a:rPr>
              <a:t>점수 = min(100, max(0, (측정값 − 하한) ÷ (상한 − 하한) × 100))
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</a:rPr>
              <a:t>• 하한: Gate 통과 직후의 최소 수준 → 점수 = 0
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</a:rPr>
              <a:t>• 상한: 최우수 수준의 목표값 → 점수 = 100
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</a:rPr>
              <a:t>• 하한 미만: 0점 (Gate에서 이미 걸러짐)
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</a:rPr>
              <a:t>• 상한 초과: 100점 (추가 이득 없음)
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A1F36"/>
                </a:solidFill>
              </a:rPr>
              <a:t>예시: 두께 여유율
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</a:rPr>
              <a:t>  규격 하한 15µm, 실측 20µm → 여유율 = (20−15)/15 = 33%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5568"/>
                </a:solidFill>
              </a:rPr>
              <a:t>  정규화 범위 0%→50% → 점수 = 33/50 × 100 = 66점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63 / 55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4단계 등급: 프리미엄, 표준, 한계, 불합격</a:t>
            </a:r>
            <a:endParaRPr lang="en-US" sz="24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등급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ARI 범위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의미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출하 적합 환경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 (Premium)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85 ~ 100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 항목 우수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열대·고습·가혹 환경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7B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 (Standard)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65 ~ 84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대부분 양호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온대·일반 환경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 (Marginal)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 ~ 64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Gate 통과, 여유 적음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내부 사용, 공정 개선 대상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 (Fail)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 ~ 49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Gate 미통과 또는 Score 미달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출하 부적합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114800"/>
            <a:ext cx="11091672" cy="1828800"/>
          </a:xfrm>
          <a:prstGeom prst="roundRect">
            <a:avLst>
              <a:gd name="adj" fmla="val 4000"/>
            </a:avLst>
          </a:prstGeom>
          <a:solidFill>
            <a:srgbClr val="FFF8E7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4297680"/>
            <a:ext cx="107259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⚠️ 경계값 85/65/50은 임의 설정입니다.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초기에는 경계값 없이 ARI 원점수만 기록하고, 3~6개월 데이터 축적 후 설정을 권장합니다.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64 / 55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동남아 출하 제품은 봉공 가중치를 높이고 내식성 시험을 강화한다</a:t>
            </a:r>
            <a:endParaRPr lang="en-US" sz="24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조정 항목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기본 프로파일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동남아 프로파일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변경 근거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봉공 가중치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35%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봉공 불량 → 고습에서 연속 부식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내식성 시험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인공땀 24시간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인공땀 72시간 (37°C)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장기 땀 접촉 시뮬레이션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내식성 가중치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필드 불량 주 원인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외관 가중치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상대적 중요도 감소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기계적 가중치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상대적 중요도 감소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Gate G2 강화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QUALANOD 기준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어드미턴스 ≤ 10µS/cm²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봉공 품질 엄격화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추가 자격 시험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순환 습열 21일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열대 사이클 시뮬레이션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65 / 55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시험을 3단계로 나누어 현실적으로 운영한다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4039" cy="448056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45920"/>
            <a:ext cx="3477463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314827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Tier 1: 전수 검사 (100%)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148279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비파괴 검사만 포함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와전류 두께 (10초)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어드미턴스 (1~2분)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색차·광택·육안 (30초)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Gate G1~G3 + Score S1, S3, S4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부분 ARI 즉시 산출 가능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(가중치 합 65%)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36999" y="1645920"/>
            <a:ext cx="3514039" cy="448056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55287" y="1645920"/>
            <a:ext cx="3477463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4519879" y="1828800"/>
            <a:ext cx="314827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Tier 2: 로트 샘플링 (n=3~5)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19879" y="2194560"/>
            <a:ext cx="3148279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파괴 시험 허용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산 용해 (30분)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경도 Knoop (10분)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인공땀 침지 (24~72시간)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Score S2, S5 추가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완전 ARI 산출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358" y="1645920"/>
            <a:ext cx="3514039" cy="448056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43646" y="1645920"/>
            <a:ext cx="3477463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8308238" y="1828800"/>
            <a:ext cx="314827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Tier 3: 자격 인증 (연 1~2회)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08238" y="2194560"/>
            <a:ext cx="3148279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심층 검증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전체 EIS (30분/시편)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염수분무 (336시간)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순환 습열 (21일)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현미경 단면 (2시간)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ARI에 직접 포함 안 함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프로파일 가중치 유효성 검증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66 / 55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지수가 실패하는 5가지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시나리오와 대응책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56616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 관리와 대안 검토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67 / 55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가중치 오류부터 인증 대체 오해까지 — 실패 모드와 방어책</a:t>
            </a:r>
            <a:endParaRPr lang="en-US" sz="240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실패 모드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방어책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가중치 오류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→ 위양성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봉공 불량인데 두께·외관이 우수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→ 종합 합격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Gate에서 봉공 차단 (G2)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점수 조작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(gaming)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공급자가 Score 높은 항목만 최적화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정기 Tier 3 자격 검증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프로파일 부적합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소비전자 가중치를 항공 부품에 적용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ARI 보고서에 프로파일 필수 기재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지수 맹신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ARI 숫자만 보고 개별 항목 무시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보고서에 개별 원점수 병기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인증 대체 오해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ARI 높으면 인증 불합격도 출하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Stage 0(인증 확인)으로 구조적 차단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68 / 55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지수 대신 고려할 수 있는 3가지 대안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4039" cy="448056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45920"/>
            <a:ext cx="3477463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314827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대안 1: 핵심지표 대시보드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148279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지수화 없이 개별 수치를 시각화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두께, 봉공, ΔE 등을 그래프로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이상치를 즉시 시각 확인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장점: 도입 비용 최저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단점: "단일 수치 비교" 불가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36999" y="1645920"/>
            <a:ext cx="3514039" cy="448056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55287" y="1645920"/>
            <a:ext cx="3477463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4519879" y="1828800"/>
            <a:ext cx="314827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대안 2: 등급 세분화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19879" y="2194560"/>
            <a:ext cx="3148279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AAMA 611의 Class I/II를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5~6등급으로 확장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장점: 기존 체계와 호환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단점: 연속적 점수 아닌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이산적 분류에 그침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358" y="1645920"/>
            <a:ext cx="3514039" cy="448056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43646" y="1645920"/>
            <a:ext cx="3477463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8308238" y="1828800"/>
            <a:ext cx="314827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대안 3: 통계적 공정 관리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08238" y="2194560"/>
            <a:ext cx="3148279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 파라미터의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Cpk(공정능력지수) 모니터링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장점: 통계적 기반 견고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단점: 항목 간 종합 판단 불가,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이해도 요구 높음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69 / 55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지수 도입에는 장비, 인력, 시스템 투자가 필요하다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A1F36"/>
                </a:solidFill>
              </a:rPr>
              <a:t>기술적 설계만으로는 부족하다 — 조직적 비용을 고려해야 한다
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4A7BF7"/>
                </a:solidFill>
              </a:rPr>
              <a:t>1. 교육 비용
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   EIS 해석, 가중치 이해, 점수 산출 프로세스에 대한 QC 인력 교육
   특히 EIS는 전기화학 전문 지식이 필요
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4A7BF7"/>
                </a:solidFill>
              </a:rPr>
              <a:t>2. 시스템 구축
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   데이터 수집 → 정규화 → 가중합 → 판정의 자동화 파이프라인
   초기에는 Excel로 가능하나, 확장 시 전용 시스템 필요
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4A7BF7"/>
                </a:solidFill>
              </a:rPr>
              <a:t>3. 변경 관리
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   Go/No-Go에서 종합 지수로의 전환에 따른 조직 저항
   고객-공급자 간 ARI 기준 합의 필요
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4A7BF7"/>
                </a:solidFill>
              </a:rPr>
              <a:t>4. 가중치 유지보수
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A5568"/>
                </a:solidFill>
              </a:rPr>
              <a:t>   용도별·합금별·봉공별 가중치 관리 및 정기 업데이트 프로세스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70 / 55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3단계로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점진 도입한다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56616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파일럿 → 교정 → 확장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71 / 55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파일럿 → 교정 → 확장의 3단계 로드맵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" cy="45720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5" name="Shape 3"/>
          <p:cNvSpPr/>
          <p:nvPr/>
        </p:nvSpPr>
        <p:spPr>
          <a:xfrm>
            <a:off x="470916" y="1755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</a:rPr>
              <a:t>Phase 1 (3~6개월)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</a:rPr>
              <a:t>파일럿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89120" y="1645920"/>
            <a:ext cx="725119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</a:rPr>
              <a:t>범위: 소비전자 외장, 6063 합금, 열수 봉공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</a:rPr>
              <a:t>Tier 1만으로 부분 ARI 운영 (경계값 미설정, 원점수만 기록)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</a:rPr>
              <a:t>동시에 필드 불량 데이터와 ARI 상관 수집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06324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" y="331012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200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</a:rPr>
              <a:t>Phase 2 (6~12개월)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520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</a:rPr>
              <a:t>가중치 교정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9120" y="3200400"/>
            <a:ext cx="725119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</a:rPr>
              <a:t>Phase 1 데이터로 ARI-필드불량 상관 분석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</a:rPr>
              <a:t>전문가 합의로 가중치 확정, 등급 경계값 설정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</a:rPr>
              <a:t>환경 프로파일 차등화, Tier 2 추가하여 완전 ARI 산출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461772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" y="486460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754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</a:rPr>
              <a:t>Phase 3 (12개월+)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5074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</a:rPr>
              <a:t>확장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89120" y="4754880"/>
            <a:ext cx="725119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</a:rPr>
              <a:t>다른 합금(6061, 7075), 봉공 방식(니켈, 냉간)으로 확장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</a:rPr>
              <a:t>용도별 프로파일(항공, 건축, 의료기기) 개발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</a:rPr>
              <a:t>공급자 간 ARI 벤치마킹 체계 구축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72 / 55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단계별 투자 비용과 필요 장비</a:t>
            </a:r>
            <a:endParaRPr lang="en-US" sz="2400" dirty="0"/>
          </a:p>
        </p:txBody>
      </p:sp>
      <p:graphicFrame>
        <p:nvGraphicFramePr>
          <p:cNvPr id="7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Phase 1 (파일럿)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Phase 2 (교정)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Phase 3 (확장)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와전류 게이지 +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LCR 미터 +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분광측색기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(~$5,000)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인공땀 침지 세트 +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미소경도계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(~$15,000)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포텐시오스탯 +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습열 챔버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(~$30,000)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QC 담당 1명 교육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(1주)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QC + 품질 엔지니어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(2주)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EIS 전문가 양성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또는 외주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시스템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Excel 기반 기록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데이터베이스 +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대시보드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자동화 파이프라인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Phase 1은 $5,000 + 1주 교육으로 시작 가능. 즉시 실행 가능한 범위부터 시작한다.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73 / 55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아직 답하지 못한 3가지 후속 질문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4039" cy="448056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45920"/>
            <a:ext cx="3477463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314827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시험 항목 간 상관 데이터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148279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두께, 경도, 내마모성, 봉공 간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상관 계수를 실측해야 한다.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높은 상관이면 주성분 분석으로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차원 축소 가능.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독립적이면 모든 항목에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 가중치가 필요.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36999" y="1645920"/>
            <a:ext cx="3514039" cy="448056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55287" y="1645920"/>
            <a:ext cx="3477463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4519879" y="1828800"/>
            <a:ext cx="314827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아노다이징 전용 임피던스 임계값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19879" y="2194560"/>
            <a:ext cx="3148279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유기코팅의 10⁸/10⁶ 기준이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아노다이징에서 어떻게 변환되는지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검증 필요.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합금별·봉공 방식별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독립적 기준값 확보가 핵심.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358" y="1645920"/>
            <a:ext cx="3514039" cy="448056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43646" y="1645920"/>
            <a:ext cx="3477463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8308238" y="1828800"/>
            <a:ext cx="314827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동남아 필드 불량의 근본 원인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08238" y="2194560"/>
            <a:ext cx="3148279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반품/불만 데이터에서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봉공 불량, 세척 잔류물,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합금 결함, 물류 결로의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비율을 파악해야 한다.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이것이 ARI 가중치의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실증적 근거가 된다.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74 / 55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결론 3가지와 다음 단계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737360"/>
            <a:ext cx="102687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A1F36"/>
                </a:solidFill>
              </a:rPr>
              <a:t>Gate(관문) + Score(점수) 2단계 구조로 아노다이징 강건성 지수(ARI)를 설계할 수 있다. 기존 인증을 대체하지 않고 합격 제품 간 품질 차별화를 가능하게 한다.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310896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3017520"/>
            <a:ext cx="102687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A1F36"/>
                </a:solidFill>
              </a:rPr>
              <a:t>핵심 임계값과 가중치는 검증 전 초안이다. 소비전자·6063 합금·열수 봉공으로 범위를 좁혀 3~6개월 파일럿 후 현장 데이터로 교정해야 한다.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438912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389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4297680"/>
            <a:ext cx="102687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A1F36"/>
                </a:solidFill>
              </a:rPr>
              <a:t>동남아 환경의 핵심 대응은 봉공 품질 강화이다. 고습도에서 땀 잔류물이 마르지 않아 연속 부식이 발생하므로, 봉공 가중치를 높이고 어드미턴스 기준을 엄격화한다.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852160"/>
            <a:ext cx="110916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0350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단계: Phase 1 파일럿 범위 확정 → 장비 구매($5,000) → 3개월 데이터 수집 시작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75 / 55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75</Slides>
  <Notes>75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2026-03-20T04:17:47Z</dcterms:created>
  <dcterms:modified xsi:type="dcterms:W3CDTF">2026-03-20T04:17:47Z</dcterms:modified>
</cp:coreProperties>
</file>