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63040"/>
            <a:ext cx="182880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10908792" cy="21945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제조 AI 시스템의 동작 방식과</a:t>
            </a:r>
            <a:endParaRPr lang="en-US" sz="4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LLM 전환 가능성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기업 비교 분석  |  2026-03-30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10908792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TIGNIS  ·  IMUBIT  ·  Lam Research  ·  Bosch  ·  Siemens  ·  Samsung  ·  Intel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기업의 AI 접근법은 제어루프 내 자율과 인간 보조 사이 스펙트럼에 분포한다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조사 대상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TIGNIS  ·  IMUBIT  ·  Lam Research  ·  Bosch  ·  Siemens  ·  Samsung  ·  Intel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조사 범위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아키텍처  +  LLM 전환 가능성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005072"/>
            <a:ext cx="10543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시스템은 어떻게 동작하는가?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690872"/>
            <a:ext cx="10543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/ 온톨로지로 전환할 가능성은?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5376672"/>
            <a:ext cx="10543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공정에는 어떤 시사점이 있는가?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PLC 50~100ms vs LLM 수초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F3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50ms  vs  수초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722876" y="3749040"/>
            <a:ext cx="2743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PLC 제어 루프 주기  vs  LLM 추론 시간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적극적인 Siemens조차 LLM은 보조 도구 수준 — 모든 기업에서 LLM은 제어 루프 밖에 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현황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0" y="228600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246888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제조 AI 시스템은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어떻게 동작하는가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0" y="4206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기업의 기술 아키텍처와 제어 방식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성숙도와 LLM 전환 적극성으로 7개 기업이 3개 그룹으로 나뉜다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← 파일럿                        AI 도입 수준                        프로덕션 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 rot="16200000">
            <a:off x="0" y="1645920"/>
            <a:ext cx="50292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← ★☆☆  LLM 전환 적극성  ★★★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9319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8B5CF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선도적 비전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0299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Samsung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선언 + 초기 파일럿 단계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 AI Megafactory 구축 중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전환 적극성: ★★☆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755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적극적 전환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28232" y="20299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Siemens · Bosch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24688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Siemens: IFM 개발, LLM MCP 연결 (★★★)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Bosch: Co-Intelligence, Agentic AI (★★★)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실배포 + LLM 통합 동시 진행 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023360"/>
            <a:ext cx="5358384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해당 없음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407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LLM 적극성 + 낮은 도입 수준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기업 없음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02336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검증된 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28232" y="44074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IMUBIT · TIGNIS · Lam · Intel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28232" y="48463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IMUBIT: 100+ 배포, Closed-loop (★★☆)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 Research: Nature 논문, HF-CL (★★☆)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TIGNIS: R2R 제어, 물리 AI (★☆☆)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Intel: 전수검사 ADC 90%+ (★☆☆)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IMUBIT: DNN+RL로 DCS에 직접 세트포인트를 기입하는 완전 Closed-loop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수집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2~5년 역사 데이터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클라우드에서 DLPC 모델 학습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15818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29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7298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온프레미스 배포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298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DMZ/PCN에 배포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OPC-UA로 DCS 연결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57316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8796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최적화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8796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1,000개+ 변수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 세트포인트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내 계산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8814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10294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Closed-loop 제어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10294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DCS에 세트포인트 직접 기입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오퍼레이터 개입 권한 유지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TIGNIS: 물리 서로게이트 모델로 웨이퍼-투-웨이퍼 실시간 R2R 제어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77768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40024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Physics-driven AI +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서로게이트 모델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시뮬레이션 대비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고속 추론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2984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7304" y="1645920"/>
            <a:ext cx="3514344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645920"/>
            <a:ext cx="3477768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46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4464" y="219456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4464" y="2697480"/>
            <a:ext cx="3240024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웨이퍼-투-웨이퍼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조정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DTQL로 코드 없는 분석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51648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5968" y="1645920"/>
            <a:ext cx="3514344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4256" y="1645920"/>
            <a:ext cx="3477768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6312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3128" y="219456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생태계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3128" y="2697480"/>
            <a:ext cx="3240024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Cohu 인수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$2.6B 반도체 계측 시장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TEL 파트너십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Lam Research: 가장 엄밀하게 검증된 Human-First 접근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HF-CL 전략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256032" cy="25603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408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 도메인 지식으로 탐색 공간 정의 (Human-First)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92424"/>
            <a:ext cx="256032" cy="25603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92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Bayesian Optimization이 실험 선택 최적화 (Computer-Last)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43984"/>
            <a:ext cx="256032" cy="25603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43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SEMulator3D로 레시피 후보 검증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16459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Nature 논문 성과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90956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8232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095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28232" y="4069080"/>
            <a:ext cx="50292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4206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100번 무작위 반복 기반 통계 검증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28232" y="4773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단, 시뮬레이션 환경(SiO2 홀 식각)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8232" y="53400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 팹 전이 성능은 별도 검증 필요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Siemens: OT→Edge→SCADA→클라우드 LLM 전체 데이터 경로 공개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OT 현장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Industrial Edge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OPC-UA / MQTT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15818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29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7298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298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WinCC OA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관리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통합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57316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8796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8796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LLM 연결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(OpenAI, Bedrock,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Claude, Gemini)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8814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10294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인사이트 (Open-loop)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10294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PLC 코드 생성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보고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PLM 통합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제어 루프 밖 보조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Bosch와 Intel: 각각 다른 방향의 실질적 배포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Bosch Agentic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Multi-agent + LLM 기반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 Agent → 실행 에이전트들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감독 유지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Bosch Jaipur 실배포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240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GenAI Rework Agent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채팅/음성 근본원인 진단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조치 제안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2336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Intel 전수 검사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ADC 90%+ 정확도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웨이퍼 검사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ResNet50 기반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02336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160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Intel ROI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46177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IWVI 연간 $200만 절감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장비 불필요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전환 무관 성과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319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Samsung: 2030 비전 vs 2026 현실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 현실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전략 선언 + 초기 파일럿 단계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검증 가능한 운영 성과 없음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NVIDIA AI Megafactory 구축 중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경쟁사(TSMC, Intel, SK하이닉스)도 동시 선언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28232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2030 비전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28232" y="2651760"/>
            <a:ext cx="5029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NVIDIA 50,000+ GPU 인프라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Omniverse 디지털 트윈 전 공장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에이전트 + 로봇 통합 자율 생산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설계-운영 전환 시간 대폭 단축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기업 종합 비교: 제어 유형 × AI 기법 × 도입 × 검증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48056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554480"/>
                <a:gridCol w="1645920"/>
                <a:gridCol w="1554480"/>
                <a:gridCol w="1490472"/>
              </a:tblGrid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제어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도입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적극성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IMUBIT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Closed-loop 자율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DNN+RL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Production 100+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TIGNIS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Closed-loop R2R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물리+ML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★☆☆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Lam Research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Semi-closed HitL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Bayesian Opt.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R&amp;D+임베디드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Siemens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Open-loop 보조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GPT-4+KG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Pilot 100+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Bosch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Semi-auto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Multi-agent+LLM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★☆☆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Samsung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선언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GPU+디지털트윈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초기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★☆☆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Closed-loop(결함)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CNN+CV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★☆☆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성공적 배포의 3가지 공통 패턴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737360"/>
            <a:ext cx="10561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인간 개입 권한 유지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IMUBIT(오퍼레이터 개입), Lam(Human-First), Intel(엔지니어 최종 결정) — 모든 성공 사례에서 인간이 최종 결정권을 유지함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3063240"/>
            <a:ext cx="10561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프로토콜 활용 비침습적 통합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OPC-UA, DCS 직접 연결, 추가 장비 불필요 — 기존 인프라를 교체하지 않고 위에 레이어를 추가하는 방식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4389120"/>
            <a:ext cx="10561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도메인 특화 접근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75488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정유(IMUBIT), 반도체(TIGNIS, Lam) — 범용 AI보다 특정 공정에 집중한 사례가 더 높은 성과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주의: 공개된 성공 사례 기반 분석. 실패 사례·TCO 데이터 미포함 (생존자 편향 가능)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0"/>
            <a:ext cx="39502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4A7BF7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LLM</a:t>
            </a:r>
            <a:endParaRPr lang="en-US" sz="4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4A7BF7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&amp;</a:t>
            </a:r>
            <a:endParaRPr lang="en-US" sz="4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4A7BF7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온톨로지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681728" y="0"/>
            <a:ext cx="720547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47488" y="2377440"/>
            <a:ext cx="6473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LLM/온톨로지는 제조에 어떻게 들어오는가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47488" y="3566160"/>
            <a:ext cx="6473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전환 유형과 구조적 장벽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47488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SECTION 03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전환 유형: 현실적인 것은 2가지뿐이다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2669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레이어 추가형 ★★★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ML 위에 LLM을 설명/인터페이스로 추가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Copilot, IMUBIT Controllable AI, Bosch Rework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36792" y="16459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45920"/>
            <a:ext cx="52669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하이브리드형 ★★☆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수치→ML, 판단→LLM, 지식→KG 역할 분리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IFM(개발중), ISA-95+LLM+KG(연구)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977640"/>
            <a:ext cx="52669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교체형 ★☆☆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파이프라인을 Foundation Model로 교체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사례 없음, 구조적 장벽 (실시간, 정밀도, 인증)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3977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977640"/>
            <a:ext cx="52669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불필요형 ★★★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9672" y="448056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ML이 이미 최적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PID 튜닝, 수렴된 RL, 고주파 제어 — LLM 추가가 오히려 복잡도 증가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레이어 추가형: 기존 ML 위에 LLM을 얹는 현실적 경로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719072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45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 레이어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914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459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설명·인터페이스·코드생성 — Siemens Copilot, IMUBIT Controllable AI, Bosch Rework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27632" y="3108960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3035808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3035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ML/RL 모델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45152" y="3218688"/>
            <a:ext cx="914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303580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최적화 유지 — DNN, Bayesian Opt., CNN 등 기존 모델 변경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92224" y="4498848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0784" y="4425696"/>
            <a:ext cx="9144000" cy="822960"/>
          </a:xfrm>
          <a:prstGeom prst="roundRect">
            <a:avLst>
              <a:gd name="adj" fmla="val 8889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442569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PLC/DCS/장비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9744" y="4608576"/>
            <a:ext cx="914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92624" y="4425696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제어 — OPC-UA, SCADA, MES 기존 인프라 그대로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하이브리드형: 수치→ML, 판단→LLM, 지식→KG 역할 분리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KG (도메인 지식)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기반 공정 지식 구조화, ISA-95 정렬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15818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29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7298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 (의도 파악)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298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→ 공정 파라미터 매핑, 계획 수립, 설명 생성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57316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8796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ML/DO (수치 최적화)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8796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파라미터 계산, 물리 모델 + 데이터 기반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8814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10294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PLC (실행)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10294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Validator 검증 후 실행, 안전 제약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구조적 장벽 4가지와 해소 시기 전망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3891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286207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해소 시기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제약 (LLM 수초 vs PLC ms)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엣지/클라우드 분리로 우회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~2028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 정밀도 (LLM 부동소수점 오류)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수치는 ML, 판단은 LLM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구조적 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인증 (IEC 61508 비결정론 미수용)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 경로 미정립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~2030+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주권 (레시피 기밀 외부 전송)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온프레미스 LLM/도메인 소형 모델, SemiKong 등 부상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구축 (도메인 전문가 노력)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기반 자동 KG 생성 연구 활발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~2027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교체형은 왜 단기 불가능한가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조건 (미충족)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LLM 추론 지연 &lt;10ms 필요 (현재 수초)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수치 정밀도: 온도 ±0.1°C, 두께 ±1nm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안전 인증 프레임워크 확립 필요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결정론적 검증 레이어 없이는 불가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48756" y="1691640"/>
            <a:ext cx="9144" cy="4526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5352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전문가 의견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214884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❝ "LLM의 수치 추론 결함은 학습 데이터나 스케일링으로 해결 불가" — ACL 2023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❝ "미래는 AI가 SCADA를 대체하는 것이 아니라 강화하는 것" — controlsys.org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❝ "안전 기능에 AI 적용 시 56%가 응답 시간 장벽 보고" — 2025 설문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결론: 레이어 추가/하이브리드가 현실적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주목할 신규 플레이어 3곳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34670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SemiKong (Aitomatic)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017520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기반 반도체 도메인 전용 LLM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 AI 협력, 시장 출시 20~30% 단축 주장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독립 벤치마크 미확인 ★★☆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33088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51376" y="1645920"/>
            <a:ext cx="334670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EthonAI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5968" y="2148840"/>
            <a:ext cx="3017520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 AI(Causal AI) 기반 제조 효율화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Series A $16M (2024)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대신 인과관계/설명가능성으로 차별화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08392" y="1645920"/>
            <a:ext cx="3931920" cy="43891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645920"/>
            <a:ext cx="38953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891272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Blockbrain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91272" y="2148840"/>
            <a:ext cx="3566160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AI Award 수상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숍플로어 지식 포착 LLM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암묵지 디지털화 특화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 로드맵: 2026 → 2028 → 2030+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922776"/>
            <a:ext cx="11091672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1797939" y="3794760"/>
            <a:ext cx="274320" cy="2743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0527" y="3337560"/>
            <a:ext cx="9144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687286" y="3108960"/>
            <a:ext cx="24956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7286" y="2788920"/>
            <a:ext cx="249562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레이어 추가형 확산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7286" y="2148840"/>
            <a:ext cx="249562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Copilot, IMUBIT Controllable AI, Bosch Rework Agent 배포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0857" y="379476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3445" y="4069080"/>
            <a:ext cx="9144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3460204" y="4544568"/>
            <a:ext cx="24956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60204" y="4782312"/>
            <a:ext cx="249562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온톨로지 성숙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0204" y="5120640"/>
            <a:ext cx="249562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OntoKGen 등 LLM 기반 KG 자동 생성, 중소 제조 진입 장벽 하락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43775" y="3794760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6363" y="3337560"/>
            <a:ext cx="9144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122" y="3108960"/>
            <a:ext cx="24956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3122" y="2788920"/>
            <a:ext cx="249562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하이브리드형 파일럿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3122" y="2148840"/>
            <a:ext cx="249562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IFM 출시 전망, 엣지 LLM 성숙, 도메인 소형 모델 검증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16693" y="379476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9281" y="4069080"/>
            <a:ext cx="9144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040" y="4544568"/>
            <a:ext cx="24956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2030+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6040" y="4782312"/>
            <a:ext cx="249562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교체형 논의 시작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040" y="5120640"/>
            <a:ext cx="249562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IEC 61508 개정, LLM 추론 &lt;100ms, 안전 인증 경로 확립 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판단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공정에 LLM을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적용해야 하는가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39512" y="2926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 필요성 판단과 의사결정 프레임워크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 필요성 판단 깔때기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91672" cy="8046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공정에 AI가 있는가?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77899" y="2587752"/>
            <a:ext cx="9233154" cy="804672"/>
          </a:xfrm>
          <a:prstGeom prst="roundRect">
            <a:avLst>
              <a:gd name="adj" fmla="val 9091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7899" y="2587752"/>
            <a:ext cx="9233154" cy="8046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ML이 충분한가?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07158" y="3529584"/>
            <a:ext cx="7374636" cy="804672"/>
          </a:xfrm>
          <a:prstGeom prst="roundRect">
            <a:avLst>
              <a:gd name="adj" fmla="val 9091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7158" y="3529584"/>
            <a:ext cx="7374636" cy="8046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 추가 실익이 있는가?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6417" y="4471416"/>
            <a:ext cx="5516118" cy="804672"/>
          </a:xfrm>
          <a:prstGeom prst="roundRect">
            <a:avLst>
              <a:gd name="adj" fmla="val 909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6417" y="4471416"/>
            <a:ext cx="5516118" cy="8046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레이어에 추가할 것인가?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65676" y="5413248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5676" y="5413248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파일럿 대상 선정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전환이 불필요한 5가지 영역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대안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파라미터 PID 튜닝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알고리즘이 이미 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PID/MPC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수렴된 RL 반복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추가 시 응답 지연만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RL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고주파 센서 제어 (ms 단위)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추론 물리적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엣지 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대량 제조 (마진 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API 비용 수십~수백 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온프레미스 ML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인프라 미확립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68% 제조사 데이터 품질 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정비 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인간-AI 책임 분배를 먼저 설계하라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IMUBIT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오퍼레이터 개입 권한 유지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"85%+ 참여율의 비결"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 Research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Human-First, Computer-Last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"엔지니어가 먼저, AI가 보조"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 최종 결정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"자동 셧다운은 하되, RCA는 사람이"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공통점: 기술 스택보다 운영 설계가 배포 성공 결정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solidFill>
            <a:srgbClr val="EBF0FF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607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의료 AI(CDSS)에서도 동일 패턴 — AI 추천 + 의사 최종 결정. 설명가능성과 책임귀속 법제화 진행 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도메인 특화 vs 범용: 어디에 투자할 것인가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영역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정비 우선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 시기상조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도메인 특화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IMUBIT, TIGNIS형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최선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2336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자동화 충분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PLC/PID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솔루션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023360"/>
            <a:ext cx="535838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범용 AI 탐색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보조 도구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Copilot형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319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역방향 의사결정 가이드: 만약 X이면, Y를 하라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만약...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그러면...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Siemens IFM이 2027년 Production-ready로 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개발 대신 Siemens 생태계 활용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추론 지연이 100ms 이하로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제어 루프 내 LLM 배치 논의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IEC 61508이 비결정론적 AI 수용 개정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필수 제조에서도 LLM 기반 제어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SemiKong 등 도메인 LLM 독립 벤치마크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온프레미스 배포로 데이터 주권 해소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온톨로지 생성 도구 성숙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중소 제조사도 KG 기반 AI 접근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분석의 한계를 인식하라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성공 사례 기반 — 실패 사례·도입 철회 사례 미포함 (생존자 편향)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비용/TCO 미분석 — 라이선스, 컨설팅, 데이터 정비 비용 공개 자료 부족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611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중소 제조사 관점 부재 — 조사 대상이 모두 대기업 또는 대기업 대상 솔루션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5720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수치 독립 검증 미확인 — SemiKong(20~30% 단축)은 Meta 파트너사 홍보성 블로그 출처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보고서의 결론은 조건부입니다. 자사 공정 적용 시 독립 검증과 PoC를 반드시 선행하십시오.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핵심 메시지 재확인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제어 루프 밖에 있다 — 모든 기업에서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 경로는 레이어 추가와 하이브리드 2가지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특화가 범용보다 유효하다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통제 설계가 기술 선정보다 중요하다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 질문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가공 도메인에서 적용 가능한 접근법은?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2402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반도체/정유 중심 조사, 레이저 고유 특성(초고속 열적 변화, 광학 파라미터) 별도 조사 필요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91672" cy="182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LLM의 실질적 성능 트레이드오프는?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703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 70B급 공장 엣지 운영 시 추론 품질/속도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828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6634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APC/R2R이 해결하지 못하는 구체적 문제는?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1663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LLM/KG 전환 실익의 전제조건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제조 AI의 미래는 교체가 아니라 통합이다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공정 레이어에서, 어떤 조건하에 LLM이 명확한 가치를 제공하는가 — 이것이 진짜 질문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2026-03-30 | 7개 기업 비교 분석 리서치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2026-03-30T08:16:11Z</dcterms:created>
  <dcterms:modified xsi:type="dcterms:W3CDTF">2026-03-30T08:16:11Z</dcterms:modified>
</cp:coreProperties>
</file>