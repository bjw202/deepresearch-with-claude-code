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A1F36"/>
          </a:solidFill>
          <a:ln/>
        </p:spPr>
      </p:sp>
      <p:sp>
        <p:nvSpPr>
          <p:cNvPr id="3" name="Shape 1"/>
          <p:cNvSpPr/>
          <p:nvPr/>
        </p:nvSpPr>
        <p:spPr>
          <a:xfrm>
            <a:off x="1371600" y="2103120"/>
            <a:ext cx="1371600" cy="54864"/>
          </a:xfrm>
          <a:prstGeom prst="rect">
            <a:avLst/>
          </a:prstGeom>
          <a:solidFill>
            <a:srgbClr val="00D4AA"/>
          </a:solidFill>
          <a:ln/>
        </p:spPr>
      </p:sp>
      <p:sp>
        <p:nvSpPr>
          <p:cNvPr id="4" name="Text 2"/>
          <p:cNvSpPr/>
          <p:nvPr/>
        </p:nvSpPr>
        <p:spPr>
          <a:xfrm>
            <a:off x="1371600" y="2286000"/>
            <a:ext cx="9445752" cy="1097280"/>
          </a:xfrm>
          <a:prstGeom prst="rect">
            <a:avLst/>
          </a:prstGeom>
          <a:noFill/>
          <a:ln/>
        </p:spPr>
        <p:txBody>
          <a:bodyPr wrap="square" rtlCol="0" anchor="ctr"/>
          <a:lstStyle/>
          <a:p>
            <a:pPr algn="ctr" indent="0" marL="0">
              <a:lnSpc>
                <a:spcPct val="110000"/>
              </a:lnSpc>
              <a:buNone/>
            </a:pPr>
            <a:r>
              <a:rPr lang="en-US" sz="4400" b="1" spc="-50" kern="0" dirty="0">
                <a:solidFill>
                  <a:srgbClr val="FFFFFF"/>
                </a:solidFill>
                <a:latin typeface="Pretendard ExtraBold" pitchFamily="34" charset="0"/>
                <a:ea typeface="Pretendard ExtraBold" pitchFamily="34" charset="-122"/>
                <a:cs typeface="Pretendard ExtraBold" pitchFamily="34" charset="-120"/>
              </a:rPr>
              <a:t>공장에도 공통 언어가 필요하다</a:t>
            </a:r>
            <a:endParaRPr lang="en-US" sz="4400" dirty="0"/>
          </a:p>
        </p:txBody>
      </p:sp>
      <p:sp>
        <p:nvSpPr>
          <p:cNvPr id="5" name="Text 3"/>
          <p:cNvSpPr/>
          <p:nvPr/>
        </p:nvSpPr>
        <p:spPr>
          <a:xfrm>
            <a:off x="1371600" y="3474720"/>
            <a:ext cx="9445752" cy="548640"/>
          </a:xfrm>
          <a:prstGeom prst="rect">
            <a:avLst/>
          </a:prstGeom>
          <a:noFill/>
          <a:ln/>
        </p:spPr>
        <p:txBody>
          <a:bodyPr wrap="square" rtlCol="0" anchor="ctr"/>
          <a:lstStyle/>
          <a:p>
            <a:pPr algn="ctr" indent="0" marL="0">
              <a:buNone/>
            </a:pPr>
            <a:r>
              <a:rPr lang="en-US" sz="2000" dirty="0">
                <a:solidFill>
                  <a:srgbClr val="FFFFFF">
                    <a:alpha val="70000"/>
                  </a:srgbClr>
                </a:solidFill>
                <a:latin typeface="Pretendard" pitchFamily="34" charset="0"/>
                <a:ea typeface="Pretendard" pitchFamily="34" charset="-122"/>
                <a:cs typeface="Pretendard" pitchFamily="34" charset="-120"/>
              </a:rPr>
              <a:t>제조 온톨로지 MASON, 20년의 여정  |  2026-03-20</a:t>
            </a:r>
            <a:endParaRPr lang="en-US" sz="20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 / 61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오늘 이야기할 것</a:t>
            </a:r>
            <a:endParaRPr lang="en-US" sz="2800" dirty="0"/>
          </a:p>
        </p:txBody>
      </p:sp>
      <p:sp>
        <p:nvSpPr>
          <p:cNvPr id="4" name="Text 2"/>
          <p:cNvSpPr/>
          <p:nvPr/>
        </p:nvSpPr>
        <p:spPr>
          <a:xfrm>
            <a:off x="548640" y="1143000"/>
            <a:ext cx="9144000" cy="365760"/>
          </a:xfrm>
          <a:prstGeom prst="rect">
            <a:avLst/>
          </a:prstGeom>
          <a:noFill/>
          <a:ln/>
        </p:spPr>
        <p:txBody>
          <a:bodyPr wrap="square" rtlCol="0" anchor="ctr"/>
          <a:lstStyle/>
          <a:p>
            <a:pPr indent="0" marL="0">
              <a:buNone/>
            </a:pPr>
            <a:r>
              <a:rPr lang="en-US" sz="1600" dirty="0">
                <a:solidFill>
                  <a:srgbClr val="718096"/>
                </a:solidFill>
                <a:latin typeface="Pretendard" pitchFamily="34" charset="0"/>
                <a:ea typeface="Pretendard" pitchFamily="34" charset="-122"/>
                <a:cs typeface="Pretendard" pitchFamily="34" charset="-120"/>
              </a:rPr>
              <a:t>7개 파트 로드맵</a:t>
            </a:r>
            <a:endParaRPr lang="en-US" sz="1600" dirty="0"/>
          </a:p>
        </p:txBody>
      </p:sp>
      <p:sp>
        <p:nvSpPr>
          <p:cNvPr id="5" name="Text 3"/>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도입: 왜 공장에 공통 사전이 필요한가</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01. 공통 사전의 탄생 — 2006년, 프랑스에서 시작된 이야기</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02. 사전의 구조 — 세 가지 질문으로 제조를 정리하다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03. 사전의 작성법 — 컴퓨터가 읽는 언어</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04. 20년의 흐름 — 하나의 사전에서 수십 개의 사전으로</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05. 현장의 현실 — 실제 적용과 장벽</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06. 미래 — 인공지능과 공통 사전의 만남</a:t>
            </a:r>
            <a:endParaRPr lang="en-US" sz="18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 / 61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7FA"/>
          </a:solidFill>
          <a:ln/>
        </p:spPr>
      </p:sp>
      <p:sp>
        <p:nvSpPr>
          <p:cNvPr id="3" name="Shape 1"/>
          <p:cNvSpPr/>
          <p:nvPr/>
        </p:nvSpPr>
        <p:spPr>
          <a:xfrm>
            <a:off x="5641848" y="1828800"/>
            <a:ext cx="914400" cy="54864"/>
          </a:xfrm>
          <a:prstGeom prst="rect">
            <a:avLst/>
          </a:prstGeom>
          <a:solidFill>
            <a:srgbClr val="4A7BF7"/>
          </a:solidFill>
          <a:ln/>
        </p:spPr>
      </p:sp>
      <p:sp>
        <p:nvSpPr>
          <p:cNvPr id="4" name="Text 2"/>
          <p:cNvSpPr/>
          <p:nvPr/>
        </p:nvSpPr>
        <p:spPr>
          <a:xfrm>
            <a:off x="1371600" y="2286000"/>
            <a:ext cx="9445752" cy="2286000"/>
          </a:xfrm>
          <a:prstGeom prst="rect">
            <a:avLst/>
          </a:prstGeom>
          <a:noFill/>
          <a:ln/>
        </p:spPr>
        <p:txBody>
          <a:bodyPr wrap="square" rtlCol="0" anchor="ctr"/>
          <a:lstStyle/>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“설계팀의 ‘알루미늄’과 가공팀의 ‘알루미늄’은</a:t>
            </a:r>
            <a:endParaRPr lang="en-US" sz="2400" dirty="0"/>
          </a:p>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같은 단어지만 다른 의미다”</a:t>
            </a:r>
            <a:endParaRPr lang="en-US" sz="2400" dirty="0"/>
          </a:p>
        </p:txBody>
      </p:sp>
      <p:sp>
        <p:nvSpPr>
          <p:cNvPr id="5" name="Text 3"/>
          <p:cNvSpPr/>
          <p:nvPr/>
        </p:nvSpPr>
        <p:spPr>
          <a:xfrm>
            <a:off x="1371600" y="4754880"/>
            <a:ext cx="9445752" cy="365760"/>
          </a:xfrm>
          <a:prstGeom prst="rect">
            <a:avLst/>
          </a:prstGeom>
          <a:noFill/>
          <a:ln/>
        </p:spPr>
        <p:txBody>
          <a:bodyPr wrap="square" rtlCol="0" anchor="ctr"/>
          <a:lstStyle/>
          <a:p>
            <a:pPr algn="ctr" indent="0" marL="0">
              <a:buNone/>
            </a:pPr>
            <a:r>
              <a:rPr lang="en-US" sz="1400" dirty="0">
                <a:solidFill>
                  <a:srgbClr val="718096"/>
                </a:solidFill>
                <a:latin typeface="Pretendard" pitchFamily="34" charset="0"/>
                <a:ea typeface="Pretendard" pitchFamily="34" charset="-122"/>
                <a:cs typeface="Pretendard" pitchFamily="34" charset="-120"/>
              </a:rPr>
              <a:t>— MASON 원 논문의 핵심 문제의식 (Lemaignan 등, 2006)</a:t>
            </a:r>
            <a:endParaRPr lang="en-US" sz="14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 / 61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같은 데이터, 다른 해석이 공장을 흔든다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설계팀은 "알루미늄 부품"을 형상으로 이해한다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가공팀은 같은 말을 듣고 절삭 조건(드릴 속도 3000rpm)을 떠올린다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물류팀은 무게(가볍다 → 포장 줄이기)로 받아들인다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 연결고리는 사람의 머릿속에만 있고, 시스템에는 없다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결과: 부서 간 데이터 전달 시 매번 수작업 해석이 필요하다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 / 61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시스템끼리 대화가 안 되는 이유</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설계 시스템(CAD): 형상과 치수를 관리한다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생산 관리(MES): 공정 순서와 작업 지시를 관리한다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경영 시스템(ERP): 원가와 납기를 관리한다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제품 수명주기 관리(PLM): 설계 변경 이력을 관리한다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문제: 각 시스템이 자기만의 용어와 구조로 데이터를 저장한다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근본 원인: 시스템 간 "공통 사전"이 존재하지 않기 때문이다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 / 61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엑셀 용어집으로는 왜 안 되는가</a:t>
            </a:r>
            <a:endParaRPr lang="en-US" sz="2800" dirty="0"/>
          </a:p>
        </p:txBody>
      </p:sp>
      <p:sp>
        <p:nvSpPr>
          <p:cNvPr id="4" name="Text 2"/>
          <p:cNvSpPr/>
          <p:nvPr/>
        </p:nvSpPr>
        <p:spPr>
          <a:xfrm>
            <a:off x="548640" y="1645920"/>
            <a:ext cx="5362956" cy="411480"/>
          </a:xfrm>
          <a:prstGeom prst="rect">
            <a:avLst/>
          </a:prstGeom>
          <a:noFill/>
          <a:ln/>
        </p:spPr>
        <p:txBody>
          <a:bodyPr wrap="square" rtlCol="0" anchor="ctr"/>
          <a:lstStyle/>
          <a:p>
            <a:pPr indent="0" marL="0">
              <a:buNone/>
            </a:pPr>
            <a:r>
              <a:rPr lang="en-US" sz="2000" b="1" dirty="0">
                <a:solidFill>
                  <a:srgbClr val="FF6B6B"/>
                </a:solidFill>
                <a:latin typeface="Pretendard SemiBold" pitchFamily="34" charset="0"/>
                <a:ea typeface="Pretendard SemiBold" pitchFamily="34" charset="-122"/>
                <a:cs typeface="Pretendard SemiBold" pitchFamily="34" charset="-120"/>
              </a:rPr>
              <a:t>엑셀 용어집의 한계</a:t>
            </a:r>
            <a:endParaRPr lang="en-US" sz="2000" dirty="0"/>
          </a:p>
        </p:txBody>
      </p:sp>
      <p:sp>
        <p:nvSpPr>
          <p:cNvPr id="5" name="Text 3"/>
          <p:cNvSpPr/>
          <p:nvPr/>
        </p:nvSpPr>
        <p:spPr>
          <a:xfrm>
            <a:off x="548640" y="2148840"/>
            <a:ext cx="5362956" cy="397764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사람만 읽을 수 있다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단어 사이의 관계나 규칙이 없다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버전 관리와 일관성 검증이 불가능하다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"알루미늄은 드릴링이 가능하다"는 규칙을 담을 수 없다</a:t>
            </a:r>
            <a:endParaRPr lang="en-US" sz="1600" dirty="0"/>
          </a:p>
        </p:txBody>
      </p:sp>
      <p:sp>
        <p:nvSpPr>
          <p:cNvPr id="6" name="Text 4"/>
          <p:cNvSpPr/>
          <p:nvPr/>
        </p:nvSpPr>
        <p:spPr>
          <a:xfrm>
            <a:off x="6277356" y="1645920"/>
            <a:ext cx="5362956" cy="411480"/>
          </a:xfrm>
          <a:prstGeom prst="rect">
            <a:avLst/>
          </a:prstGeom>
          <a:noFill/>
          <a:ln/>
        </p:spPr>
        <p:txBody>
          <a:bodyPr wrap="square" rtlCol="0" anchor="ctr"/>
          <a:lstStyle/>
          <a:p>
            <a:pPr indent="0" marL="0">
              <a:buNone/>
            </a:pPr>
            <a:r>
              <a:rPr lang="en-US" sz="2000" b="1" dirty="0">
                <a:solidFill>
                  <a:srgbClr val="00D4AA"/>
                </a:solidFill>
                <a:latin typeface="Pretendard SemiBold" pitchFamily="34" charset="0"/>
                <a:ea typeface="Pretendard SemiBold" pitchFamily="34" charset="-122"/>
                <a:cs typeface="Pretendard SemiBold" pitchFamily="34" charset="-120"/>
              </a:rPr>
              <a:t>온톨로지(공통 사전)의 강점</a:t>
            </a:r>
            <a:endParaRPr lang="en-US" sz="2000" dirty="0"/>
          </a:p>
        </p:txBody>
      </p:sp>
      <p:sp>
        <p:nvSpPr>
          <p:cNvPr id="7" name="Text 5"/>
          <p:cNvSpPr/>
          <p:nvPr/>
        </p:nvSpPr>
        <p:spPr>
          <a:xfrm>
            <a:off x="6277356" y="2148840"/>
            <a:ext cx="5362956" cy="397764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컴퓨터도 읽고 추론할 수 있다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단어 사이의 관계와 규칙을 정의한다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자동으로 모순을 검출할 수 있다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"알루미늄 → 드릴링 가능 → 드릴비트 필요"를 자동 추론한다</a:t>
            </a:r>
            <a:endParaRPr lang="en-US" sz="1600" dirty="0"/>
          </a:p>
        </p:txBody>
      </p:sp>
      <p:sp>
        <p:nvSpPr>
          <p:cNvPr id="8" name="Text 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6 / 61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Black" pitchFamily="34" charset="0"/>
                <a:ea typeface="Pretendard Black" pitchFamily="34" charset="-122"/>
                <a:cs typeface="Pretendard Black" pitchFamily="34" charset="-120"/>
              </a:rPr>
              <a:t>01</a:t>
            </a:r>
            <a:endParaRPr lang="en-US" sz="7200" dirty="0"/>
          </a:p>
        </p:txBody>
      </p:sp>
      <p:sp>
        <p:nvSpPr>
          <p:cNvPr id="4" name="Text 2"/>
          <p:cNvSpPr/>
          <p:nvPr/>
        </p:nvSpPr>
        <p:spPr>
          <a:xfrm>
            <a:off x="5486400" y="2286000"/>
            <a:ext cx="6153912" cy="1097280"/>
          </a:xfrm>
          <a:prstGeom prst="rect">
            <a:avLst/>
          </a:prstGeom>
          <a:noFill/>
          <a:ln/>
        </p:spPr>
        <p:txBody>
          <a:bodyPr wrap="square" rtlCol="0" anchor="ctr"/>
          <a:lstStyle/>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그래서 누군가</a:t>
            </a:r>
            <a:endParaRPr lang="en-US" sz="3600" dirty="0"/>
          </a:p>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공통 사전을 만들었다</a:t>
            </a:r>
            <a:endParaRPr lang="en-US" sz="3600" dirty="0"/>
          </a:p>
        </p:txBody>
      </p:sp>
      <p:sp>
        <p:nvSpPr>
          <p:cNvPr id="5" name="Text 3"/>
          <p:cNvSpPr/>
          <p:nvPr/>
        </p:nvSpPr>
        <p:spPr>
          <a:xfrm>
            <a:off x="5486400" y="356616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2006년 프랑스에서 시작된, 공장 전용 공통 사전 이야기</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7 / 61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2006년, 프랑스 연구팀이 공장 전용 사전을 제안했다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ENSAM(프랑스 국립고등예술공학교)의 Lemaignan, Siadat 등이 제안</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ICAMS 프로젝트: 프랑스 Metz와 독일 Karlsruhe 대학의 국제 공동 연구</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이름: MASON (MAnufacturing's Semantics ONtology)</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목적: 제조 현장의 공통 의미 체계를 만들어,</a:t>
            </a:r>
            <a:pPr lvl="1"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   자동 원가 추정과 시스템 간 데이터 교환을 가능하게 하는 것</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IEEE DIS'06 워크숍에서 최초 발표, 이후 353회 이상 인용</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8 / 61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이 사전의 규모</a:t>
            </a:r>
            <a:endParaRPr lang="en-US" sz="2800" dirty="0"/>
          </a:p>
        </p:txBody>
      </p:sp>
      <p:sp>
        <p:nvSpPr>
          <p:cNvPr id="4" name="Shape 2"/>
          <p:cNvSpPr/>
          <p:nvPr/>
        </p:nvSpPr>
        <p:spPr>
          <a:xfrm>
            <a:off x="548640" y="1828800"/>
            <a:ext cx="3514344" cy="2560320"/>
          </a:xfrm>
          <a:prstGeom prst="roundRect">
            <a:avLst>
              <a:gd name="adj" fmla="val 3571"/>
            </a:avLst>
          </a:prstGeom>
          <a:solidFill>
            <a:srgbClr val="F5F7FA"/>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828800"/>
            <a:ext cx="3477768" cy="54864"/>
          </a:xfrm>
          <a:prstGeom prst="rect">
            <a:avLst/>
          </a:prstGeom>
          <a:solidFill>
            <a:srgbClr val="4A7BF7"/>
          </a:solidFill>
          <a:ln/>
        </p:spPr>
      </p:sp>
      <p:sp>
        <p:nvSpPr>
          <p:cNvPr id="6" name="Text 4"/>
          <p:cNvSpPr/>
          <p:nvPr/>
        </p:nvSpPr>
        <p:spPr>
          <a:xfrm>
            <a:off x="685800" y="2011680"/>
            <a:ext cx="3240024" cy="1188720"/>
          </a:xfrm>
          <a:prstGeom prst="rect">
            <a:avLst/>
          </a:prstGeom>
          <a:noFill/>
          <a:ln/>
        </p:spPr>
        <p:txBody>
          <a:bodyPr wrap="square" rtlCol="0" anchor="ctr"/>
          <a:lstStyle/>
          <a:p>
            <a:pPr algn="ctr" indent="0" marL="0">
              <a:buNone/>
            </a:pPr>
            <a:r>
              <a:rPr lang="en-US" sz="7200" b="1" dirty="0">
                <a:solidFill>
                  <a:srgbClr val="4A7BF7"/>
                </a:solidFill>
                <a:latin typeface="Pretendard Black" pitchFamily="34" charset="0"/>
                <a:ea typeface="Pretendard Black" pitchFamily="34" charset="-122"/>
                <a:cs typeface="Pretendard Black" pitchFamily="34" charset="-120"/>
              </a:rPr>
              <a:t>270</a:t>
            </a:r>
            <a:endParaRPr lang="en-US" sz="7200" dirty="0"/>
          </a:p>
        </p:txBody>
      </p:sp>
      <p:sp>
        <p:nvSpPr>
          <p:cNvPr id="7" name="Text 5"/>
          <p:cNvSpPr/>
          <p:nvPr/>
        </p:nvSpPr>
        <p:spPr>
          <a:xfrm>
            <a:off x="685800" y="3291840"/>
            <a:ext cx="3240024" cy="548640"/>
          </a:xfrm>
          <a:prstGeom prst="rect">
            <a:avLst/>
          </a:prstGeom>
          <a:noFill/>
          <a:ln/>
        </p:spPr>
        <p:txBody>
          <a:bodyPr wrap="square" rtlCol="0" anchor="ctr"/>
          <a:lstStyle/>
          <a:p>
            <a:pPr algn="ct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기본 개념(단어)</a:t>
            </a:r>
            <a:endParaRPr lang="en-US" sz="1600" dirty="0"/>
          </a:p>
        </p:txBody>
      </p:sp>
      <p:sp>
        <p:nvSpPr>
          <p:cNvPr id="8" name="Shape 6"/>
          <p:cNvSpPr/>
          <p:nvPr/>
        </p:nvSpPr>
        <p:spPr>
          <a:xfrm>
            <a:off x="4337304" y="1828800"/>
            <a:ext cx="3514344" cy="2560320"/>
          </a:xfrm>
          <a:prstGeom prst="roundRect">
            <a:avLst>
              <a:gd name="adj" fmla="val 3571"/>
            </a:avLst>
          </a:prstGeom>
          <a:solidFill>
            <a:srgbClr val="F5F7FA"/>
          </a:solidFill>
          <a:ln/>
          <a:effectLst>
            <a:outerShdw sx="100000" sy="100000" kx="0" ky="0" algn="bl" rotWithShape="0" blurRad="76200" dist="25400" dir="16200000">
              <a:srgbClr val="000000">
                <a:alpha val="8000"/>
              </a:srgbClr>
            </a:outerShdw>
          </a:effectLst>
        </p:spPr>
      </p:sp>
      <p:sp>
        <p:nvSpPr>
          <p:cNvPr id="9" name="Shape 7"/>
          <p:cNvSpPr/>
          <p:nvPr/>
        </p:nvSpPr>
        <p:spPr>
          <a:xfrm>
            <a:off x="4355592" y="1828800"/>
            <a:ext cx="3477768" cy="54864"/>
          </a:xfrm>
          <a:prstGeom prst="rect">
            <a:avLst/>
          </a:prstGeom>
          <a:solidFill>
            <a:srgbClr val="00D4AA"/>
          </a:solidFill>
          <a:ln/>
        </p:spPr>
      </p:sp>
      <p:sp>
        <p:nvSpPr>
          <p:cNvPr id="10" name="Text 8"/>
          <p:cNvSpPr/>
          <p:nvPr/>
        </p:nvSpPr>
        <p:spPr>
          <a:xfrm>
            <a:off x="4474464" y="2011680"/>
            <a:ext cx="3240024" cy="1188720"/>
          </a:xfrm>
          <a:prstGeom prst="rect">
            <a:avLst/>
          </a:prstGeom>
          <a:noFill/>
          <a:ln/>
        </p:spPr>
        <p:txBody>
          <a:bodyPr wrap="square" rtlCol="0" anchor="ctr"/>
          <a:lstStyle/>
          <a:p>
            <a:pPr algn="ctr" indent="0" marL="0">
              <a:buNone/>
            </a:pPr>
            <a:r>
              <a:rPr lang="en-US" sz="7200" b="1" dirty="0">
                <a:solidFill>
                  <a:srgbClr val="00D4AA"/>
                </a:solidFill>
                <a:latin typeface="Pretendard Black" pitchFamily="34" charset="0"/>
                <a:ea typeface="Pretendard Black" pitchFamily="34" charset="-122"/>
                <a:cs typeface="Pretendard Black" pitchFamily="34" charset="-120"/>
              </a:rPr>
              <a:t>50</a:t>
            </a:r>
            <a:endParaRPr lang="en-US" sz="7200" dirty="0"/>
          </a:p>
        </p:txBody>
      </p:sp>
      <p:sp>
        <p:nvSpPr>
          <p:cNvPr id="11" name="Text 9"/>
          <p:cNvSpPr/>
          <p:nvPr/>
        </p:nvSpPr>
        <p:spPr>
          <a:xfrm>
            <a:off x="4474464" y="3291840"/>
            <a:ext cx="3240024" cy="548640"/>
          </a:xfrm>
          <a:prstGeom prst="rect">
            <a:avLst/>
          </a:prstGeom>
          <a:noFill/>
          <a:ln/>
        </p:spPr>
        <p:txBody>
          <a:bodyPr wrap="square" rtlCol="0" anchor="ctr"/>
          <a:lstStyle/>
          <a:p>
            <a:pPr algn="ct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연결 규칙(관계)</a:t>
            </a:r>
            <a:endParaRPr lang="en-US" sz="1600" dirty="0"/>
          </a:p>
        </p:txBody>
      </p:sp>
      <p:sp>
        <p:nvSpPr>
          <p:cNvPr id="12" name="Shape 10"/>
          <p:cNvSpPr/>
          <p:nvPr/>
        </p:nvSpPr>
        <p:spPr>
          <a:xfrm>
            <a:off x="8125968" y="1828800"/>
            <a:ext cx="3514344" cy="2560320"/>
          </a:xfrm>
          <a:prstGeom prst="roundRect">
            <a:avLst>
              <a:gd name="adj" fmla="val 3571"/>
            </a:avLst>
          </a:prstGeom>
          <a:solidFill>
            <a:srgbClr val="F5F7FA"/>
          </a:solidFill>
          <a:ln/>
          <a:effectLst>
            <a:outerShdw sx="100000" sy="100000" kx="0" ky="0" algn="bl" rotWithShape="0" blurRad="76200" dist="25400" dir="16200000">
              <a:srgbClr val="000000">
                <a:alpha val="8000"/>
              </a:srgbClr>
            </a:outerShdw>
          </a:effectLst>
        </p:spPr>
      </p:sp>
      <p:sp>
        <p:nvSpPr>
          <p:cNvPr id="13" name="Shape 11"/>
          <p:cNvSpPr/>
          <p:nvPr/>
        </p:nvSpPr>
        <p:spPr>
          <a:xfrm>
            <a:off x="8144256" y="1828800"/>
            <a:ext cx="3477768" cy="54864"/>
          </a:xfrm>
          <a:prstGeom prst="rect">
            <a:avLst/>
          </a:prstGeom>
          <a:solidFill>
            <a:srgbClr val="FFB020"/>
          </a:solidFill>
          <a:ln/>
        </p:spPr>
      </p:sp>
      <p:sp>
        <p:nvSpPr>
          <p:cNvPr id="14" name="Text 12"/>
          <p:cNvSpPr/>
          <p:nvPr/>
        </p:nvSpPr>
        <p:spPr>
          <a:xfrm>
            <a:off x="8263128" y="2011680"/>
            <a:ext cx="3240024" cy="1188720"/>
          </a:xfrm>
          <a:prstGeom prst="rect">
            <a:avLst/>
          </a:prstGeom>
          <a:noFill/>
          <a:ln/>
        </p:spPr>
        <p:txBody>
          <a:bodyPr wrap="square" rtlCol="0" anchor="ctr"/>
          <a:lstStyle/>
          <a:p>
            <a:pPr algn="ctr" indent="0" marL="0">
              <a:buNone/>
            </a:pPr>
            <a:r>
              <a:rPr lang="en-US" sz="7200" b="1" dirty="0">
                <a:solidFill>
                  <a:srgbClr val="FFB020"/>
                </a:solidFill>
                <a:latin typeface="Pretendard Black" pitchFamily="34" charset="0"/>
                <a:ea typeface="Pretendard Black" pitchFamily="34" charset="-122"/>
                <a:cs typeface="Pretendard Black" pitchFamily="34" charset="-120"/>
              </a:rPr>
              <a:t>1</a:t>
            </a:r>
            <a:endParaRPr lang="en-US" sz="7200" dirty="0"/>
          </a:p>
        </p:txBody>
      </p:sp>
      <p:sp>
        <p:nvSpPr>
          <p:cNvPr id="15" name="Text 13"/>
          <p:cNvSpPr/>
          <p:nvPr/>
        </p:nvSpPr>
        <p:spPr>
          <a:xfrm>
            <a:off x="8263128" y="3291840"/>
            <a:ext cx="3240024" cy="548640"/>
          </a:xfrm>
          <a:prstGeom prst="rect">
            <a:avLst/>
          </a:prstGeom>
          <a:noFill/>
          <a:ln/>
        </p:spPr>
        <p:txBody>
          <a:bodyPr wrap="square" rtlCol="0" anchor="ctr"/>
          <a:lstStyle/>
          <a:p>
            <a:pPr algn="ct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핵심 구조(제품-공정-자원)</a:t>
            </a:r>
            <a:endParaRPr lang="en-US" sz="1600" dirty="0"/>
          </a:p>
        </p:txBody>
      </p:sp>
      <p:sp>
        <p:nvSpPr>
          <p:cNvPr id="16" name="Text 1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9 / 61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핵심 아이디어: 단어 사이의 관계까지 정의한다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일반 사전: "드릴링"과 "알루미늄"을 각각 따로 설명한다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온톨로지: "알루미늄은 드릴링으로 가공할 수 있다"는 관계를 정의한다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 관계가 있기에 컴퓨터가 추론할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비유: 사전이 "단어장"이라면, 온톨로지는 "문법서가 포함된 사전"이다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결과: 단순한 분류를 넘어서, 자동 의사결정의 기반이 된다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10 / 61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컴퓨터가 스스로 공정을 추론할 수 있다</a:t>
            </a:r>
            <a:endParaRPr lang="en-US" sz="2800" dirty="0"/>
          </a:p>
        </p:txBody>
      </p:sp>
      <p:sp>
        <p:nvSpPr>
          <p:cNvPr id="4" name="Shape 2"/>
          <p:cNvSpPr/>
          <p:nvPr/>
        </p:nvSpPr>
        <p:spPr>
          <a:xfrm>
            <a:off x="731520" y="1874520"/>
            <a:ext cx="457200" cy="457200"/>
          </a:xfrm>
          <a:prstGeom prst="ellipse">
            <a:avLst/>
          </a:prstGeom>
          <a:solidFill>
            <a:srgbClr val="4A7BF7"/>
          </a:solidFill>
          <a:ln/>
        </p:spPr>
      </p:sp>
      <p:sp>
        <p:nvSpPr>
          <p:cNvPr id="5" name="Text 3"/>
          <p:cNvSpPr/>
          <p:nvPr/>
        </p:nvSpPr>
        <p:spPr>
          <a:xfrm>
            <a:off x="731520" y="1874520"/>
            <a:ext cx="457200" cy="457200"/>
          </a:xfrm>
          <a:prstGeom prst="rect">
            <a:avLst/>
          </a:prstGeom>
          <a:noFill/>
          <a:ln/>
        </p:spPr>
        <p:txBody>
          <a:bodyPr wrap="square" rtlCol="0" anchor="ctr"/>
          <a:lstStyle/>
          <a:p>
            <a:pPr algn="ctr" indent="0" marL="0">
              <a:buNone/>
            </a:pPr>
            <a:r>
              <a:rPr lang="en-US" sz="1800" b="1" dirty="0">
                <a:solidFill>
                  <a:srgbClr val="FFFFFF"/>
                </a:solidFill>
                <a:latin typeface="Pretendard SemiBold" pitchFamily="34" charset="0"/>
                <a:ea typeface="Pretendard SemiBold" pitchFamily="34" charset="-122"/>
                <a:cs typeface="Pretendard SemiBold" pitchFamily="34" charset="-120"/>
              </a:rPr>
              <a:t>1</a:t>
            </a:r>
            <a:endParaRPr lang="en-US" sz="1800" dirty="0"/>
          </a:p>
        </p:txBody>
      </p:sp>
      <p:sp>
        <p:nvSpPr>
          <p:cNvPr id="6" name="Text 4"/>
          <p:cNvSpPr/>
          <p:nvPr/>
        </p:nvSpPr>
        <p:spPr>
          <a:xfrm>
            <a:off x="1463040" y="1828800"/>
            <a:ext cx="9601200" cy="548640"/>
          </a:xfrm>
          <a:prstGeom prst="rect">
            <a:avLst/>
          </a:prstGeom>
          <a:noFill/>
          <a:ln/>
        </p:spPr>
        <p:txBody>
          <a:bodyPr wrap="square" rtlCol="0" anchor="ctr"/>
          <a:lstStyle/>
          <a:p>
            <a:pPr indent="0" marL="0">
              <a:buNone/>
            </a:pPr>
            <a:r>
              <a:rPr lang="en-US" sz="1800" dirty="0">
                <a:solidFill>
                  <a:srgbClr val="4A5568"/>
                </a:solidFill>
                <a:latin typeface="Pretendard" pitchFamily="34" charset="0"/>
                <a:ea typeface="Pretendard" pitchFamily="34" charset="-122"/>
                <a:cs typeface="Pretendard" pitchFamily="34" charset="-120"/>
              </a:rPr>
              <a:t>입력: "이 부품은 알루미늄이다"</a:t>
            </a:r>
            <a:endParaRPr lang="en-US" sz="1800" dirty="0"/>
          </a:p>
        </p:txBody>
      </p:sp>
      <p:sp>
        <p:nvSpPr>
          <p:cNvPr id="7" name="Shape 5"/>
          <p:cNvSpPr/>
          <p:nvPr/>
        </p:nvSpPr>
        <p:spPr>
          <a:xfrm>
            <a:off x="731520" y="2697480"/>
            <a:ext cx="457200" cy="457200"/>
          </a:xfrm>
          <a:prstGeom prst="ellipse">
            <a:avLst/>
          </a:prstGeom>
          <a:solidFill>
            <a:srgbClr val="4A7BF7"/>
          </a:solidFill>
          <a:ln/>
        </p:spPr>
      </p:sp>
      <p:sp>
        <p:nvSpPr>
          <p:cNvPr id="8" name="Text 6"/>
          <p:cNvSpPr/>
          <p:nvPr/>
        </p:nvSpPr>
        <p:spPr>
          <a:xfrm>
            <a:off x="731520" y="2697480"/>
            <a:ext cx="457200" cy="457200"/>
          </a:xfrm>
          <a:prstGeom prst="rect">
            <a:avLst/>
          </a:prstGeom>
          <a:noFill/>
          <a:ln/>
        </p:spPr>
        <p:txBody>
          <a:bodyPr wrap="square" rtlCol="0" anchor="ctr"/>
          <a:lstStyle/>
          <a:p>
            <a:pPr algn="ctr" indent="0" marL="0">
              <a:buNone/>
            </a:pPr>
            <a:r>
              <a:rPr lang="en-US" sz="1800" b="1" dirty="0">
                <a:solidFill>
                  <a:srgbClr val="FFFFFF"/>
                </a:solidFill>
                <a:latin typeface="Pretendard SemiBold" pitchFamily="34" charset="0"/>
                <a:ea typeface="Pretendard SemiBold" pitchFamily="34" charset="-122"/>
                <a:cs typeface="Pretendard SemiBold" pitchFamily="34" charset="-120"/>
              </a:rPr>
              <a:t>2</a:t>
            </a:r>
            <a:endParaRPr lang="en-US" sz="1800" dirty="0"/>
          </a:p>
        </p:txBody>
      </p:sp>
      <p:sp>
        <p:nvSpPr>
          <p:cNvPr id="9" name="Text 7"/>
          <p:cNvSpPr/>
          <p:nvPr/>
        </p:nvSpPr>
        <p:spPr>
          <a:xfrm>
            <a:off x="1463040" y="2651760"/>
            <a:ext cx="9601200" cy="548640"/>
          </a:xfrm>
          <a:prstGeom prst="rect">
            <a:avLst/>
          </a:prstGeom>
          <a:noFill/>
          <a:ln/>
        </p:spPr>
        <p:txBody>
          <a:bodyPr wrap="square" rtlCol="0" anchor="ctr"/>
          <a:lstStyle/>
          <a:p>
            <a:pPr indent="0" marL="0">
              <a:buNone/>
            </a:pPr>
            <a:r>
              <a:rPr lang="en-US" sz="1800" dirty="0">
                <a:solidFill>
                  <a:srgbClr val="4A5568"/>
                </a:solidFill>
                <a:latin typeface="Pretendard" pitchFamily="34" charset="0"/>
                <a:ea typeface="Pretendard" pitchFamily="34" charset="-122"/>
                <a:cs typeface="Pretendard" pitchFamily="34" charset="-120"/>
              </a:rPr>
              <a:t>사전의 규칙: "알루미늄은 드릴링으로 가공할 수 있다"</a:t>
            </a:r>
            <a:endParaRPr lang="en-US" sz="1800" dirty="0"/>
          </a:p>
        </p:txBody>
      </p:sp>
      <p:sp>
        <p:nvSpPr>
          <p:cNvPr id="10" name="Shape 8"/>
          <p:cNvSpPr/>
          <p:nvPr/>
        </p:nvSpPr>
        <p:spPr>
          <a:xfrm>
            <a:off x="731520" y="3520440"/>
            <a:ext cx="457200" cy="457200"/>
          </a:xfrm>
          <a:prstGeom prst="ellipse">
            <a:avLst/>
          </a:prstGeom>
          <a:solidFill>
            <a:srgbClr val="4A7BF7"/>
          </a:solidFill>
          <a:ln/>
        </p:spPr>
      </p:sp>
      <p:sp>
        <p:nvSpPr>
          <p:cNvPr id="11" name="Text 9"/>
          <p:cNvSpPr/>
          <p:nvPr/>
        </p:nvSpPr>
        <p:spPr>
          <a:xfrm>
            <a:off x="731520" y="3520440"/>
            <a:ext cx="457200" cy="457200"/>
          </a:xfrm>
          <a:prstGeom prst="rect">
            <a:avLst/>
          </a:prstGeom>
          <a:noFill/>
          <a:ln/>
        </p:spPr>
        <p:txBody>
          <a:bodyPr wrap="square" rtlCol="0" anchor="ctr"/>
          <a:lstStyle/>
          <a:p>
            <a:pPr algn="ctr" indent="0" marL="0">
              <a:buNone/>
            </a:pPr>
            <a:r>
              <a:rPr lang="en-US" sz="1800" b="1" dirty="0">
                <a:solidFill>
                  <a:srgbClr val="FFFFFF"/>
                </a:solidFill>
                <a:latin typeface="Pretendard SemiBold" pitchFamily="34" charset="0"/>
                <a:ea typeface="Pretendard SemiBold" pitchFamily="34" charset="-122"/>
                <a:cs typeface="Pretendard SemiBold" pitchFamily="34" charset="-120"/>
              </a:rPr>
              <a:t>3</a:t>
            </a:r>
            <a:endParaRPr lang="en-US" sz="1800" dirty="0"/>
          </a:p>
        </p:txBody>
      </p:sp>
      <p:sp>
        <p:nvSpPr>
          <p:cNvPr id="12" name="Text 10"/>
          <p:cNvSpPr/>
          <p:nvPr/>
        </p:nvSpPr>
        <p:spPr>
          <a:xfrm>
            <a:off x="1463040" y="3474720"/>
            <a:ext cx="9601200" cy="548640"/>
          </a:xfrm>
          <a:prstGeom prst="rect">
            <a:avLst/>
          </a:prstGeom>
          <a:noFill/>
          <a:ln/>
        </p:spPr>
        <p:txBody>
          <a:bodyPr wrap="square" rtlCol="0" anchor="ctr"/>
          <a:lstStyle/>
          <a:p>
            <a:pPr indent="0" marL="0">
              <a:buNone/>
            </a:pPr>
            <a:r>
              <a:rPr lang="en-US" sz="1800" dirty="0">
                <a:solidFill>
                  <a:srgbClr val="4A5568"/>
                </a:solidFill>
                <a:latin typeface="Pretendard" pitchFamily="34" charset="0"/>
                <a:ea typeface="Pretendard" pitchFamily="34" charset="-122"/>
                <a:cs typeface="Pretendard" pitchFamily="34" charset="-120"/>
              </a:rPr>
              <a:t>사전의 규칙: "드릴링은 드릴비트를 사용한다"</a:t>
            </a:r>
            <a:endParaRPr lang="en-US" sz="1800" dirty="0"/>
          </a:p>
        </p:txBody>
      </p:sp>
      <p:sp>
        <p:nvSpPr>
          <p:cNvPr id="13" name="Shape 11"/>
          <p:cNvSpPr/>
          <p:nvPr/>
        </p:nvSpPr>
        <p:spPr>
          <a:xfrm>
            <a:off x="731520" y="5166360"/>
            <a:ext cx="457200" cy="457200"/>
          </a:xfrm>
          <a:prstGeom prst="ellipse">
            <a:avLst/>
          </a:prstGeom>
          <a:solidFill>
            <a:srgbClr val="00D4AA"/>
          </a:solidFill>
          <a:ln/>
        </p:spPr>
      </p:sp>
      <p:sp>
        <p:nvSpPr>
          <p:cNvPr id="14" name="Text 12"/>
          <p:cNvSpPr/>
          <p:nvPr/>
        </p:nvSpPr>
        <p:spPr>
          <a:xfrm>
            <a:off x="731520" y="5166360"/>
            <a:ext cx="457200" cy="457200"/>
          </a:xfrm>
          <a:prstGeom prst="rect">
            <a:avLst/>
          </a:prstGeom>
          <a:noFill/>
          <a:ln/>
        </p:spPr>
        <p:txBody>
          <a:bodyPr wrap="square" rtlCol="0" anchor="ctr"/>
          <a:lstStyle/>
          <a:p>
            <a:pPr algn="ctr" indent="0" marL="0">
              <a:buNone/>
            </a:pPr>
            <a:r>
              <a:rPr lang="en-US" sz="1800" b="1" dirty="0">
                <a:solidFill>
                  <a:srgbClr val="FFFFFF"/>
                </a:solidFill>
                <a:latin typeface="Pretendard SemiBold" pitchFamily="34" charset="0"/>
                <a:ea typeface="Pretendard SemiBold" pitchFamily="34" charset="-122"/>
                <a:cs typeface="Pretendard SemiBold" pitchFamily="34" charset="-120"/>
              </a:rPr>
              <a:t>!</a:t>
            </a:r>
            <a:endParaRPr lang="en-US" sz="1800" dirty="0"/>
          </a:p>
        </p:txBody>
      </p:sp>
      <p:sp>
        <p:nvSpPr>
          <p:cNvPr id="15" name="Text 13"/>
          <p:cNvSpPr/>
          <p:nvPr/>
        </p:nvSpPr>
        <p:spPr>
          <a:xfrm>
            <a:off x="1463040" y="5120640"/>
            <a:ext cx="9601200" cy="548640"/>
          </a:xfrm>
          <a:prstGeom prst="rect">
            <a:avLst/>
          </a:prstGeom>
          <a:noFill/>
          <a:ln/>
        </p:spPr>
        <p:txBody>
          <a:bodyPr wrap="square" rtlCol="0" anchor="ctr"/>
          <a:lstStyle/>
          <a:p>
            <a:pPr indent="0" marL="0">
              <a:buNone/>
            </a:pPr>
            <a:r>
              <a:rPr lang="en-US" sz="1800" b="1" dirty="0">
                <a:solidFill>
                  <a:srgbClr val="1A1F36"/>
                </a:solidFill>
                <a:latin typeface="Pretendard" pitchFamily="34" charset="0"/>
                <a:ea typeface="Pretendard" pitchFamily="34" charset="-122"/>
                <a:cs typeface="Pretendard" pitchFamily="34" charset="-120"/>
              </a:rPr>
              <a:t>자동 도출: "이 부품에는 드릴비트가 필요하다"</a:t>
            </a:r>
            <a:endParaRPr lang="en-US" sz="1800" dirty="0"/>
          </a:p>
        </p:txBody>
      </p:sp>
      <p:sp>
        <p:nvSpPr>
          <p:cNvPr id="16" name="Shape 14"/>
          <p:cNvSpPr/>
          <p:nvPr/>
        </p:nvSpPr>
        <p:spPr>
          <a:xfrm>
            <a:off x="548640" y="5029200"/>
            <a:ext cx="11091672" cy="731520"/>
          </a:xfrm>
          <a:prstGeom prst="roundRect">
            <a:avLst>
              <a:gd name="adj" fmla="val 10000"/>
            </a:avLst>
          </a:prstGeom>
          <a:solidFill>
            <a:srgbClr val="F5F7FA"/>
          </a:solidFill>
          <a:ln/>
        </p:spPr>
      </p:sp>
      <p:sp>
        <p:nvSpPr>
          <p:cNvPr id="17" name="Text 15"/>
          <p:cNvSpPr/>
          <p:nvPr/>
        </p:nvSpPr>
        <p:spPr>
          <a:xfrm>
            <a:off x="731520" y="5029200"/>
            <a:ext cx="10725912" cy="731520"/>
          </a:xfrm>
          <a:prstGeom prst="rect">
            <a:avLst/>
          </a:prstGeom>
          <a:noFill/>
          <a:ln/>
        </p:spPr>
        <p:txBody>
          <a:bodyPr wrap="square" rtlCol="0" anchor="ctr"/>
          <a:lstStyle/>
          <a:p>
            <a:pPr algn="ctr" indent="0" marL="0">
              <a:buNone/>
            </a:pPr>
            <a:r>
              <a:rPr lang="en-US" sz="1700" b="1" dirty="0">
                <a:solidFill>
                  <a:srgbClr val="4A7BF7"/>
                </a:solidFill>
                <a:latin typeface="Pretendard SemiBold" pitchFamily="34" charset="0"/>
                <a:ea typeface="Pretendard SemiBold" pitchFamily="34" charset="-122"/>
                <a:cs typeface="Pretendard SemiBold" pitchFamily="34" charset="-120"/>
              </a:rPr>
              <a:t>수작업 없이, 부품 정보만으로 필요한 공정과 공구가 자동으로 결정된다</a:t>
            </a:r>
            <a:endParaRPr lang="en-US" sz="1700" dirty="0"/>
          </a:p>
        </p:txBody>
      </p:sp>
      <p:sp>
        <p:nvSpPr>
          <p:cNvPr id="18" name="Text 1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11 / 61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이 사전은 무료로 공개되어 누구나 쓸 수 있다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SourceForge에 OWL 파일로 오픈소스 공개</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OWL(Web Ontology Language): W3C가 권고한 온톨로지 표현 표준</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Protege(무료 편집기)로 열어서 구조를 바로 확인할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2006년 이후 공식 대규모 업데이트는 확인되지 않는다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그러나 이후 등장한 수십 개 온톨로지의 참조 구조로 계속 쓰이고 있다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12 / 61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Black" pitchFamily="34" charset="0"/>
                <a:ea typeface="Pretendard Black" pitchFamily="34" charset="-122"/>
                <a:cs typeface="Pretendard Black" pitchFamily="34" charset="-120"/>
              </a:rPr>
              <a:t>02</a:t>
            </a:r>
            <a:endParaRPr lang="en-US" sz="7200" dirty="0"/>
          </a:p>
        </p:txBody>
      </p:sp>
      <p:sp>
        <p:nvSpPr>
          <p:cNvPr id="4" name="Text 2"/>
          <p:cNvSpPr/>
          <p:nvPr/>
        </p:nvSpPr>
        <p:spPr>
          <a:xfrm>
            <a:off x="5486400" y="2286000"/>
            <a:ext cx="6153912" cy="731520"/>
          </a:xfrm>
          <a:prstGeom prst="rect">
            <a:avLst/>
          </a:prstGeom>
          <a:noFill/>
          <a:ln/>
        </p:spPr>
        <p:txBody>
          <a:bodyPr wrap="square" rtlCol="0" anchor="ctr"/>
          <a:lstStyle/>
          <a:p>
            <a:pPr indent="0" marL="0">
              <a:buNone/>
            </a:pPr>
            <a:r>
              <a:rPr lang="en-US" sz="3600" b="1" dirty="0">
                <a:solidFill>
                  <a:srgbClr val="1A1F36"/>
                </a:solidFill>
                <a:latin typeface="Pretendard SemiBold" pitchFamily="34" charset="0"/>
                <a:ea typeface="Pretendard SemiBold" pitchFamily="34" charset="-122"/>
                <a:cs typeface="Pretendard SemiBold" pitchFamily="34" charset="-120"/>
              </a:rPr>
              <a:t>이 사전은 어떻게 생겼는가</a:t>
            </a:r>
            <a:endParaRPr lang="en-US" sz="3600" dirty="0"/>
          </a:p>
        </p:txBody>
      </p:sp>
      <p:sp>
        <p:nvSpPr>
          <p:cNvPr id="5" name="Text 3"/>
          <p:cNvSpPr/>
          <p:nvPr/>
        </p:nvSpPr>
        <p:spPr>
          <a:xfrm>
            <a:off x="5486400" y="320040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제조의 모든 것은 세 가지 질문으로 정리된다</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13 / 61</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제조의 모든 것은 세 가지 질문으로 정리된다</a:t>
            </a:r>
            <a:endParaRPr lang="en-US" sz="2800" dirty="0"/>
          </a:p>
        </p:txBody>
      </p:sp>
      <p:sp>
        <p:nvSpPr>
          <p:cNvPr id="4" name="Shape 2"/>
          <p:cNvSpPr/>
          <p:nvPr/>
        </p:nvSpPr>
        <p:spPr>
          <a:xfrm>
            <a:off x="548640" y="1645920"/>
            <a:ext cx="3514039" cy="3200400"/>
          </a:xfrm>
          <a:prstGeom prst="roundRect">
            <a:avLst>
              <a:gd name="adj" fmla="val 2857"/>
            </a:avLst>
          </a:prstGeom>
          <a:solidFill>
            <a:srgbClr val="FFFFFF"/>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645920"/>
            <a:ext cx="3477463" cy="54864"/>
          </a:xfrm>
          <a:prstGeom prst="rect">
            <a:avLst/>
          </a:prstGeom>
          <a:solidFill>
            <a:srgbClr val="4A7BF7"/>
          </a:solidFill>
          <a:ln/>
        </p:spPr>
      </p:sp>
      <p:sp>
        <p:nvSpPr>
          <p:cNvPr id="6" name="Text 4"/>
          <p:cNvSpPr/>
          <p:nvPr/>
        </p:nvSpPr>
        <p:spPr>
          <a:xfrm>
            <a:off x="731520"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뭘 만드나?</a:t>
            </a:r>
            <a:endParaRPr lang="en-US" sz="1600" dirty="0"/>
          </a:p>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(제품/Entity)</a:t>
            </a:r>
            <a:endParaRPr lang="en-US" sz="1600" dirty="0"/>
          </a:p>
        </p:txBody>
      </p:sp>
      <p:sp>
        <p:nvSpPr>
          <p:cNvPr id="7" name="Text 5"/>
          <p:cNvSpPr/>
          <p:nvPr/>
        </p:nvSpPr>
        <p:spPr>
          <a:xfrm>
            <a:off x="731520" y="2148840"/>
            <a:ext cx="3148279" cy="25146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제품의 형상, 소재, 치수, 원가 등을 정의한다.</a:t>
            </a:r>
            <a:endParaRPr lang="en-US" sz="1300" dirty="0"/>
          </a:p>
          <a:p>
            <a:pPr indent="0" marL="0">
              <a:lnSpc>
                <a:spcPct val="140000"/>
              </a:lnSpc>
              <a:buNone/>
            </a:pP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비유: 요리의 "메뉴"</a:t>
            </a:r>
            <a:endParaRPr lang="en-US" sz="1300" dirty="0"/>
          </a:p>
        </p:txBody>
      </p:sp>
      <p:sp>
        <p:nvSpPr>
          <p:cNvPr id="8" name="Shape 6"/>
          <p:cNvSpPr/>
          <p:nvPr/>
        </p:nvSpPr>
        <p:spPr>
          <a:xfrm>
            <a:off x="4336999" y="1645920"/>
            <a:ext cx="3514039" cy="3200400"/>
          </a:xfrm>
          <a:prstGeom prst="roundRect">
            <a:avLst>
              <a:gd name="adj" fmla="val 2857"/>
            </a:avLst>
          </a:prstGeom>
          <a:solidFill>
            <a:srgbClr val="FFFFFF"/>
          </a:solidFill>
          <a:ln/>
          <a:effectLst>
            <a:outerShdw sx="100000" sy="100000" kx="0" ky="0" algn="bl" rotWithShape="0" blurRad="76200" dist="25400" dir="16200000">
              <a:srgbClr val="000000">
                <a:alpha val="8000"/>
              </a:srgbClr>
            </a:outerShdw>
          </a:effectLst>
        </p:spPr>
      </p:sp>
      <p:sp>
        <p:nvSpPr>
          <p:cNvPr id="9" name="Shape 7"/>
          <p:cNvSpPr/>
          <p:nvPr/>
        </p:nvSpPr>
        <p:spPr>
          <a:xfrm>
            <a:off x="4355287" y="1645920"/>
            <a:ext cx="3477463" cy="54864"/>
          </a:xfrm>
          <a:prstGeom prst="rect">
            <a:avLst/>
          </a:prstGeom>
          <a:solidFill>
            <a:srgbClr val="00D4AA"/>
          </a:solidFill>
          <a:ln/>
        </p:spPr>
      </p:sp>
      <p:sp>
        <p:nvSpPr>
          <p:cNvPr id="10" name="Text 8"/>
          <p:cNvSpPr/>
          <p:nvPr/>
        </p:nvSpPr>
        <p:spPr>
          <a:xfrm>
            <a:off x="4519879"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어떻게 만드나?</a:t>
            </a:r>
            <a:endParaRPr lang="en-US" sz="1600" dirty="0"/>
          </a:p>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(공정/Operation)</a:t>
            </a:r>
            <a:endParaRPr lang="en-US" sz="1600" dirty="0"/>
          </a:p>
        </p:txBody>
      </p:sp>
      <p:sp>
        <p:nvSpPr>
          <p:cNvPr id="11" name="Text 9"/>
          <p:cNvSpPr/>
          <p:nvPr/>
        </p:nvSpPr>
        <p:spPr>
          <a:xfrm>
            <a:off x="4519879" y="2148840"/>
            <a:ext cx="3148279" cy="25146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가공, 물류, 조립, 검사 등 만드는 방법을 정의한다.</a:t>
            </a:r>
            <a:endParaRPr lang="en-US" sz="1300" dirty="0"/>
          </a:p>
          <a:p>
            <a:pPr indent="0" marL="0">
              <a:lnSpc>
                <a:spcPct val="140000"/>
              </a:lnSpc>
              <a:buNone/>
            </a:pP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비유: 요리의 "레시피"</a:t>
            </a:r>
            <a:endParaRPr lang="en-US" sz="1300" dirty="0"/>
          </a:p>
        </p:txBody>
      </p:sp>
      <p:sp>
        <p:nvSpPr>
          <p:cNvPr id="12" name="Shape 10"/>
          <p:cNvSpPr/>
          <p:nvPr/>
        </p:nvSpPr>
        <p:spPr>
          <a:xfrm>
            <a:off x="8125358" y="1645920"/>
            <a:ext cx="3514039" cy="3200400"/>
          </a:xfrm>
          <a:prstGeom prst="roundRect">
            <a:avLst>
              <a:gd name="adj" fmla="val 2857"/>
            </a:avLst>
          </a:prstGeom>
          <a:solidFill>
            <a:srgbClr val="FFFFFF"/>
          </a:solidFill>
          <a:ln/>
          <a:effectLst>
            <a:outerShdw sx="100000" sy="100000" kx="0" ky="0" algn="bl" rotWithShape="0" blurRad="76200" dist="25400" dir="16200000">
              <a:srgbClr val="000000">
                <a:alpha val="8000"/>
              </a:srgbClr>
            </a:outerShdw>
          </a:effectLst>
        </p:spPr>
      </p:sp>
      <p:sp>
        <p:nvSpPr>
          <p:cNvPr id="13" name="Shape 11"/>
          <p:cNvSpPr/>
          <p:nvPr/>
        </p:nvSpPr>
        <p:spPr>
          <a:xfrm>
            <a:off x="8143646" y="1645920"/>
            <a:ext cx="3477463" cy="54864"/>
          </a:xfrm>
          <a:prstGeom prst="rect">
            <a:avLst/>
          </a:prstGeom>
          <a:solidFill>
            <a:srgbClr val="FFB020"/>
          </a:solidFill>
          <a:ln/>
        </p:spPr>
      </p:sp>
      <p:sp>
        <p:nvSpPr>
          <p:cNvPr id="14" name="Text 12"/>
          <p:cNvSpPr/>
          <p:nvPr/>
        </p:nvSpPr>
        <p:spPr>
          <a:xfrm>
            <a:off x="8308238"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뭘 써서 만드나?</a:t>
            </a:r>
            <a:endParaRPr lang="en-US" sz="1600" dirty="0"/>
          </a:p>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(자원/Resource)</a:t>
            </a:r>
            <a:endParaRPr lang="en-US" sz="1600" dirty="0"/>
          </a:p>
        </p:txBody>
      </p:sp>
      <p:sp>
        <p:nvSpPr>
          <p:cNvPr id="15" name="Text 13"/>
          <p:cNvSpPr/>
          <p:nvPr/>
        </p:nvSpPr>
        <p:spPr>
          <a:xfrm>
            <a:off x="8308238" y="2148840"/>
            <a:ext cx="3148279" cy="25146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기계, 공구, 사람, 장소 등 만드는 데 쓰는 것을 정의한다.</a:t>
            </a:r>
            <a:endParaRPr lang="en-US" sz="1300" dirty="0"/>
          </a:p>
          <a:p>
            <a:pPr indent="0" marL="0">
              <a:lnSpc>
                <a:spcPct val="140000"/>
              </a:lnSpc>
              <a:buNone/>
            </a:pP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비유: 요리의 "도구와 재료"</a:t>
            </a:r>
            <a:endParaRPr lang="en-US" sz="1300" dirty="0"/>
          </a:p>
        </p:txBody>
      </p:sp>
      <p:sp>
        <p:nvSpPr>
          <p:cNvPr id="16" name="Text 1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14 / 61</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뭘 만드나: 제품을 설명하는 4가지 관점</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기하학적 형태: 추상적 기하 관계 (접선, 평행 등)</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제조용 형상 특징: 구체적 가공 형상 (구멍, 홈, 모따기 등)</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원재료: 부품의 소재 (알루미늄, 스테인리스강 등)</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원가 구조: 활동 기반 원가 모델 (재료비, 가공비, 간접비 등)</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 4가지 관점이 합쳐져야 "이 부품이 무엇인가"를 완전히 설명할 수 있다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15 / 61</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어떻게 만드나: 공정의 4가지 종류</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제조 공정: 기계가공, 조립, 검사 — 물리적 특성으로 추가 분류 (고속/저속, 고온/저온)</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물류 공정: 자재의 이동, 보관, 입출고</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인적 공정: 사람이 직접 수행하는 작업</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준비 공정: 생산 개시를 위한 셋업, 준비 활동</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하나의 부품이 완성되려면 이 4가지 공정이 순서대로 조합된다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16 / 61</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뭘 써서 만드나: 자원의 4가지 유형</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공작기계: CNC, 프레스, 사출기 등 핵심 생산 장비</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공구: 드릴비트, 엔드밀, 절삭 인서트 등 소모성 도구</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인적 자원: 작업자, 엔지니어, 검사원</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지리적 자원: 공장, 작업장, 생산 라인 등 물리적 장소</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"어떤 자원을 쓸 수 있는가"가 곧 "무엇을 만들 수 있는가"를 결정한다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17 / 61</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핵심은 세 질문을 연결하는 규칙이다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canBeMachinedBy: 원재료 → 공정을 연결한다</a:t>
            </a:r>
            <a:pPr lvl="1"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   예: "알루미늄은 드릴링으로 가공할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uses: 공정 → 공구를 연결한다</a:t>
            </a:r>
            <a:pPr lvl="1"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   예: "드릴링은 드릴비트를 사용한다"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 규칙들이 50개 이상 정의되어 있어 자동 추론이 가능하다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규칙의 가치: 분류가 아니라 의사결정의 자동화 기반</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18 / 61</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부품 정보만 넣으면 공정이 자동으로 나온다</a:t>
            </a:r>
            <a:endParaRPr lang="en-US" sz="2800" dirty="0"/>
          </a:p>
        </p:txBody>
      </p:sp>
      <p:sp>
        <p:nvSpPr>
          <p:cNvPr id="4" name="Shape 2"/>
          <p:cNvSpPr/>
          <p:nvPr/>
        </p:nvSpPr>
        <p:spPr>
          <a:xfrm>
            <a:off x="548640" y="1828800"/>
            <a:ext cx="3200400" cy="2286000"/>
          </a:xfrm>
          <a:prstGeom prst="roundRect">
            <a:avLst>
              <a:gd name="adj" fmla="val 4000"/>
            </a:avLst>
          </a:prstGeom>
          <a:solidFill>
            <a:srgbClr val="FFFFFF"/>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828800"/>
            <a:ext cx="3163824" cy="54864"/>
          </a:xfrm>
          <a:prstGeom prst="rect">
            <a:avLst/>
          </a:prstGeom>
          <a:solidFill>
            <a:srgbClr val="4A7BF7"/>
          </a:solidFill>
          <a:ln/>
        </p:spPr>
      </p:sp>
      <p:sp>
        <p:nvSpPr>
          <p:cNvPr id="6" name="Text 4"/>
          <p:cNvSpPr/>
          <p:nvPr/>
        </p:nvSpPr>
        <p:spPr>
          <a:xfrm>
            <a:off x="731520" y="2011680"/>
            <a:ext cx="2834640"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제품 정보</a:t>
            </a:r>
            <a:endParaRPr lang="en-US" sz="1600" dirty="0"/>
          </a:p>
        </p:txBody>
      </p:sp>
      <p:sp>
        <p:nvSpPr>
          <p:cNvPr id="7" name="Text 5"/>
          <p:cNvSpPr/>
          <p:nvPr/>
        </p:nvSpPr>
        <p:spPr>
          <a:xfrm>
            <a:off x="731520" y="2331720"/>
            <a:ext cx="2834640" cy="16002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알루미늄 판재</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구멍 직경 5mm</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두께 3mm</a:t>
            </a:r>
            <a:endParaRPr lang="en-US" sz="1300" dirty="0"/>
          </a:p>
        </p:txBody>
      </p:sp>
      <p:sp>
        <p:nvSpPr>
          <p:cNvPr id="8" name="Text 6"/>
          <p:cNvSpPr/>
          <p:nvPr/>
        </p:nvSpPr>
        <p:spPr>
          <a:xfrm>
            <a:off x="3749040" y="2560320"/>
            <a:ext cx="640080" cy="731520"/>
          </a:xfrm>
          <a:prstGeom prst="rect">
            <a:avLst/>
          </a:prstGeom>
          <a:noFill/>
          <a:ln/>
        </p:spPr>
        <p:txBody>
          <a:bodyPr wrap="square" rtlCol="0" anchor="ctr"/>
          <a:lstStyle/>
          <a:p>
            <a:pPr algn="ctr" indent="0" marL="0">
              <a:buNone/>
            </a:pPr>
            <a:r>
              <a:rPr lang="en-US" sz="3600" dirty="0">
                <a:solidFill>
                  <a:srgbClr val="718096"/>
                </a:solidFill>
                <a:latin typeface="Pretendard" pitchFamily="34" charset="0"/>
                <a:ea typeface="Pretendard" pitchFamily="34" charset="-122"/>
                <a:cs typeface="Pretendard" pitchFamily="34" charset="-120"/>
              </a:rPr>
              <a:t>→</a:t>
            </a:r>
            <a:endParaRPr lang="en-US" sz="3600" dirty="0"/>
          </a:p>
        </p:txBody>
      </p:sp>
      <p:sp>
        <p:nvSpPr>
          <p:cNvPr id="9" name="Shape 7"/>
          <p:cNvSpPr/>
          <p:nvPr/>
        </p:nvSpPr>
        <p:spPr>
          <a:xfrm>
            <a:off x="4389120" y="1828800"/>
            <a:ext cx="3200400" cy="2286000"/>
          </a:xfrm>
          <a:prstGeom prst="roundRect">
            <a:avLst>
              <a:gd name="adj" fmla="val 4000"/>
            </a:avLst>
          </a:prstGeom>
          <a:solidFill>
            <a:srgbClr val="FFFFFF"/>
          </a:solidFill>
          <a:ln/>
          <a:effectLst>
            <a:outerShdw sx="100000" sy="100000" kx="0" ky="0" algn="bl" rotWithShape="0" blurRad="76200" dist="25400" dir="16200000">
              <a:srgbClr val="000000">
                <a:alpha val="8000"/>
              </a:srgbClr>
            </a:outerShdw>
          </a:effectLst>
        </p:spPr>
      </p:sp>
      <p:sp>
        <p:nvSpPr>
          <p:cNvPr id="10" name="Shape 8"/>
          <p:cNvSpPr/>
          <p:nvPr/>
        </p:nvSpPr>
        <p:spPr>
          <a:xfrm>
            <a:off x="4407408" y="1828800"/>
            <a:ext cx="3163824" cy="54864"/>
          </a:xfrm>
          <a:prstGeom prst="rect">
            <a:avLst/>
          </a:prstGeom>
          <a:solidFill>
            <a:srgbClr val="00D4AA"/>
          </a:solidFill>
          <a:ln/>
        </p:spPr>
      </p:sp>
      <p:sp>
        <p:nvSpPr>
          <p:cNvPr id="11" name="Text 9"/>
          <p:cNvSpPr/>
          <p:nvPr/>
        </p:nvSpPr>
        <p:spPr>
          <a:xfrm>
            <a:off x="4572000" y="2011680"/>
            <a:ext cx="2834640"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자동 도출된 공정</a:t>
            </a:r>
            <a:endParaRPr lang="en-US" sz="1600" dirty="0"/>
          </a:p>
        </p:txBody>
      </p:sp>
      <p:sp>
        <p:nvSpPr>
          <p:cNvPr id="12" name="Text 10"/>
          <p:cNvSpPr/>
          <p:nvPr/>
        </p:nvSpPr>
        <p:spPr>
          <a:xfrm>
            <a:off x="4572000" y="2331720"/>
            <a:ext cx="2834640" cy="16002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드릴링</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(체적 손실 가공)</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(저온 가공)</a:t>
            </a:r>
            <a:endParaRPr lang="en-US" sz="1300" dirty="0"/>
          </a:p>
        </p:txBody>
      </p:sp>
      <p:sp>
        <p:nvSpPr>
          <p:cNvPr id="13" name="Text 11"/>
          <p:cNvSpPr/>
          <p:nvPr/>
        </p:nvSpPr>
        <p:spPr>
          <a:xfrm>
            <a:off x="7589520" y="2560320"/>
            <a:ext cx="640080" cy="731520"/>
          </a:xfrm>
          <a:prstGeom prst="rect">
            <a:avLst/>
          </a:prstGeom>
          <a:noFill/>
          <a:ln/>
        </p:spPr>
        <p:txBody>
          <a:bodyPr wrap="square" rtlCol="0" anchor="ctr"/>
          <a:lstStyle/>
          <a:p>
            <a:pPr algn="ctr" indent="0" marL="0">
              <a:buNone/>
            </a:pPr>
            <a:r>
              <a:rPr lang="en-US" sz="3600" dirty="0">
                <a:solidFill>
                  <a:srgbClr val="718096"/>
                </a:solidFill>
                <a:latin typeface="Pretendard" pitchFamily="34" charset="0"/>
                <a:ea typeface="Pretendard" pitchFamily="34" charset="-122"/>
                <a:cs typeface="Pretendard" pitchFamily="34" charset="-120"/>
              </a:rPr>
              <a:t>→</a:t>
            </a:r>
            <a:endParaRPr lang="en-US" sz="3600" dirty="0"/>
          </a:p>
        </p:txBody>
      </p:sp>
      <p:sp>
        <p:nvSpPr>
          <p:cNvPr id="14" name="Shape 12"/>
          <p:cNvSpPr/>
          <p:nvPr/>
        </p:nvSpPr>
        <p:spPr>
          <a:xfrm>
            <a:off x="8229600" y="1828800"/>
            <a:ext cx="3200400" cy="2286000"/>
          </a:xfrm>
          <a:prstGeom prst="roundRect">
            <a:avLst>
              <a:gd name="adj" fmla="val 4000"/>
            </a:avLst>
          </a:prstGeom>
          <a:solidFill>
            <a:srgbClr val="FFFFFF"/>
          </a:solidFill>
          <a:ln/>
          <a:effectLst>
            <a:outerShdw sx="100000" sy="100000" kx="0" ky="0" algn="bl" rotWithShape="0" blurRad="76200" dist="25400" dir="16200000">
              <a:srgbClr val="000000">
                <a:alpha val="8000"/>
              </a:srgbClr>
            </a:outerShdw>
          </a:effectLst>
        </p:spPr>
      </p:sp>
      <p:sp>
        <p:nvSpPr>
          <p:cNvPr id="15" name="Shape 13"/>
          <p:cNvSpPr/>
          <p:nvPr/>
        </p:nvSpPr>
        <p:spPr>
          <a:xfrm>
            <a:off x="8247888" y="1828800"/>
            <a:ext cx="3163824" cy="54864"/>
          </a:xfrm>
          <a:prstGeom prst="rect">
            <a:avLst/>
          </a:prstGeom>
          <a:solidFill>
            <a:srgbClr val="FFB020"/>
          </a:solidFill>
          <a:ln/>
        </p:spPr>
      </p:sp>
      <p:sp>
        <p:nvSpPr>
          <p:cNvPr id="16" name="Text 14"/>
          <p:cNvSpPr/>
          <p:nvPr/>
        </p:nvSpPr>
        <p:spPr>
          <a:xfrm>
            <a:off x="8412480" y="2011680"/>
            <a:ext cx="2834640"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자동 도출된 자원</a:t>
            </a:r>
            <a:endParaRPr lang="en-US" sz="1600" dirty="0"/>
          </a:p>
        </p:txBody>
      </p:sp>
      <p:sp>
        <p:nvSpPr>
          <p:cNvPr id="17" name="Text 15"/>
          <p:cNvSpPr/>
          <p:nvPr/>
        </p:nvSpPr>
        <p:spPr>
          <a:xfrm>
            <a:off x="8412480" y="2331720"/>
            <a:ext cx="2834640" cy="16002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드릴비트 (HSS)</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CNC 드릴링 머신</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절삭유</a:t>
            </a:r>
            <a:endParaRPr lang="en-US" sz="1300" dirty="0"/>
          </a:p>
        </p:txBody>
      </p:sp>
      <p:sp>
        <p:nvSpPr>
          <p:cNvPr id="18" name="Shape 16"/>
          <p:cNvSpPr/>
          <p:nvPr/>
        </p:nvSpPr>
        <p:spPr>
          <a:xfrm>
            <a:off x="548640" y="4846320"/>
            <a:ext cx="11091672" cy="640080"/>
          </a:xfrm>
          <a:prstGeom prst="roundRect">
            <a:avLst>
              <a:gd name="adj" fmla="val 11429"/>
            </a:avLst>
          </a:prstGeom>
          <a:solidFill>
            <a:srgbClr val="F5F7FA"/>
          </a:solidFill>
          <a:ln/>
        </p:spPr>
      </p:sp>
      <p:sp>
        <p:nvSpPr>
          <p:cNvPr id="19" name="Text 17"/>
          <p:cNvSpPr/>
          <p:nvPr/>
        </p:nvSpPr>
        <p:spPr>
          <a:xfrm>
            <a:off x="731520" y="4846320"/>
            <a:ext cx="10725912" cy="640080"/>
          </a:xfrm>
          <a:prstGeom prst="rect">
            <a:avLst/>
          </a:prstGeom>
          <a:noFill/>
          <a:ln/>
        </p:spPr>
        <p:txBody>
          <a:bodyPr wrap="square" rtlCol="0" anchor="ctr"/>
          <a:lstStyle/>
          <a:p>
            <a:pPr algn="ctr" indent="0" marL="0">
              <a:buNone/>
            </a:pPr>
            <a:r>
              <a:rPr lang="en-US" sz="1600" b="1" dirty="0">
                <a:solidFill>
                  <a:srgbClr val="4A7BF7"/>
                </a:solidFill>
                <a:latin typeface="Pretendard SemiBold" pitchFamily="34" charset="0"/>
                <a:ea typeface="Pretendard SemiBold" pitchFamily="34" charset="-122"/>
                <a:cs typeface="Pretendard SemiBold" pitchFamily="34" charset="-120"/>
              </a:rPr>
              <a:t>사람이 개입하지 않아도, 사전의 규칙만으로 공정 계획의 초안이 자동 생성된다</a:t>
            </a:r>
            <a:endParaRPr lang="en-US" sz="1600" dirty="0"/>
          </a:p>
        </p:txBody>
      </p:sp>
      <p:sp>
        <p:nvSpPr>
          <p:cNvPr id="20" name="Text 18"/>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19 / 61</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7FA"/>
          </a:solidFill>
          <a:ln/>
        </p:spPr>
      </p:sp>
      <p:sp>
        <p:nvSpPr>
          <p:cNvPr id="3" name="Shape 1"/>
          <p:cNvSpPr/>
          <p:nvPr/>
        </p:nvSpPr>
        <p:spPr>
          <a:xfrm>
            <a:off x="5641848" y="1828800"/>
            <a:ext cx="914400" cy="54864"/>
          </a:xfrm>
          <a:prstGeom prst="rect">
            <a:avLst/>
          </a:prstGeom>
          <a:solidFill>
            <a:srgbClr val="4A7BF7"/>
          </a:solidFill>
          <a:ln/>
        </p:spPr>
      </p:sp>
      <p:sp>
        <p:nvSpPr>
          <p:cNvPr id="4" name="Text 2"/>
          <p:cNvSpPr/>
          <p:nvPr/>
        </p:nvSpPr>
        <p:spPr>
          <a:xfrm>
            <a:off x="1371600" y="2286000"/>
            <a:ext cx="9445752" cy="2286000"/>
          </a:xfrm>
          <a:prstGeom prst="rect">
            <a:avLst/>
          </a:prstGeom>
          <a:noFill/>
          <a:ln/>
        </p:spPr>
        <p:txBody>
          <a:bodyPr wrap="square" rtlCol="0" anchor="ctr"/>
          <a:lstStyle/>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“이 구조의 진짜 가치는 분류가 아니라,</a:t>
            </a:r>
            <a:endParaRPr lang="en-US" sz="2400" dirty="0"/>
          </a:p>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자동 의사결정의 기반이라는 점이다”</a:t>
            </a:r>
            <a:endParaRPr lang="en-US" sz="2400" dirty="0"/>
          </a:p>
        </p:txBody>
      </p:sp>
      <p:sp>
        <p:nvSpPr>
          <p:cNvPr id="5" name="Text 3"/>
          <p:cNvSpPr/>
          <p:nvPr/>
        </p:nvSpPr>
        <p:spPr>
          <a:xfrm>
            <a:off x="1371600" y="4754880"/>
            <a:ext cx="9445752" cy="365760"/>
          </a:xfrm>
          <a:prstGeom prst="rect">
            <a:avLst/>
          </a:prstGeom>
          <a:noFill/>
          <a:ln/>
        </p:spPr>
        <p:txBody>
          <a:bodyPr wrap="square" rtlCol="0" anchor="ctr"/>
          <a:lstStyle/>
          <a:p>
            <a:pPr algn="ctr" indent="0" marL="0">
              <a:buNone/>
            </a:pPr>
            <a:r>
              <a:rPr lang="en-US" sz="1400" dirty="0">
                <a:solidFill>
                  <a:srgbClr val="718096"/>
                </a:solidFill>
                <a:latin typeface="Pretendard" pitchFamily="34" charset="0"/>
                <a:ea typeface="Pretendard" pitchFamily="34" charset="-122"/>
                <a:cs typeface="Pretendard" pitchFamily="34" charset="-120"/>
              </a:rPr>
              <a:t>제품-공정-자원(PPR) 프레임워크의 핵심 가치</a:t>
            </a:r>
            <a:endParaRPr lang="en-US" sz="14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20 / 61</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Black" pitchFamily="34" charset="0"/>
                <a:ea typeface="Pretendard Black" pitchFamily="34" charset="-122"/>
                <a:cs typeface="Pretendard Black" pitchFamily="34" charset="-120"/>
              </a:rPr>
              <a:t>03</a:t>
            </a:r>
            <a:endParaRPr lang="en-US" sz="7200" dirty="0"/>
          </a:p>
        </p:txBody>
      </p:sp>
      <p:sp>
        <p:nvSpPr>
          <p:cNvPr id="4" name="Text 2"/>
          <p:cNvSpPr/>
          <p:nvPr/>
        </p:nvSpPr>
        <p:spPr>
          <a:xfrm>
            <a:off x="5486400" y="2286000"/>
            <a:ext cx="6153912" cy="1097280"/>
          </a:xfrm>
          <a:prstGeom prst="rect">
            <a:avLst/>
          </a:prstGeom>
          <a:noFill/>
          <a:ln/>
        </p:spPr>
        <p:txBody>
          <a:bodyPr wrap="square" rtlCol="0" anchor="ctr"/>
          <a:lstStyle/>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이 사전은 어떤 언어로</a:t>
            </a:r>
            <a:endParaRPr lang="en-US" sz="3600" dirty="0"/>
          </a:p>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쓰였는가</a:t>
            </a:r>
            <a:endParaRPr lang="en-US" sz="3600" dirty="0"/>
          </a:p>
        </p:txBody>
      </p:sp>
      <p:sp>
        <p:nvSpPr>
          <p:cNvPr id="5" name="Text 3"/>
          <p:cNvSpPr/>
          <p:nvPr/>
        </p:nvSpPr>
        <p:spPr>
          <a:xfrm>
            <a:off x="5486400" y="356616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컴퓨터가 읽고 추론할 수 있는 형식 언어의 세계</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21 / 61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보통 언어 vs 논리 언어</a:t>
            </a:r>
            <a:endParaRPr lang="en-US" sz="2800" dirty="0"/>
          </a:p>
        </p:txBody>
      </p:sp>
      <p:sp>
        <p:nvSpPr>
          <p:cNvPr id="4" name="Text 2"/>
          <p:cNvSpPr/>
          <p:nvPr/>
        </p:nvSpPr>
        <p:spPr>
          <a:xfrm>
            <a:off x="548640" y="1645920"/>
            <a:ext cx="5362956" cy="411480"/>
          </a:xfrm>
          <a:prstGeom prst="rect">
            <a:avLst/>
          </a:prstGeom>
          <a:noFill/>
          <a:ln/>
        </p:spPr>
        <p:txBody>
          <a:bodyPr wrap="square" rtlCol="0" anchor="ctr"/>
          <a:lstStyle/>
          <a:p>
            <a:pPr indent="0" marL="0">
              <a:buNone/>
            </a:pPr>
            <a:r>
              <a:rPr lang="en-US" sz="2000" b="1" dirty="0">
                <a:solidFill>
                  <a:srgbClr val="FF6B6B"/>
                </a:solidFill>
                <a:latin typeface="Pretendard SemiBold" pitchFamily="34" charset="0"/>
                <a:ea typeface="Pretendard SemiBold" pitchFamily="34" charset="-122"/>
                <a:cs typeface="Pretendard SemiBold" pitchFamily="34" charset="-120"/>
              </a:rPr>
              <a:t>자연어의 모호성</a:t>
            </a:r>
            <a:endParaRPr lang="en-US" sz="2000" dirty="0"/>
          </a:p>
        </p:txBody>
      </p:sp>
      <p:sp>
        <p:nvSpPr>
          <p:cNvPr id="5" name="Text 3"/>
          <p:cNvSpPr/>
          <p:nvPr/>
        </p:nvSpPr>
        <p:spPr>
          <a:xfrm>
            <a:off x="548640" y="2148840"/>
            <a:ext cx="5362956" cy="397764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"정밀도가 높아야 한다" — 기계 정밀도? 측정 정밀도?</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"이 공정은 빠르다" — 얼마나 빠른 것인가?</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사람은 문맥으로 해석하지만, 컴퓨터는 그렇지 못한다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결과: 시스템 간 자동 연결이 불가능하다</a:t>
            </a:r>
            <a:endParaRPr lang="en-US" sz="1600" dirty="0"/>
          </a:p>
        </p:txBody>
      </p:sp>
      <p:sp>
        <p:nvSpPr>
          <p:cNvPr id="6" name="Text 4"/>
          <p:cNvSpPr/>
          <p:nvPr/>
        </p:nvSpPr>
        <p:spPr>
          <a:xfrm>
            <a:off x="6277356" y="1645920"/>
            <a:ext cx="5362956" cy="411480"/>
          </a:xfrm>
          <a:prstGeom prst="rect">
            <a:avLst/>
          </a:prstGeom>
          <a:noFill/>
          <a:ln/>
        </p:spPr>
        <p:txBody>
          <a:bodyPr wrap="square" rtlCol="0" anchor="ctr"/>
          <a:lstStyle/>
          <a:p>
            <a:pPr indent="0" marL="0">
              <a:buNone/>
            </a:pPr>
            <a:r>
              <a:rPr lang="en-US" sz="2000" b="1" dirty="0">
                <a:solidFill>
                  <a:srgbClr val="00D4AA"/>
                </a:solidFill>
                <a:latin typeface="Pretendard SemiBold" pitchFamily="34" charset="0"/>
                <a:ea typeface="Pretendard SemiBold" pitchFamily="34" charset="-122"/>
                <a:cs typeface="Pretendard SemiBold" pitchFamily="34" charset="-120"/>
              </a:rPr>
              <a:t>형식 언어의 엄밀성</a:t>
            </a:r>
            <a:endParaRPr lang="en-US" sz="2000" dirty="0"/>
          </a:p>
        </p:txBody>
      </p:sp>
      <p:sp>
        <p:nvSpPr>
          <p:cNvPr id="7" name="Text 5"/>
          <p:cNvSpPr/>
          <p:nvPr/>
        </p:nvSpPr>
        <p:spPr>
          <a:xfrm>
            <a:off x="6277356" y="2148840"/>
            <a:ext cx="5362956" cy="3977640"/>
          </a:xfrm>
          <a:prstGeom prst="rect">
            <a:avLst/>
          </a:prstGeom>
          <a:noFill/>
          <a:ln/>
        </p:spPr>
        <p:txBody>
          <a:bodyPr wrap="square" rtlCol="0" anchor="t"/>
          <a:lstStyle/>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"드릴링은 오퍼레이션의 하위 종류다" — 명확한 포함 관계</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"드릴링은 공구를 사용한다" — 정확한 연결 관계</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컴퓨터가 읽고, 자동으로 추론할 수 있다</a:t>
            </a:r>
            <a:endParaRPr lang="en-US" sz="1600" dirty="0"/>
          </a:p>
          <a:p>
            <a:pPr marL="342900" indent="-342900">
              <a:lnSpc>
                <a:spcPct val="150000"/>
              </a:lnSpc>
              <a:spcAft>
                <a:spcPts val="800"/>
              </a:spcAft>
              <a:buSzPct val="100000"/>
              <a:buChar char="•"/>
            </a:pPr>
            <a:r>
              <a:rPr lang="en-US" sz="1600" dirty="0">
                <a:solidFill>
                  <a:srgbClr val="4A5568"/>
                </a:solidFill>
                <a:latin typeface="Pretendard" pitchFamily="34" charset="0"/>
                <a:ea typeface="Pretendard" pitchFamily="34" charset="-122"/>
                <a:cs typeface="Pretendard" pitchFamily="34" charset="-120"/>
              </a:rPr>
              <a:t>W3C(웹 표준 기구)가 2004년에 권고한 OWL이 대표적이다</a:t>
            </a:r>
            <a:endParaRPr lang="en-US" sz="1600" dirty="0"/>
          </a:p>
        </p:txBody>
      </p:sp>
      <p:sp>
        <p:nvSpPr>
          <p:cNvPr id="8" name="Text 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22 / 61</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레고 비유로 이해하는 사전 작성법</a:t>
            </a:r>
            <a:endParaRPr lang="en-US" sz="2800" dirty="0"/>
          </a:p>
        </p:txBody>
      </p:sp>
      <p:sp>
        <p:nvSpPr>
          <p:cNvPr id="4" name="Shape 2"/>
          <p:cNvSpPr/>
          <p:nvPr/>
        </p:nvSpPr>
        <p:spPr>
          <a:xfrm>
            <a:off x="548640" y="1645920"/>
            <a:ext cx="5362956" cy="1828800"/>
          </a:xfrm>
          <a:prstGeom prst="roundRect">
            <a:avLst>
              <a:gd name="adj" fmla="val 5000"/>
            </a:avLst>
          </a:prstGeom>
          <a:solidFill>
            <a:srgbClr val="FFFFFF"/>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645920"/>
            <a:ext cx="5326380" cy="54864"/>
          </a:xfrm>
          <a:prstGeom prst="rect">
            <a:avLst/>
          </a:prstGeom>
          <a:solidFill>
            <a:srgbClr val="4A7BF7"/>
          </a:solidFill>
          <a:ln/>
        </p:spPr>
      </p:sp>
      <p:sp>
        <p:nvSpPr>
          <p:cNvPr id="6" name="Text 4"/>
          <p:cNvSpPr/>
          <p:nvPr/>
        </p:nvSpPr>
        <p:spPr>
          <a:xfrm>
            <a:off x="731520" y="1828800"/>
            <a:ext cx="499719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블록 종류 = 개념(Class)</a:t>
            </a:r>
            <a:endParaRPr lang="en-US" sz="1600" dirty="0"/>
          </a:p>
        </p:txBody>
      </p:sp>
      <p:sp>
        <p:nvSpPr>
          <p:cNvPr id="7" name="Text 5"/>
          <p:cNvSpPr/>
          <p:nvPr/>
        </p:nvSpPr>
        <p:spPr>
          <a:xfrm>
            <a:off x="731520" y="2148840"/>
            <a:ext cx="4997196" cy="11430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레고 블록의 "종류"에 해당한다.</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예: "드릴링"은 "오퍼레이션"의 하위 종류</a:t>
            </a:r>
            <a:endParaRPr lang="en-US" sz="1300" dirty="0"/>
          </a:p>
        </p:txBody>
      </p:sp>
      <p:sp>
        <p:nvSpPr>
          <p:cNvPr id="8" name="Shape 6"/>
          <p:cNvSpPr/>
          <p:nvPr/>
        </p:nvSpPr>
        <p:spPr>
          <a:xfrm>
            <a:off x="6277356" y="1645920"/>
            <a:ext cx="5362956" cy="1828800"/>
          </a:xfrm>
          <a:prstGeom prst="roundRect">
            <a:avLst>
              <a:gd name="adj" fmla="val 5000"/>
            </a:avLst>
          </a:prstGeom>
          <a:solidFill>
            <a:srgbClr val="FFFFFF"/>
          </a:solidFill>
          <a:ln/>
          <a:effectLst>
            <a:outerShdw sx="100000" sy="100000" kx="0" ky="0" algn="bl" rotWithShape="0" blurRad="76200" dist="25400" dir="16200000">
              <a:srgbClr val="000000">
                <a:alpha val="8000"/>
              </a:srgbClr>
            </a:outerShdw>
          </a:effectLst>
        </p:spPr>
      </p:sp>
      <p:sp>
        <p:nvSpPr>
          <p:cNvPr id="9" name="Shape 7"/>
          <p:cNvSpPr/>
          <p:nvPr/>
        </p:nvSpPr>
        <p:spPr>
          <a:xfrm>
            <a:off x="6295644" y="1645920"/>
            <a:ext cx="5326380" cy="54864"/>
          </a:xfrm>
          <a:prstGeom prst="rect">
            <a:avLst/>
          </a:prstGeom>
          <a:solidFill>
            <a:srgbClr val="00D4AA"/>
          </a:solidFill>
          <a:ln/>
        </p:spPr>
      </p:sp>
      <p:sp>
        <p:nvSpPr>
          <p:cNvPr id="10" name="Text 8"/>
          <p:cNvSpPr/>
          <p:nvPr/>
        </p:nvSpPr>
        <p:spPr>
          <a:xfrm>
            <a:off x="6460236" y="1828800"/>
            <a:ext cx="499719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커넥터 = 관계(Property)</a:t>
            </a:r>
            <a:endParaRPr lang="en-US" sz="1600" dirty="0"/>
          </a:p>
        </p:txBody>
      </p:sp>
      <p:sp>
        <p:nvSpPr>
          <p:cNvPr id="11" name="Text 9"/>
          <p:cNvSpPr/>
          <p:nvPr/>
        </p:nvSpPr>
        <p:spPr>
          <a:xfrm>
            <a:off x="6460236" y="2148840"/>
            <a:ext cx="4997196" cy="11430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블록들을 연결하는 커넥터에 해당한다.</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예: "uses" 커넥터로 드릴링과 드릴비트를 연결</a:t>
            </a:r>
            <a:endParaRPr lang="en-US" sz="1300" dirty="0"/>
          </a:p>
        </p:txBody>
      </p:sp>
      <p:sp>
        <p:nvSpPr>
          <p:cNvPr id="12" name="Shape 10"/>
          <p:cNvSpPr/>
          <p:nvPr/>
        </p:nvSpPr>
        <p:spPr>
          <a:xfrm>
            <a:off x="548640" y="3749040"/>
            <a:ext cx="5362956" cy="1828800"/>
          </a:xfrm>
          <a:prstGeom prst="roundRect">
            <a:avLst>
              <a:gd name="adj" fmla="val 5000"/>
            </a:avLst>
          </a:prstGeom>
          <a:solidFill>
            <a:srgbClr val="FFFFFF"/>
          </a:solidFill>
          <a:ln/>
          <a:effectLst>
            <a:outerShdw sx="100000" sy="100000" kx="0" ky="0" algn="bl" rotWithShape="0" blurRad="76200" dist="25400" dir="16200000">
              <a:srgbClr val="000000">
                <a:alpha val="8000"/>
              </a:srgbClr>
            </a:outerShdw>
          </a:effectLst>
        </p:spPr>
      </p:sp>
      <p:sp>
        <p:nvSpPr>
          <p:cNvPr id="13" name="Shape 11"/>
          <p:cNvSpPr/>
          <p:nvPr/>
        </p:nvSpPr>
        <p:spPr>
          <a:xfrm>
            <a:off x="566928" y="3749040"/>
            <a:ext cx="5326380" cy="54864"/>
          </a:xfrm>
          <a:prstGeom prst="rect">
            <a:avLst/>
          </a:prstGeom>
          <a:solidFill>
            <a:srgbClr val="FFB020"/>
          </a:solidFill>
          <a:ln/>
        </p:spPr>
      </p:sp>
      <p:sp>
        <p:nvSpPr>
          <p:cNvPr id="14" name="Text 12"/>
          <p:cNvSpPr/>
          <p:nvPr/>
        </p:nvSpPr>
        <p:spPr>
          <a:xfrm>
            <a:off x="731520" y="3931920"/>
            <a:ext cx="499719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완성품 = 데이터(Individual)</a:t>
            </a:r>
            <a:endParaRPr lang="en-US" sz="1600" dirty="0"/>
          </a:p>
        </p:txBody>
      </p:sp>
      <p:sp>
        <p:nvSpPr>
          <p:cNvPr id="15" name="Text 13"/>
          <p:cNvSpPr/>
          <p:nvPr/>
        </p:nvSpPr>
        <p:spPr>
          <a:xfrm>
            <a:off x="731520" y="4251960"/>
            <a:ext cx="4997196" cy="11430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실제로 조립된 레고 완성품에 해당한다.</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예: "3호기 CNC 밀링머신"은 공작기계의 실제 사례</a:t>
            </a:r>
            <a:endParaRPr lang="en-US" sz="1300" dirty="0"/>
          </a:p>
        </p:txBody>
      </p:sp>
      <p:sp>
        <p:nvSpPr>
          <p:cNvPr id="16" name="Shape 14"/>
          <p:cNvSpPr/>
          <p:nvPr/>
        </p:nvSpPr>
        <p:spPr>
          <a:xfrm>
            <a:off x="6277356" y="3749040"/>
            <a:ext cx="5362956" cy="1828800"/>
          </a:xfrm>
          <a:prstGeom prst="roundRect">
            <a:avLst>
              <a:gd name="adj" fmla="val 5000"/>
            </a:avLst>
          </a:prstGeom>
          <a:solidFill>
            <a:srgbClr val="FFFFFF"/>
          </a:solidFill>
          <a:ln/>
          <a:effectLst>
            <a:outerShdw sx="100000" sy="100000" kx="0" ky="0" algn="bl" rotWithShape="0" blurRad="76200" dist="25400" dir="16200000">
              <a:srgbClr val="000000">
                <a:alpha val="8000"/>
              </a:srgbClr>
            </a:outerShdw>
          </a:effectLst>
        </p:spPr>
      </p:sp>
      <p:sp>
        <p:nvSpPr>
          <p:cNvPr id="17" name="Shape 15"/>
          <p:cNvSpPr/>
          <p:nvPr/>
        </p:nvSpPr>
        <p:spPr>
          <a:xfrm>
            <a:off x="6295644" y="3749040"/>
            <a:ext cx="5326380" cy="54864"/>
          </a:xfrm>
          <a:prstGeom prst="rect">
            <a:avLst/>
          </a:prstGeom>
          <a:solidFill>
            <a:srgbClr val="8B5CF6"/>
          </a:solidFill>
          <a:ln/>
        </p:spPr>
      </p:sp>
      <p:sp>
        <p:nvSpPr>
          <p:cNvPr id="18" name="Text 16"/>
          <p:cNvSpPr/>
          <p:nvPr/>
        </p:nvSpPr>
        <p:spPr>
          <a:xfrm>
            <a:off x="6460236" y="3931920"/>
            <a:ext cx="499719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규칙 = 제약조건(Restriction)</a:t>
            </a:r>
            <a:endParaRPr lang="en-US" sz="1600" dirty="0"/>
          </a:p>
        </p:txBody>
      </p:sp>
      <p:sp>
        <p:nvSpPr>
          <p:cNvPr id="19" name="Text 17"/>
          <p:cNvSpPr/>
          <p:nvPr/>
        </p:nvSpPr>
        <p:spPr>
          <a:xfrm>
            <a:off x="6460236" y="4251960"/>
            <a:ext cx="4997196" cy="114300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"이 블록은 여기에만 꽂을 수 있다"는 규칙.</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예: 알루미늄에 플라즈마 용접은 적용 불가</a:t>
            </a:r>
            <a:endParaRPr lang="en-US" sz="1300" dirty="0"/>
          </a:p>
        </p:txBody>
      </p:sp>
      <p:sp>
        <p:nvSpPr>
          <p:cNvPr id="20" name="Text 18"/>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23 / 61</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사전 작성법에도 난이도가 있다</a:t>
            </a:r>
            <a:endParaRPr lang="en-US" sz="28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371600"/>
                <a:gridCol w="1828800"/>
                <a:gridCol w="4690872"/>
                <a:gridCol w="3200400"/>
              </a:tblGrid>
              <a:tr h="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수준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이름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특징</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비유</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기본</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OWL Lite</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가장 단순한 분류 체계만 가능</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초등학교 수학: 덧셈, 뺄셈</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0">
                <a:tc>
                  <a:txBody>
                    <a:bodyPr/>
                    <a:lstStyle/>
                    <a:p>
                      <a:pPr indent="0" marL="0">
                        <a:buNone/>
                      </a:pPr>
                      <a:r>
                        <a:rPr lang="en-US" sz="1100" b="1" dirty="0">
                          <a:solidFill>
                            <a:srgbClr val="4A7BF7"/>
                          </a:solidFill>
                          <a:latin typeface="Pretendard" pitchFamily="34" charset="0"/>
                          <a:ea typeface="Pretendard" pitchFamily="34" charset="-122"/>
                          <a:cs typeface="Pretendard" pitchFamily="34" charset="-120"/>
                        </a:rPr>
                        <a:t>중급 (MASON 선택)</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b="1" dirty="0">
                          <a:solidFill>
                            <a:srgbClr val="4A7BF7"/>
                          </a:solidFill>
                          <a:latin typeface="Pretendard" pitchFamily="34" charset="0"/>
                          <a:ea typeface="Pretendard" pitchFamily="34" charset="-122"/>
                          <a:cs typeface="Pretendard" pitchFamily="34" charset="-120"/>
                        </a:rPr>
                        <a:t>OWL DL</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b="1" dirty="0">
                          <a:solidFill>
                            <a:srgbClr val="4A5568"/>
                          </a:solidFill>
                          <a:latin typeface="Pretendard" pitchFamily="34" charset="0"/>
                          <a:ea typeface="Pretendard" pitchFamily="34" charset="-122"/>
                          <a:cs typeface="Pretendard" pitchFamily="34" charset="-120"/>
                        </a:rPr>
                        <a:t>표현력이 높으면서 모든 추론이 유한 시간에 종료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b="1" dirty="0">
                          <a:solidFill>
                            <a:srgbClr val="4A5568"/>
                          </a:solidFill>
                          <a:latin typeface="Pretendard" pitchFamily="34" charset="0"/>
                          <a:ea typeface="Pretendard" pitchFamily="34" charset="-122"/>
                          <a:cs typeface="Pretendard" pitchFamily="34" charset="-120"/>
                        </a:rPr>
                        <a:t>고등학교 수학: 반드시 답이 나옴</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고급</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OWL Full</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제한 없는 자유, 하지만 추론이 끝나지 않을 수 있음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대학원 수학: 풀 수 없는 문제도 존재</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548640" y="5029200"/>
            <a:ext cx="11091672" cy="731520"/>
          </a:xfrm>
          <a:prstGeom prst="rect">
            <a:avLst/>
          </a:prstGeom>
          <a:noFill/>
          <a:ln/>
        </p:spPr>
        <p:txBody>
          <a:bodyPr wrap="square" rtlCol="0" anchor="t"/>
          <a:lstStyle/>
          <a:p>
            <a:pPr indent="0" marL="0">
              <a:lnSpc>
                <a:spcPct val="140000"/>
              </a:lnSpc>
              <a:buNone/>
            </a:pPr>
            <a:r>
              <a:rPr lang="en-US" sz="1400" dirty="0">
                <a:solidFill>
                  <a:srgbClr val="718096"/>
                </a:solidFill>
                <a:latin typeface="Pretendard Light" pitchFamily="34" charset="0"/>
                <a:ea typeface="Pretendard Light" pitchFamily="34" charset="-122"/>
                <a:cs typeface="Pretendard Light" pitchFamily="34" charset="-120"/>
              </a:rPr>
              <a:t>MASON은 "표현력"과 "계산 가능성"의 균형을 위해 OWL DL을 선택했다. 모든 추론이 반드시 유한 시간에 종료됨을 보장한다.</a:t>
            </a:r>
            <a:endParaRPr lang="en-US" sz="1400" dirty="0"/>
          </a:p>
        </p:txBody>
      </p:sp>
      <p:sp>
        <p:nvSpPr>
          <p:cNvPr id="6"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24 / 61</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이 작성법의 한계: 조건부 규칙은 별도 도구가 필요하다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OWL만으로 표현하기 어려운 규칙이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예: "알루미늄이고 드릴 직경이 5mm 미만이면, 드릴 속도는 3000rpm"</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이런 조건부 규칙은 SWRL(시맨틱 웹 규칙 언어)로 보완한다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 원 논문도 2006년에 이미 OWL + SWRL 조합의 필요성을 지적했다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현실: 하나의 완벽한 도구는 없고, 목적에 맞는 도구를 조합해야 한다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25 / 61</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Black" pitchFamily="34" charset="0"/>
                <a:ea typeface="Pretendard Black" pitchFamily="34" charset="-122"/>
                <a:cs typeface="Pretendard Black" pitchFamily="34" charset="-120"/>
              </a:rPr>
              <a:t>04</a:t>
            </a:r>
            <a:endParaRPr lang="en-US" sz="7200" dirty="0"/>
          </a:p>
        </p:txBody>
      </p:sp>
      <p:sp>
        <p:nvSpPr>
          <p:cNvPr id="4" name="Text 2"/>
          <p:cNvSpPr/>
          <p:nvPr/>
        </p:nvSpPr>
        <p:spPr>
          <a:xfrm>
            <a:off x="5486400" y="2286000"/>
            <a:ext cx="6153912" cy="1097280"/>
          </a:xfrm>
          <a:prstGeom prst="rect">
            <a:avLst/>
          </a:prstGeom>
          <a:noFill/>
          <a:ln/>
        </p:spPr>
        <p:txBody>
          <a:bodyPr wrap="square" rtlCol="0" anchor="ctr"/>
          <a:lstStyle/>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하나의 사전에서</a:t>
            </a:r>
            <a:endParaRPr lang="en-US" sz="3600" dirty="0"/>
          </a:p>
          <a:p>
            <a:pPr indent="0" marL="0">
              <a:lnSpc>
                <a:spcPct val="110000"/>
              </a:lnSpc>
              <a:buNone/>
            </a:pPr>
            <a:r>
              <a:rPr lang="en-US" sz="3600" b="1" dirty="0">
                <a:solidFill>
                  <a:srgbClr val="1A1F36"/>
                </a:solidFill>
                <a:latin typeface="Pretendard SemiBold" pitchFamily="34" charset="0"/>
                <a:ea typeface="Pretendard SemiBold" pitchFamily="34" charset="-122"/>
                <a:cs typeface="Pretendard SemiBold" pitchFamily="34" charset="-120"/>
              </a:rPr>
              <a:t>수십 개의 사전으로</a:t>
            </a:r>
            <a:endParaRPr lang="en-US" sz="3600" dirty="0"/>
          </a:p>
        </p:txBody>
      </p:sp>
      <p:sp>
        <p:nvSpPr>
          <p:cNvPr id="5" name="Text 3"/>
          <p:cNvSpPr/>
          <p:nvPr/>
        </p:nvSpPr>
        <p:spPr>
          <a:xfrm>
            <a:off x="5486400" y="356616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20년간 65개 이상의 제조 사전이 탄생했다</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26 / 61</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세 시대로 나눠보는 제조 사전의 역사</a:t>
            </a:r>
            <a:endParaRPr lang="en-US" sz="2800" dirty="0"/>
          </a:p>
        </p:txBody>
      </p:sp>
      <p:sp>
        <p:nvSpPr>
          <p:cNvPr id="4" name="Shape 2"/>
          <p:cNvSpPr/>
          <p:nvPr/>
        </p:nvSpPr>
        <p:spPr>
          <a:xfrm>
            <a:off x="548640" y="1645920"/>
            <a:ext cx="54864" cy="4572000"/>
          </a:xfrm>
          <a:prstGeom prst="rect">
            <a:avLst/>
          </a:prstGeom>
          <a:solidFill>
            <a:srgbClr val="4A7BF7"/>
          </a:solidFill>
          <a:ln/>
        </p:spPr>
      </p:sp>
      <p:sp>
        <p:nvSpPr>
          <p:cNvPr id="5" name="Shape 3"/>
          <p:cNvSpPr/>
          <p:nvPr/>
        </p:nvSpPr>
        <p:spPr>
          <a:xfrm>
            <a:off x="470916" y="1755648"/>
            <a:ext cx="210312" cy="210312"/>
          </a:xfrm>
          <a:prstGeom prst="ellipse">
            <a:avLst/>
          </a:prstGeom>
          <a:solidFill>
            <a:srgbClr val="4A7BF7"/>
          </a:solidFill>
          <a:ln/>
        </p:spPr>
      </p:sp>
      <p:sp>
        <p:nvSpPr>
          <p:cNvPr id="6" name="Text 4"/>
          <p:cNvSpPr/>
          <p:nvPr/>
        </p:nvSpPr>
        <p:spPr>
          <a:xfrm>
            <a:off x="914400" y="1645920"/>
            <a:ext cx="2743200" cy="320040"/>
          </a:xfrm>
          <a:prstGeom prst="rect">
            <a:avLst/>
          </a:prstGeom>
          <a:noFill/>
          <a:ln/>
        </p:spPr>
        <p:txBody>
          <a:bodyPr wrap="square" rtlCol="0" anchor="ctr"/>
          <a:lstStyle/>
          <a:p>
            <a:pPr indent="0" marL="0">
              <a:buNone/>
            </a:pPr>
            <a:r>
              <a:rPr lang="en-US" sz="1400" b="1" dirty="0">
                <a:solidFill>
                  <a:srgbClr val="4A7BF7"/>
                </a:solidFill>
                <a:latin typeface="Pretendard SemiBold" pitchFamily="34" charset="0"/>
                <a:ea typeface="Pretendard SemiBold" pitchFamily="34" charset="-122"/>
                <a:cs typeface="Pretendard SemiBold" pitchFamily="34" charset="-120"/>
              </a:rPr>
              <a:t>1세대: 2005~2012</a:t>
            </a:r>
            <a:endParaRPr lang="en-US" sz="1400" dirty="0"/>
          </a:p>
        </p:txBody>
      </p:sp>
      <p:sp>
        <p:nvSpPr>
          <p:cNvPr id="7" name="Text 5"/>
          <p:cNvSpPr/>
          <p:nvPr/>
        </p:nvSpPr>
        <p:spPr>
          <a:xfrm>
            <a:off x="914400" y="1965960"/>
            <a:ext cx="10725912"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각 연구팀이 자기만의 사전을 만들던 시기</a:t>
            </a:r>
            <a:endParaRPr lang="en-US" sz="1600" dirty="0"/>
          </a:p>
        </p:txBody>
      </p:sp>
      <p:sp>
        <p:nvSpPr>
          <p:cNvPr id="8" name="Text 6"/>
          <p:cNvSpPr/>
          <p:nvPr/>
        </p:nvSpPr>
        <p:spPr>
          <a:xfrm>
            <a:off x="914400" y="2286000"/>
            <a:ext cx="10725912" cy="74676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MASON, MSDL 등 개별 연구팀이 독자적으로 온톨로지를 제안.</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제품-공정-자원 구조가 확립되었으나, 사전 간 호환이 안 됐다.</a:t>
            </a:r>
            <a:endParaRPr lang="en-US" sz="1300" dirty="0"/>
          </a:p>
        </p:txBody>
      </p:sp>
      <p:sp>
        <p:nvSpPr>
          <p:cNvPr id="9" name="Shape 7"/>
          <p:cNvSpPr/>
          <p:nvPr/>
        </p:nvSpPr>
        <p:spPr>
          <a:xfrm>
            <a:off x="914400" y="3124200"/>
            <a:ext cx="10725912" cy="0"/>
          </a:xfrm>
          <a:prstGeom prst="line">
            <a:avLst/>
          </a:prstGeom>
          <a:noFill/>
          <a:ln w="6350">
            <a:solidFill>
              <a:srgbClr val="E2E8F0"/>
            </a:solidFill>
            <a:prstDash val="solid"/>
          </a:ln>
        </p:spPr>
      </p:sp>
      <p:sp>
        <p:nvSpPr>
          <p:cNvPr id="10" name="Shape 8"/>
          <p:cNvSpPr/>
          <p:nvPr/>
        </p:nvSpPr>
        <p:spPr>
          <a:xfrm>
            <a:off x="470916" y="3279648"/>
            <a:ext cx="210312" cy="210312"/>
          </a:xfrm>
          <a:prstGeom prst="ellipse">
            <a:avLst/>
          </a:prstGeom>
          <a:solidFill>
            <a:srgbClr val="4A7BF7"/>
          </a:solidFill>
          <a:ln/>
        </p:spPr>
      </p:sp>
      <p:sp>
        <p:nvSpPr>
          <p:cNvPr id="11" name="Text 9"/>
          <p:cNvSpPr/>
          <p:nvPr/>
        </p:nvSpPr>
        <p:spPr>
          <a:xfrm>
            <a:off x="914400" y="3169920"/>
            <a:ext cx="2743200" cy="320040"/>
          </a:xfrm>
          <a:prstGeom prst="rect">
            <a:avLst/>
          </a:prstGeom>
          <a:noFill/>
          <a:ln/>
        </p:spPr>
        <p:txBody>
          <a:bodyPr wrap="square" rtlCol="0" anchor="ctr"/>
          <a:lstStyle/>
          <a:p>
            <a:pPr indent="0" marL="0">
              <a:buNone/>
            </a:pPr>
            <a:r>
              <a:rPr lang="en-US" sz="1400" b="1" dirty="0">
                <a:solidFill>
                  <a:srgbClr val="4A7BF7"/>
                </a:solidFill>
                <a:latin typeface="Pretendard SemiBold" pitchFamily="34" charset="0"/>
                <a:ea typeface="Pretendard SemiBold" pitchFamily="34" charset="-122"/>
                <a:cs typeface="Pretendard SemiBold" pitchFamily="34" charset="-120"/>
              </a:rPr>
              <a:t>2세대: 2013~2019</a:t>
            </a:r>
            <a:endParaRPr lang="en-US" sz="1400" dirty="0"/>
          </a:p>
        </p:txBody>
      </p:sp>
      <p:sp>
        <p:nvSpPr>
          <p:cNvPr id="12" name="Text 10"/>
          <p:cNvSpPr/>
          <p:nvPr/>
        </p:nvSpPr>
        <p:spPr>
          <a:xfrm>
            <a:off x="914400" y="3489960"/>
            <a:ext cx="10725912"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특정 분야를 깊이 파는 전문 사전들</a:t>
            </a:r>
            <a:endParaRPr lang="en-US" sz="1600" dirty="0"/>
          </a:p>
        </p:txBody>
      </p:sp>
      <p:sp>
        <p:nvSpPr>
          <p:cNvPr id="13" name="Text 11"/>
          <p:cNvSpPr/>
          <p:nvPr/>
        </p:nvSpPr>
        <p:spPr>
          <a:xfrm>
            <a:off x="914400" y="3810000"/>
            <a:ext cx="10725912" cy="74676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MaRCO(자원 역량), ExtruOnt(압출기) 등 도메인 특화 온톨로지 등장.</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Industry 4.0으로 IoT/센서 관련 수요 급증. 사전이 65개 이상으로 파편화.</a:t>
            </a:r>
            <a:endParaRPr lang="en-US" sz="1300" dirty="0"/>
          </a:p>
        </p:txBody>
      </p:sp>
      <p:sp>
        <p:nvSpPr>
          <p:cNvPr id="14" name="Shape 12"/>
          <p:cNvSpPr/>
          <p:nvPr/>
        </p:nvSpPr>
        <p:spPr>
          <a:xfrm>
            <a:off x="914400" y="4648200"/>
            <a:ext cx="10725912" cy="0"/>
          </a:xfrm>
          <a:prstGeom prst="line">
            <a:avLst/>
          </a:prstGeom>
          <a:noFill/>
          <a:ln w="6350">
            <a:solidFill>
              <a:srgbClr val="E2E8F0"/>
            </a:solidFill>
            <a:prstDash val="solid"/>
          </a:ln>
        </p:spPr>
      </p:sp>
      <p:sp>
        <p:nvSpPr>
          <p:cNvPr id="15" name="Shape 13"/>
          <p:cNvSpPr/>
          <p:nvPr/>
        </p:nvSpPr>
        <p:spPr>
          <a:xfrm>
            <a:off x="470916" y="4803648"/>
            <a:ext cx="210312" cy="210312"/>
          </a:xfrm>
          <a:prstGeom prst="ellipse">
            <a:avLst/>
          </a:prstGeom>
          <a:solidFill>
            <a:srgbClr val="4A7BF7"/>
          </a:solidFill>
          <a:ln/>
        </p:spPr>
      </p:sp>
      <p:sp>
        <p:nvSpPr>
          <p:cNvPr id="16" name="Text 14"/>
          <p:cNvSpPr/>
          <p:nvPr/>
        </p:nvSpPr>
        <p:spPr>
          <a:xfrm>
            <a:off x="914400" y="4693920"/>
            <a:ext cx="2743200" cy="320040"/>
          </a:xfrm>
          <a:prstGeom prst="rect">
            <a:avLst/>
          </a:prstGeom>
          <a:noFill/>
          <a:ln/>
        </p:spPr>
        <p:txBody>
          <a:bodyPr wrap="square" rtlCol="0" anchor="ctr"/>
          <a:lstStyle/>
          <a:p>
            <a:pPr indent="0" marL="0">
              <a:buNone/>
            </a:pPr>
            <a:r>
              <a:rPr lang="en-US" sz="1400" b="1" dirty="0">
                <a:solidFill>
                  <a:srgbClr val="4A7BF7"/>
                </a:solidFill>
                <a:latin typeface="Pretendard SemiBold" pitchFamily="34" charset="0"/>
                <a:ea typeface="Pretendard SemiBold" pitchFamily="34" charset="-122"/>
                <a:cs typeface="Pretendard SemiBold" pitchFamily="34" charset="-120"/>
              </a:rPr>
              <a:t>3세대: 2019~현재</a:t>
            </a:r>
            <a:endParaRPr lang="en-US" sz="1400" dirty="0"/>
          </a:p>
        </p:txBody>
      </p:sp>
      <p:sp>
        <p:nvSpPr>
          <p:cNvPr id="17" name="Text 15"/>
          <p:cNvSpPr/>
          <p:nvPr/>
        </p:nvSpPr>
        <p:spPr>
          <a:xfrm>
            <a:off x="914400" y="5013960"/>
            <a:ext cx="10725912"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"사전들의 사전"을 만들려는 국제적 노력</a:t>
            </a:r>
            <a:endParaRPr lang="en-US" sz="1600" dirty="0"/>
          </a:p>
        </p:txBody>
      </p:sp>
      <p:sp>
        <p:nvSpPr>
          <p:cNvPr id="18" name="Text 16"/>
          <p:cNvSpPr/>
          <p:nvPr/>
        </p:nvSpPr>
        <p:spPr>
          <a:xfrm>
            <a:off x="914400" y="5334000"/>
            <a:ext cx="10725912" cy="74676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IOF(Industrial Ontologies Foundry) 등 산업계-학계 공동 표준화.</a:t>
            </a:r>
            <a:endParaRPr lang="en-US" sz="1300" dirty="0"/>
          </a:p>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새로 만드는 것이 아니라, 기존 사전을 정렬하고 재사용하는 방향으로 전환.</a:t>
            </a:r>
            <a:endParaRPr lang="en-US" sz="1300" dirty="0"/>
          </a:p>
        </p:txBody>
      </p:sp>
      <p:sp>
        <p:nvSpPr>
          <p:cNvPr id="19" name="Text 17"/>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27 / 61</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1세대 (2005~2012): 개별 제안의 시대</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MASON(2006): 프랑스-독일 공동 연구. 제품-공정-자원 구조의 원형</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MSDL(2006~): 미국 미시간대학. "이 업체가 무엇을 만들 수 있는가"를 정의</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PSL(1998~): 미국 NIST. 공정 명세를 교환하기 위한 초기 표준</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MCCO(2011): 영국 Loughborough 대학. 제품 생애주기 전반의 핵심 개념 통합</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한계: 각 사전이 독립적으로 만들어져, 사전 간 호환이 되지 않았다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28 / 61</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2세대 (2013~2019): 특정 분야를 깊이 파는 전문 사전들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MaRCO(2019): 핀란드. 제조 자원의 "역량"에 특화. 역량의 조합과 매칭 지원</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ExtruOnt(2020): 스페인. 압출기 한 종류의 기계를 매우 상세히 기술</a:t>
            </a:r>
            <a:pPr lvl="1"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   MASON의 "공작기계" 개념을 상위 클래스로 직접 채택한 사례</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Industry 4.0의 등장으로 IoT 센서, 디지털 트윈 관련 사전 수요 급증</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문제: 사전이 65개 이상으로 늘어나, "어떤 것을 써야 하나" 자체가 과제가 됨</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29 / 61</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3세대 (2019~현재): 사전들의 사전을 만들려는 노력</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IOF(Industrial Ontologies Foundry): 산업계-학계-표준기구 공동 프로젝트</a:t>
            </a:r>
            <a:pPr lvl="1"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   OAGi 주도, NIST 참여. 기존 사전들의 파편화 문제를 해결하려는 시도</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I40GO(2025): 가장 최신의 통합 온톨로지. 제조 + IoT + 소프트웨어 포괄</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핵심 전환: 새 사전을 만드는 것이 아니라, 기존 사전을 정렬하고 재사용</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MASON이 ExtruOnt의 상위 구조로 채택된 것이 이 흐름의 대표적 사례</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2024년 서베이에서 MASON은 여전히 가장 빈번하게 인용되는 상위 사전</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30 / 61</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주요 제조 사전 7개를 한눈에 비교</a:t>
            </a:r>
            <a:endParaRPr lang="en-US" sz="2800" dirty="0"/>
          </a:p>
        </p:txBody>
      </p:sp>
      <p:sp>
        <p:nvSpPr>
          <p:cNvPr id="4" name="Text 2"/>
          <p:cNvSpPr/>
          <p:nvPr/>
        </p:nvSpPr>
        <p:spPr>
          <a:xfrm>
            <a:off x="548640" y="1143000"/>
            <a:ext cx="9144000" cy="365760"/>
          </a:xfrm>
          <a:prstGeom prst="rect">
            <a:avLst/>
          </a:prstGeom>
          <a:noFill/>
          <a:ln/>
        </p:spPr>
        <p:txBody>
          <a:bodyPr wrap="square" rtlCol="0" anchor="ctr"/>
          <a:lstStyle/>
          <a:p>
            <a:pPr indent="0" marL="0">
              <a:buNone/>
            </a:pPr>
            <a:r>
              <a:rPr lang="en-US" sz="1600" dirty="0">
                <a:solidFill>
                  <a:srgbClr val="718096"/>
                </a:solidFill>
                <a:latin typeface="Pretendard" pitchFamily="34" charset="0"/>
                <a:ea typeface="Pretendard" pitchFamily="34" charset="-122"/>
                <a:cs typeface="Pretendard" pitchFamily="34" charset="-120"/>
              </a:rPr>
              <a:t>이름, 초점, 시기, 관계를 기준으로</a:t>
            </a:r>
            <a:endParaRPr lang="en-US" sz="16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200400"/>
                <a:gridCol w="2743200"/>
                <a:gridCol w="1645920"/>
                <a:gridCol w="3502152"/>
              </a:tblGrid>
              <a:tr h="41148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사전 이름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초점 영역</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발표 시기</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MASON과의 관계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MASON</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(제조 공통 사전)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제품-공정-자원</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2006</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원본</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MSDL</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(제조 서비스 기술 언어)</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제조 역량 기술</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2006~</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보완적</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MCCO</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(제조 핵심 개념)</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제품 생애주기 전체</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2011</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PPR 확장</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MaRCO</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(제조 자원 역량)</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자원 역량 조합</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2019</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Resource 확장</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ExtruOnt</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(압출기 전문 사전)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압출기 상세 기술</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2020</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MASON에 정렬</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IOF Core</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(산업 온톨로지 표준)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산업 전체 표준화</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2022</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파편화 해소 시도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I40GO</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(4차 산업혁명 통합 사전)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I4.0 전역 통합</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2020~2025</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MASON 구조 포함</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6"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31 / 61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압출기 전문 사전이 MASON을 뼈대로 선택한 이유</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ExtruOnt는 압출기(Extruder)를 상세히 기술하기 위한 전문 사전이다.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개발 시 여러 대안을 비교 검토했다:</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MaRCO: 기계 능력 중심이라 범위가 맞지 않음</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MSDL: 개념이 과다하여 유지보수 부담</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PSL: 프로세스 전용으로 범용성 부족</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MASON을 선택한 이유: 범용 상위 사전으로서 도메인 적합성, 유지보수 용이성, 커버리지가 가장 높았다.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32 / 61</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국제 표준화 프로젝트: 파편화를 해소하려는 시도</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IOF(Industrial Ontologies Foundry)는 OAGi와 NIST가 주도하는 국제 표준화 프로젝트다.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목표: 65개 이상 흩어진 사전들을 하나의 호환 체계로 통합한다.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BFO(Basic Formal Ontology)라는 범용 상위 사전 위에 모듈형으로 설계한다.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2022년 IOF Core를 발표하고, 유지보수/공급망 등 도메인별 확장 모듈을 구축 중이다.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기존 개별 사전(MASON 포함)을 새로 만드는 것이 아니라, 정렬(align)하고 재사용하는 방향이다.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33 / 61</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65개 이상의 사전이 존재하지만, 대부분 논문에만 있다</a:t>
            </a:r>
            <a:endParaRPr lang="en-US" sz="2800" dirty="0"/>
          </a:p>
        </p:txBody>
      </p:sp>
      <p:sp>
        <p:nvSpPr>
          <p:cNvPr id="4" name="Shape 2"/>
          <p:cNvSpPr/>
          <p:nvPr/>
        </p:nvSpPr>
        <p:spPr>
          <a:xfrm>
            <a:off x="548640" y="1645920"/>
            <a:ext cx="3514344" cy="1645920"/>
          </a:xfrm>
          <a:prstGeom prst="roundRect">
            <a:avLst>
              <a:gd name="adj" fmla="val 4444"/>
            </a:avLst>
          </a:prstGeom>
          <a:solidFill>
            <a:srgbClr val="F5F7FA"/>
          </a:solidFill>
          <a:ln/>
        </p:spPr>
      </p:sp>
      <p:sp>
        <p:nvSpPr>
          <p:cNvPr id="5" name="Text 3"/>
          <p:cNvSpPr/>
          <p:nvPr/>
        </p:nvSpPr>
        <p:spPr>
          <a:xfrm>
            <a:off x="685800" y="1691640"/>
            <a:ext cx="3240024" cy="822960"/>
          </a:xfrm>
          <a:prstGeom prst="rect">
            <a:avLst/>
          </a:prstGeom>
          <a:noFill/>
          <a:ln/>
        </p:spPr>
        <p:txBody>
          <a:bodyPr wrap="square" rtlCol="0" anchor="ctr"/>
          <a:lstStyle/>
          <a:p>
            <a:pPr algn="ctr" indent="0" marL="0">
              <a:buNone/>
            </a:pPr>
            <a:r>
              <a:rPr lang="en-US" sz="4800" b="1" dirty="0">
                <a:solidFill>
                  <a:srgbClr val="4A7BF7"/>
                </a:solidFill>
                <a:latin typeface="Pretendard Black" pitchFamily="34" charset="0"/>
                <a:ea typeface="Pretendard Black" pitchFamily="34" charset="-122"/>
                <a:cs typeface="Pretendard Black" pitchFamily="34" charset="-120"/>
              </a:rPr>
              <a:t>65+</a:t>
            </a:r>
            <a:endParaRPr lang="en-US" sz="4800" dirty="0"/>
          </a:p>
        </p:txBody>
      </p:sp>
      <p:sp>
        <p:nvSpPr>
          <p:cNvPr id="6" name="Text 4"/>
          <p:cNvSpPr/>
          <p:nvPr/>
        </p:nvSpPr>
        <p:spPr>
          <a:xfrm>
            <a:off x="685800" y="2560320"/>
            <a:ext cx="3240024" cy="502920"/>
          </a:xfrm>
          <a:prstGeom prst="rect">
            <a:avLst/>
          </a:prstGeom>
          <a:noFill/>
          <a:ln/>
        </p:spPr>
        <p:txBody>
          <a:bodyPr wrap="square" rtlCol="0" anchor="ctr"/>
          <a:lstStyle/>
          <a:p>
            <a:pPr algn="ctr" indent="0" marL="0">
              <a:lnSpc>
                <a:spcPct val="130000"/>
              </a:lnSpc>
              <a:buNone/>
            </a:pPr>
            <a:r>
              <a:rPr lang="en-US" sz="1300" dirty="0">
                <a:solidFill>
                  <a:srgbClr val="718096"/>
                </a:solidFill>
                <a:latin typeface="Pretendard" pitchFamily="34" charset="0"/>
                <a:ea typeface="Pretendard" pitchFamily="34" charset="-122"/>
                <a:cs typeface="Pretendard" pitchFamily="34" charset="-120"/>
              </a:rPr>
              <a:t>제조 사전 수 (2024 서베이 기준)</a:t>
            </a:r>
            <a:endParaRPr lang="en-US" sz="1300" dirty="0"/>
          </a:p>
        </p:txBody>
      </p:sp>
      <p:sp>
        <p:nvSpPr>
          <p:cNvPr id="7" name="Shape 5"/>
          <p:cNvSpPr/>
          <p:nvPr/>
        </p:nvSpPr>
        <p:spPr>
          <a:xfrm>
            <a:off x="4337304" y="1645920"/>
            <a:ext cx="3514344" cy="1645920"/>
          </a:xfrm>
          <a:prstGeom prst="roundRect">
            <a:avLst>
              <a:gd name="adj" fmla="val 4444"/>
            </a:avLst>
          </a:prstGeom>
          <a:solidFill>
            <a:srgbClr val="F5F7FA"/>
          </a:solidFill>
          <a:ln/>
        </p:spPr>
      </p:sp>
      <p:sp>
        <p:nvSpPr>
          <p:cNvPr id="8" name="Text 6"/>
          <p:cNvSpPr/>
          <p:nvPr/>
        </p:nvSpPr>
        <p:spPr>
          <a:xfrm>
            <a:off x="4474464" y="1691640"/>
            <a:ext cx="3240024" cy="822960"/>
          </a:xfrm>
          <a:prstGeom prst="rect">
            <a:avLst/>
          </a:prstGeom>
          <a:noFill/>
          <a:ln/>
        </p:spPr>
        <p:txBody>
          <a:bodyPr wrap="square" rtlCol="0" anchor="ctr"/>
          <a:lstStyle/>
          <a:p>
            <a:pPr algn="ctr" indent="0" marL="0">
              <a:buNone/>
            </a:pPr>
            <a:r>
              <a:rPr lang="en-US" sz="4800" b="1" dirty="0">
                <a:solidFill>
                  <a:srgbClr val="00D4AA"/>
                </a:solidFill>
                <a:latin typeface="Pretendard Black" pitchFamily="34" charset="0"/>
                <a:ea typeface="Pretendard Black" pitchFamily="34" charset="-122"/>
                <a:cs typeface="Pretendard Black" pitchFamily="34" charset="-120"/>
              </a:rPr>
              <a:t>350+</a:t>
            </a:r>
            <a:endParaRPr lang="en-US" sz="4800" dirty="0"/>
          </a:p>
        </p:txBody>
      </p:sp>
      <p:sp>
        <p:nvSpPr>
          <p:cNvPr id="9" name="Text 7"/>
          <p:cNvSpPr/>
          <p:nvPr/>
        </p:nvSpPr>
        <p:spPr>
          <a:xfrm>
            <a:off x="4474464" y="2560320"/>
            <a:ext cx="3240024" cy="502920"/>
          </a:xfrm>
          <a:prstGeom prst="rect">
            <a:avLst/>
          </a:prstGeom>
          <a:noFill/>
          <a:ln/>
        </p:spPr>
        <p:txBody>
          <a:bodyPr wrap="square" rtlCol="0" anchor="ctr"/>
          <a:lstStyle/>
          <a:p>
            <a:pPr algn="ctr" indent="0" marL="0">
              <a:lnSpc>
                <a:spcPct val="130000"/>
              </a:lnSpc>
              <a:buNone/>
            </a:pPr>
            <a:r>
              <a:rPr lang="en-US" sz="1300" dirty="0">
                <a:solidFill>
                  <a:srgbClr val="718096"/>
                </a:solidFill>
                <a:latin typeface="Pretendard" pitchFamily="34" charset="0"/>
                <a:ea typeface="Pretendard" pitchFamily="34" charset="-122"/>
                <a:cs typeface="Pretendard" pitchFamily="34" charset="-120"/>
              </a:rPr>
              <a:t>MASON 논문 인용 횟수</a:t>
            </a:r>
            <a:endParaRPr lang="en-US" sz="1300" dirty="0"/>
          </a:p>
        </p:txBody>
      </p:sp>
      <p:sp>
        <p:nvSpPr>
          <p:cNvPr id="10" name="Shape 8"/>
          <p:cNvSpPr/>
          <p:nvPr/>
        </p:nvSpPr>
        <p:spPr>
          <a:xfrm>
            <a:off x="8125968" y="1645920"/>
            <a:ext cx="3514344" cy="1645920"/>
          </a:xfrm>
          <a:prstGeom prst="roundRect">
            <a:avLst>
              <a:gd name="adj" fmla="val 4444"/>
            </a:avLst>
          </a:prstGeom>
          <a:solidFill>
            <a:srgbClr val="F5F7FA"/>
          </a:solidFill>
          <a:ln/>
        </p:spPr>
      </p:sp>
      <p:sp>
        <p:nvSpPr>
          <p:cNvPr id="11" name="Text 9"/>
          <p:cNvSpPr/>
          <p:nvPr/>
        </p:nvSpPr>
        <p:spPr>
          <a:xfrm>
            <a:off x="8263128" y="1691640"/>
            <a:ext cx="3240024" cy="822960"/>
          </a:xfrm>
          <a:prstGeom prst="rect">
            <a:avLst/>
          </a:prstGeom>
          <a:noFill/>
          <a:ln/>
        </p:spPr>
        <p:txBody>
          <a:bodyPr wrap="square" rtlCol="0" anchor="ctr"/>
          <a:lstStyle/>
          <a:p>
            <a:pPr algn="ctr" indent="0" marL="0">
              <a:buNone/>
            </a:pPr>
            <a:r>
              <a:rPr lang="en-US" sz="4800" b="1" dirty="0">
                <a:solidFill>
                  <a:srgbClr val="FFB020"/>
                </a:solidFill>
                <a:latin typeface="Pretendard Black" pitchFamily="34" charset="0"/>
                <a:ea typeface="Pretendard Black" pitchFamily="34" charset="-122"/>
                <a:cs typeface="Pretendard Black" pitchFamily="34" charset="-120"/>
              </a:rPr>
              <a:t>대부분</a:t>
            </a:r>
            <a:endParaRPr lang="en-US" sz="4800" dirty="0"/>
          </a:p>
        </p:txBody>
      </p:sp>
      <p:sp>
        <p:nvSpPr>
          <p:cNvPr id="12" name="Text 10"/>
          <p:cNvSpPr/>
          <p:nvPr/>
        </p:nvSpPr>
        <p:spPr>
          <a:xfrm>
            <a:off x="8263128" y="2560320"/>
            <a:ext cx="3240024" cy="502920"/>
          </a:xfrm>
          <a:prstGeom prst="rect">
            <a:avLst/>
          </a:prstGeom>
          <a:noFill/>
          <a:ln/>
        </p:spPr>
        <p:txBody>
          <a:bodyPr wrap="square" rtlCol="0" anchor="ctr"/>
          <a:lstStyle/>
          <a:p>
            <a:pPr algn="ctr" indent="0" marL="0">
              <a:lnSpc>
                <a:spcPct val="130000"/>
              </a:lnSpc>
              <a:buNone/>
            </a:pPr>
            <a:r>
              <a:rPr lang="en-US" sz="1300" dirty="0">
                <a:solidFill>
                  <a:srgbClr val="718096"/>
                </a:solidFill>
                <a:latin typeface="Pretendard" pitchFamily="34" charset="0"/>
                <a:ea typeface="Pretendard" pitchFamily="34" charset="-122"/>
                <a:cs typeface="Pretendard" pitchFamily="34" charset="-120"/>
              </a:rPr>
              <a:t>논문에만 존재, 현장 배포 미확인</a:t>
            </a:r>
            <a:endParaRPr lang="en-US" sz="1300" dirty="0"/>
          </a:p>
        </p:txBody>
      </p:sp>
      <p:sp>
        <p:nvSpPr>
          <p:cNvPr id="13" name="Text 11"/>
          <p:cNvSpPr/>
          <p:nvPr/>
        </p:nvSpPr>
        <p:spPr>
          <a:xfrm>
            <a:off x="548640" y="3657600"/>
            <a:ext cx="11091672" cy="2286000"/>
          </a:xfrm>
          <a:prstGeom prst="rect">
            <a:avLst/>
          </a:prstGeom>
          <a:noFill/>
          <a:ln/>
        </p:spPr>
        <p:txBody>
          <a:bodyPr wrap="square" rtlCol="0" anchor="t"/>
          <a:lstStyle/>
          <a:p>
            <a:pPr indent="0" marL="0">
              <a:lnSpc>
                <a:spcPct val="150000"/>
              </a:lnSpc>
              <a:buNone/>
            </a:pPr>
            <a:r>
              <a:rPr lang="en-US" sz="1600" dirty="0">
                <a:solidFill>
                  <a:srgbClr val="4A5568"/>
                </a:solidFill>
                <a:latin typeface="Pretendard" pitchFamily="34" charset="0"/>
                <a:ea typeface="Pretendard" pitchFamily="34" charset="-122"/>
                <a:cs typeface="Pretendard" pitchFamily="34" charset="-120"/>
              </a:rPr>
              <a:t>2024년 Sapel 등의 서베이 논문은 65개의 제조 사전을 분류했다. 그러나 대부분의 사전은 OWL 파일이 공개되지 않았고, 양산 현장에서 직접 배포된 대규모 사례는 확인되지 않았다. 이는 이론과 실무의 간극을 보여주는 중요한 신호다.</a:t>
            </a:r>
            <a:endParaRPr lang="en-US" sz="1600" dirty="0"/>
          </a:p>
        </p:txBody>
      </p:sp>
      <p:sp>
        <p:nvSpPr>
          <p:cNvPr id="14" name="Text 1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34 / 61</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pitchFamily="34" charset="0"/>
                <a:ea typeface="Pretendard" pitchFamily="34" charset="-122"/>
                <a:cs typeface="Pretendard" pitchFamily="34" charset="-120"/>
              </a:rPr>
              <a:t>05</a:t>
            </a:r>
            <a:endParaRPr lang="en-US" sz="7200" dirty="0"/>
          </a:p>
        </p:txBody>
      </p:sp>
      <p:sp>
        <p:nvSpPr>
          <p:cNvPr id="4" name="Text 2"/>
          <p:cNvSpPr/>
          <p:nvPr/>
        </p:nvSpPr>
        <p:spPr>
          <a:xfrm>
            <a:off x="5486400" y="2286000"/>
            <a:ext cx="6153912" cy="731520"/>
          </a:xfrm>
          <a:prstGeom prst="rect">
            <a:avLst/>
          </a:prstGeom>
          <a:noFill/>
          <a:ln/>
        </p:spPr>
        <p:txBody>
          <a:bodyPr wrap="square" rtlCol="0" anchor="ctr"/>
          <a:lstStyle/>
          <a:p>
            <a:pPr indent="0" marL="0">
              <a:buNone/>
            </a:pPr>
            <a:r>
              <a:rPr lang="en-US" sz="3600" b="1" dirty="0">
                <a:solidFill>
                  <a:srgbClr val="1A1F36"/>
                </a:solidFill>
                <a:latin typeface="Pretendard" pitchFamily="34" charset="0"/>
                <a:ea typeface="Pretendard" pitchFamily="34" charset="-122"/>
                <a:cs typeface="Pretendard" pitchFamily="34" charset="-120"/>
              </a:rPr>
              <a:t>이론에서 현실로: 실제 적용과 한계</a:t>
            </a:r>
            <a:endParaRPr lang="en-US" sz="3600" dirty="0"/>
          </a:p>
        </p:txBody>
      </p:sp>
      <p:sp>
        <p:nvSpPr>
          <p:cNvPr id="5" name="Text 3"/>
          <p:cNvSpPr/>
          <p:nvPr/>
        </p:nvSpPr>
        <p:spPr>
          <a:xfrm>
            <a:off x="5486400" y="320040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MASON이 직접 적용된 사례와, 더 일반적인 참조 구조로서의 활용 패턴을 살펴본다.</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35 / 61</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이 사전이 직접 적용된 4가지 사례</a:t>
            </a:r>
            <a:endParaRPr lang="en-US" sz="2800" dirty="0"/>
          </a:p>
        </p:txBody>
      </p:sp>
      <p:sp>
        <p:nvSpPr>
          <p:cNvPr id="4" name="Shape 2"/>
          <p:cNvSpPr/>
          <p:nvPr/>
        </p:nvSpPr>
        <p:spPr>
          <a:xfrm>
            <a:off x="548640" y="1645920"/>
            <a:ext cx="5408676"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645920"/>
            <a:ext cx="5372100" cy="54864"/>
          </a:xfrm>
          <a:prstGeom prst="rect">
            <a:avLst/>
          </a:prstGeom>
          <a:solidFill>
            <a:srgbClr val="4A7BF7"/>
          </a:solidFill>
          <a:ln/>
        </p:spPr>
      </p:sp>
      <p:sp>
        <p:nvSpPr>
          <p:cNvPr id="6" name="Text 4"/>
          <p:cNvSpPr/>
          <p:nvPr/>
        </p:nvSpPr>
        <p:spPr>
          <a:xfrm>
            <a:off x="731520" y="1828800"/>
            <a:ext cx="504291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원가 자동 추정</a:t>
            </a:r>
            <a:endParaRPr lang="en-US" sz="1600" dirty="0"/>
          </a:p>
        </p:txBody>
      </p:sp>
      <p:sp>
        <p:nvSpPr>
          <p:cNvPr id="7" name="Text 5"/>
          <p:cNvSpPr/>
          <p:nvPr/>
        </p:nvSpPr>
        <p:spPr>
          <a:xfrm>
            <a:off x="731520" y="2148840"/>
            <a:ext cx="5042916"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부품 정보를 입력하면 필요한 공정을 자동으로 전개하고, 각 공정에 비용을 연결하여 총 원가를 산출한다.</a:t>
            </a:r>
            <a:endParaRPr lang="en-US" sz="1300" dirty="0"/>
          </a:p>
        </p:txBody>
      </p:sp>
      <p:sp>
        <p:nvSpPr>
          <p:cNvPr id="8" name="Shape 6"/>
          <p:cNvSpPr/>
          <p:nvPr/>
        </p:nvSpPr>
        <p:spPr>
          <a:xfrm>
            <a:off x="6231636" y="1645920"/>
            <a:ext cx="5408676"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9" name="Shape 7"/>
          <p:cNvSpPr/>
          <p:nvPr/>
        </p:nvSpPr>
        <p:spPr>
          <a:xfrm>
            <a:off x="6249924" y="1645920"/>
            <a:ext cx="5372100" cy="54864"/>
          </a:xfrm>
          <a:prstGeom prst="rect">
            <a:avLst/>
          </a:prstGeom>
          <a:solidFill>
            <a:srgbClr val="00D4AA"/>
          </a:solidFill>
          <a:ln/>
        </p:spPr>
      </p:sp>
      <p:sp>
        <p:nvSpPr>
          <p:cNvPr id="10" name="Text 8"/>
          <p:cNvSpPr/>
          <p:nvPr/>
        </p:nvSpPr>
        <p:spPr>
          <a:xfrm>
            <a:off x="6414516" y="1828800"/>
            <a:ext cx="504291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설비 간 자율 소통</a:t>
            </a:r>
            <a:endParaRPr lang="en-US" sz="1600" dirty="0"/>
          </a:p>
        </p:txBody>
      </p:sp>
      <p:sp>
        <p:nvSpPr>
          <p:cNvPr id="11" name="Text 9"/>
          <p:cNvSpPr/>
          <p:nvPr/>
        </p:nvSpPr>
        <p:spPr>
          <a:xfrm>
            <a:off x="6414516" y="2148840"/>
            <a:ext cx="5042916"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공장의 각 설비를 에이전트로 모델링하고, 사전을 공통 언어로 사용하여 자율적으로 소통한다.</a:t>
            </a:r>
            <a:endParaRPr lang="en-US" sz="1300" dirty="0"/>
          </a:p>
        </p:txBody>
      </p:sp>
      <p:sp>
        <p:nvSpPr>
          <p:cNvPr id="12" name="Shape 10"/>
          <p:cNvSpPr/>
          <p:nvPr/>
        </p:nvSpPr>
        <p:spPr>
          <a:xfrm>
            <a:off x="548640" y="4160520"/>
            <a:ext cx="5408676"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13" name="Shape 11"/>
          <p:cNvSpPr/>
          <p:nvPr/>
        </p:nvSpPr>
        <p:spPr>
          <a:xfrm>
            <a:off x="566928" y="4160520"/>
            <a:ext cx="5372100" cy="54864"/>
          </a:xfrm>
          <a:prstGeom prst="rect">
            <a:avLst/>
          </a:prstGeom>
          <a:solidFill>
            <a:srgbClr val="FFB020"/>
          </a:solidFill>
          <a:ln/>
        </p:spPr>
      </p:sp>
      <p:sp>
        <p:nvSpPr>
          <p:cNvPr id="14" name="Text 12"/>
          <p:cNvSpPr/>
          <p:nvPr/>
        </p:nvSpPr>
        <p:spPr>
          <a:xfrm>
            <a:off x="731520" y="4343400"/>
            <a:ext cx="504291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제조 가능성 판단</a:t>
            </a:r>
            <a:endParaRPr lang="en-US" sz="1600" dirty="0"/>
          </a:p>
        </p:txBody>
      </p:sp>
      <p:sp>
        <p:nvSpPr>
          <p:cNvPr id="15" name="Text 13"/>
          <p:cNvSpPr/>
          <p:nvPr/>
        </p:nvSpPr>
        <p:spPr>
          <a:xfrm>
            <a:off x="731520" y="4663440"/>
            <a:ext cx="5042916"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설계 단계에서 제품이 실제로 만들어질 수 있는지, 공정 제약 조건을 자동으로 확인한다.</a:t>
            </a:r>
            <a:endParaRPr lang="en-US" sz="1300" dirty="0"/>
          </a:p>
        </p:txBody>
      </p:sp>
      <p:sp>
        <p:nvSpPr>
          <p:cNvPr id="16" name="Shape 14"/>
          <p:cNvSpPr/>
          <p:nvPr/>
        </p:nvSpPr>
        <p:spPr>
          <a:xfrm>
            <a:off x="6231636" y="4160520"/>
            <a:ext cx="5408676"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17" name="Shape 15"/>
          <p:cNvSpPr/>
          <p:nvPr/>
        </p:nvSpPr>
        <p:spPr>
          <a:xfrm>
            <a:off x="6249924" y="4160520"/>
            <a:ext cx="5372100" cy="54864"/>
          </a:xfrm>
          <a:prstGeom prst="rect">
            <a:avLst/>
          </a:prstGeom>
          <a:solidFill>
            <a:srgbClr val="FF6B6B"/>
          </a:solidFill>
          <a:ln/>
        </p:spPr>
      </p:sp>
      <p:sp>
        <p:nvSpPr>
          <p:cNvPr id="18" name="Text 16"/>
          <p:cNvSpPr/>
          <p:nvPr/>
        </p:nvSpPr>
        <p:spPr>
          <a:xfrm>
            <a:off x="6414516" y="4343400"/>
            <a:ext cx="5042916"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건축 패널 디지털 쌍둥이</a:t>
            </a:r>
            <a:endParaRPr lang="en-US" sz="1600" dirty="0"/>
          </a:p>
        </p:txBody>
      </p:sp>
      <p:sp>
        <p:nvSpPr>
          <p:cNvPr id="19" name="Text 17"/>
          <p:cNvSpPr/>
          <p:nvPr/>
        </p:nvSpPr>
        <p:spPr>
          <a:xfrm>
            <a:off x="6414516" y="4663440"/>
            <a:ext cx="5042916"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MASON을 참조하여 경량 사전을 구축하고, 벽 패널 생산라인의 디지털 트윈을 구현했다.</a:t>
            </a:r>
            <a:endParaRPr lang="en-US" sz="1300" dirty="0"/>
          </a:p>
        </p:txBody>
      </p:sp>
      <p:sp>
        <p:nvSpPr>
          <p:cNvPr id="20" name="Text 18"/>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36 / 61</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원가 자동 추정: 부품 정보만 넣으면 비용이 나온다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CLIPS 기반 전문가 시스템에서 MASON 인스턴스를 활용한 최초의 직접 적용 사례다.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핵심 관계: canBeMachinedBy(원자재 → 공정), uses(공정 → 공구)</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제품 정의만 입력하면, 사전이 필요한 활동을 자동 인스턴스화하고 비용을 연결한다.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설계 단계에서 수작업 없이 생산 원가를 사전 평가할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단, 정확도 벤치마크 수치는 원 논문에 보고되지 않았다. 초기 개념 검증 수준이다.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37 / 61</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설비끼리 스스로 대화하는 시스템의 꿈과 현실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멀티에이전트 시스템: 기계, 작업자, 물류 등을 각각의 에이전트로 모델링한다.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MASON이 에이전트 간 인지 모델(cognitive model)을 제공한다.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PABADIS 프로젝트: 분산 산업 시스템 기반 공장 자동화 연구의 선행 사례다.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에이전트들이 사전을 공유함으로써, 자율적으로 지식 기반 추론과 상호작용이 가능하다.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대규모 현장 배포 사례는 미확인이다. 연구 프로토타입 수준에 머물러 있다.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38 / 61</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더 일반적인 활용: 새 사전을 만들 때의 참고서 역할</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MASON의 가장 빈번한 실무 활용은 새 사전 개발 시 참조 구조로 쓰이는 것이다.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ExtruOnt (2020): MASON의 Machine-tool 클래스를 상위 개념으로 채택하여 압출기 사전을 구축했다.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SAREF4INMA: 유럽 통신 표준 기구(ETSI)의 스마트 제조 사전이 MASON을 참조 사전으로 인용한다.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CDM-Core (CREMA 프로젝트): MASON을 "상위 제조 사전" 카테고리로 분류하여 참조했다.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직접 배포보다 이 참조 패턴이 MASON의 실질적 영향력을 보여준다.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39 / 61</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현재 공장 표준 생태계: 누가 어떤 역할을 하는가</a:t>
            </a:r>
            <a:endParaRPr lang="en-US" sz="28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3200400"/>
                <a:gridCol w="4690872"/>
                <a:gridCol w="3200400"/>
              </a:tblGrid>
              <a:tr h="41148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이름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역할</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현재 활성도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MASON</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(공장 공통 사전)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학술 참조용 사전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참조용으로 활성</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자산관리셸(AAS)</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설비의 디지털 명함 표준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매우 활성</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산업통신규격(OPC UA)</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공장 설비 간 통신 표준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매우 활성</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IOF Core</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(산업 사전 표준)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사전들의 표준화 프로젝트</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진행 중</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4864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SAREF4INMA</a:t>
                      </a:r>
                      <a:endParaRPr lang="en-US" sz="1100" dirty="0">
                        <a:latin typeface="Pretendard" charset="0"/>
                        <a:ea typeface="Pretendard" charset="0"/>
                        <a:cs typeface="Pretendard" charset="0"/>
                      </a:endParaRPr>
                    </a:p>
                    <a:p>
                      <a:pPr indent="0" marL="0">
                        <a:buNone/>
                      </a:pPr>
                      <a:r>
                        <a:rPr lang="en-US" sz="1100" dirty="0">
                          <a:solidFill>
                            <a:srgbClr val="4A5568"/>
                          </a:solidFill>
                          <a:latin typeface="Pretendard" pitchFamily="34" charset="0"/>
                          <a:ea typeface="Pretendard" pitchFamily="34" charset="-122"/>
                          <a:cs typeface="Pretendard" pitchFamily="34" charset="-120"/>
                        </a:rPr>
                        <a:t>(유럽 스마트제조)</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유럽 스마트공장 표준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활성</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40 / 61</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MASON의 현재 위치: 직접 쓰는 도구가 아니라 '설계의 참고서'</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MASON은 "제조의 알파벳"에 비유할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알파벳 자체는 도구가 아니지만, 모든 문서와 소통의 기반이 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제품-공정-자원(PPR) 구조는 이후 거의 모든 제조 사전의 기본 뼈대가 되었다.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2006년 이후 공식적으로 크게 업데이트되지 않았지만, 개념적 유산은 현재까지 유효하다.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"가장 영향력 있는 초기 제안 중 하나"가 MASON의 정확한 위상이다.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41 / 61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pitchFamily="34" charset="0"/>
                <a:ea typeface="Pretendard" pitchFamily="34" charset="-122"/>
                <a:cs typeface="Pretendard" pitchFamily="34" charset="-120"/>
              </a:rPr>
              <a:t>06</a:t>
            </a:r>
            <a:endParaRPr lang="en-US" sz="7200" dirty="0"/>
          </a:p>
        </p:txBody>
      </p:sp>
      <p:sp>
        <p:nvSpPr>
          <p:cNvPr id="4" name="Text 2"/>
          <p:cNvSpPr/>
          <p:nvPr/>
        </p:nvSpPr>
        <p:spPr>
          <a:xfrm>
            <a:off x="5486400" y="2286000"/>
            <a:ext cx="6153912" cy="1097280"/>
          </a:xfrm>
          <a:prstGeom prst="rect">
            <a:avLst/>
          </a:prstGeom>
          <a:noFill/>
          <a:ln/>
        </p:spPr>
        <p:txBody>
          <a:bodyPr wrap="square" rtlCol="0" anchor="ctr"/>
          <a:lstStyle/>
          <a:p>
            <a:pPr indent="0" marL="0">
              <a:lnSpc>
                <a:spcPct val="120000"/>
              </a:lnSpc>
              <a:buNone/>
            </a:pPr>
            <a:r>
              <a:rPr lang="en-US" sz="3400" b="1" dirty="0">
                <a:solidFill>
                  <a:srgbClr val="1A1F36"/>
                </a:solidFill>
                <a:latin typeface="Pretendard" pitchFamily="34" charset="0"/>
                <a:ea typeface="Pretendard" pitchFamily="34" charset="-122"/>
                <a:cs typeface="Pretendard" pitchFamily="34" charset="-120"/>
              </a:rPr>
              <a:t>ChatGPT 시대에 공장 사전은</a:t>
            </a:r>
            <a:endParaRPr lang="en-US" sz="3400" dirty="0"/>
          </a:p>
          <a:p>
            <a:pPr indent="0" marL="0">
              <a:lnSpc>
                <a:spcPct val="120000"/>
              </a:lnSpc>
              <a:buNone/>
            </a:pPr>
            <a:r>
              <a:rPr lang="en-US" sz="3400" b="1" dirty="0">
                <a:solidFill>
                  <a:srgbClr val="1A1F36"/>
                </a:solidFill>
                <a:latin typeface="Pretendard" pitchFamily="34" charset="0"/>
                <a:ea typeface="Pretendard" pitchFamily="34" charset="-122"/>
                <a:cs typeface="Pretendard" pitchFamily="34" charset="-120"/>
              </a:rPr>
              <a:t>필요 없어지는가</a:t>
            </a:r>
            <a:endParaRPr lang="en-US" sz="3400" dirty="0"/>
          </a:p>
        </p:txBody>
      </p:sp>
      <p:sp>
        <p:nvSpPr>
          <p:cNvPr id="5" name="Text 3"/>
          <p:cNvSpPr/>
          <p:nvPr/>
        </p:nvSpPr>
        <p:spPr>
          <a:xfrm>
            <a:off x="5486400" y="347472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AI와 사전은 경쟁이 아니라 보완 관계임을 데이터와 사례로 확인한다.</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42 / 61</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AI와 사전은 경쟁이 아니라 팀이다</a:t>
            </a:r>
            <a:endParaRPr lang="en-US" sz="2800" dirty="0"/>
          </a:p>
        </p:txBody>
      </p:sp>
      <p:sp>
        <p:nvSpPr>
          <p:cNvPr id="4" name="Text 2"/>
          <p:cNvSpPr/>
          <p:nvPr/>
        </p:nvSpPr>
        <p:spPr>
          <a:xfrm>
            <a:off x="548640" y="1645920"/>
            <a:ext cx="5362956" cy="411480"/>
          </a:xfrm>
          <a:prstGeom prst="rect">
            <a:avLst/>
          </a:prstGeom>
          <a:noFill/>
          <a:ln/>
        </p:spPr>
        <p:txBody>
          <a:bodyPr wrap="square" rtlCol="0" anchor="ctr"/>
          <a:lstStyle/>
          <a:p>
            <a:pPr indent="0" marL="0">
              <a:buNone/>
            </a:pPr>
            <a:r>
              <a:rPr lang="en-US" sz="2000" b="1" dirty="0">
                <a:solidFill>
                  <a:srgbClr val="4A7BF7"/>
                </a:solidFill>
                <a:latin typeface="Pretendard SemiBold" pitchFamily="34" charset="0"/>
                <a:ea typeface="Pretendard SemiBold" pitchFamily="34" charset="-122"/>
                <a:cs typeface="Pretendard SemiBold" pitchFamily="34" charset="-120"/>
              </a:rPr>
              <a:t>AI의 강점과 약점</a:t>
            </a:r>
            <a:endParaRPr lang="en-US" sz="2000" dirty="0"/>
          </a:p>
        </p:txBody>
      </p:sp>
      <p:sp>
        <p:nvSpPr>
          <p:cNvPr id="5" name="Text 3"/>
          <p:cNvSpPr/>
          <p:nvPr/>
        </p:nvSpPr>
        <p:spPr>
          <a:xfrm>
            <a:off x="548640" y="2148840"/>
            <a:ext cx="5362956" cy="3977640"/>
          </a:xfrm>
          <a:prstGeom prst="rect">
            <a:avLst/>
          </a:prstGeom>
          <a:noFill/>
          <a:ln/>
        </p:spPr>
        <p:txBody>
          <a:bodyPr wrap="square" rtlCol="0" anchor="t"/>
          <a:lstStyle/>
          <a:p>
            <a:pPr indent="0" marL="0">
              <a:lnSpc>
                <a:spcPct val="140000"/>
              </a:lnSpc>
              <a:buNone/>
            </a:pPr>
            <a:r>
              <a:rPr lang="en-US" sz="1600" b="1" dirty="0">
                <a:solidFill>
                  <a:srgbClr val="4A5568"/>
                </a:solidFill>
                <a:latin typeface="Pretendard" pitchFamily="34" charset="0"/>
                <a:ea typeface="Pretendard" pitchFamily="34" charset="-122"/>
                <a:cs typeface="Pretendard" pitchFamily="34" charset="-120"/>
              </a:rPr>
              <a:t>강점</a:t>
            </a:r>
            <a:pPr indent="0" marL="0">
              <a:lnSpc>
                <a:spcPct val="140000"/>
              </a:lnSpc>
              <a:buNone/>
            </a:pP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비정형 텍스트에서 패턴을 추출한다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대규모 데이터에서 자동으로 학습한다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자연어로 소통할 수 있다</a:t>
            </a:r>
            <a:endParaRPr lang="en-US" sz="1600" dirty="0"/>
          </a:p>
          <a:p>
            <a:pPr indent="0" marL="0">
              <a:lnSpc>
                <a:spcPct val="140000"/>
              </a:lnSpc>
              <a:buNone/>
            </a:pPr>
            <a:endParaRPr lang="en-US" sz="1600" dirty="0"/>
          </a:p>
          <a:p>
            <a:pPr indent="0" marL="0">
              <a:lnSpc>
                <a:spcPct val="140000"/>
              </a:lnSpc>
              <a:buNone/>
            </a:pPr>
            <a:endParaRPr lang="en-US" sz="1600" dirty="0"/>
          </a:p>
          <a:p>
            <a:pPr indent="0" marL="0">
              <a:lnSpc>
                <a:spcPct val="140000"/>
              </a:lnSpc>
              <a:buNone/>
            </a:pPr>
            <a:r>
              <a:rPr lang="en-US" sz="1600" b="1" dirty="0">
                <a:solidFill>
                  <a:srgbClr val="4A5568"/>
                </a:solidFill>
                <a:latin typeface="Pretendard" pitchFamily="34" charset="0"/>
                <a:ea typeface="Pretendard" pitchFamily="34" charset="-122"/>
                <a:cs typeface="Pretendard" pitchFamily="34" charset="-120"/>
              </a:rPr>
              <a:t>약점</a:t>
            </a:r>
            <a:endParaRPr lang="en-US" sz="1600" dirty="0"/>
          </a:p>
          <a:p>
            <a:pPr indent="0" marL="0">
              <a:lnSpc>
                <a:spcPct val="140000"/>
              </a:lnSpc>
              <a:buNone/>
            </a:pP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환각(hallucination): 없는 사실을 만들어낸다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비결정적: 같은 질문에 다른 답을 한다</a:t>
            </a:r>
            <a:endParaRPr lang="en-US" sz="1600" dirty="0"/>
          </a:p>
        </p:txBody>
      </p:sp>
      <p:sp>
        <p:nvSpPr>
          <p:cNvPr id="6" name="Text 4"/>
          <p:cNvSpPr/>
          <p:nvPr/>
        </p:nvSpPr>
        <p:spPr>
          <a:xfrm>
            <a:off x="6277356" y="1645920"/>
            <a:ext cx="5362956" cy="411480"/>
          </a:xfrm>
          <a:prstGeom prst="rect">
            <a:avLst/>
          </a:prstGeom>
          <a:noFill/>
          <a:ln/>
        </p:spPr>
        <p:txBody>
          <a:bodyPr wrap="square" rtlCol="0" anchor="ctr"/>
          <a:lstStyle/>
          <a:p>
            <a:pPr indent="0" marL="0">
              <a:buNone/>
            </a:pPr>
            <a:r>
              <a:rPr lang="en-US" sz="2000" b="1" dirty="0">
                <a:solidFill>
                  <a:srgbClr val="00D4AA"/>
                </a:solidFill>
                <a:latin typeface="Pretendard SemiBold" pitchFamily="34" charset="0"/>
                <a:ea typeface="Pretendard SemiBold" pitchFamily="34" charset="-122"/>
                <a:cs typeface="Pretendard SemiBold" pitchFamily="34" charset="-120"/>
              </a:rPr>
              <a:t>사전의 강점과 약점</a:t>
            </a:r>
            <a:endParaRPr lang="en-US" sz="2000" dirty="0"/>
          </a:p>
        </p:txBody>
      </p:sp>
      <p:sp>
        <p:nvSpPr>
          <p:cNvPr id="7" name="Text 5"/>
          <p:cNvSpPr/>
          <p:nvPr/>
        </p:nvSpPr>
        <p:spPr>
          <a:xfrm>
            <a:off x="6277356" y="2148840"/>
            <a:ext cx="5362956" cy="3977640"/>
          </a:xfrm>
          <a:prstGeom prst="rect">
            <a:avLst/>
          </a:prstGeom>
          <a:noFill/>
          <a:ln/>
        </p:spPr>
        <p:txBody>
          <a:bodyPr wrap="square" rtlCol="0" anchor="t"/>
          <a:lstStyle/>
          <a:p>
            <a:pPr indent="0" marL="0">
              <a:lnSpc>
                <a:spcPct val="140000"/>
              </a:lnSpc>
              <a:buNone/>
            </a:pPr>
            <a:r>
              <a:rPr lang="en-US" sz="1600" b="1" dirty="0">
                <a:solidFill>
                  <a:srgbClr val="4A5568"/>
                </a:solidFill>
                <a:latin typeface="Pretendard" pitchFamily="34" charset="0"/>
                <a:ea typeface="Pretendard" pitchFamily="34" charset="-122"/>
                <a:cs typeface="Pretendard" pitchFamily="34" charset="-120"/>
              </a:rPr>
              <a:t>강점</a:t>
            </a:r>
            <a:pPr indent="0" marL="0">
              <a:lnSpc>
                <a:spcPct val="140000"/>
              </a:lnSpc>
              <a:buNone/>
            </a:pP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논리적 추론이 명확하고 재현 가능하다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감사 추적(audit trail)이 가능하다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전문가가 검증한 지식이 담겨 있다</a:t>
            </a:r>
            <a:endParaRPr lang="en-US" sz="1600" dirty="0"/>
          </a:p>
          <a:p>
            <a:pPr indent="0" marL="0">
              <a:lnSpc>
                <a:spcPct val="140000"/>
              </a:lnSpc>
              <a:buNone/>
            </a:pPr>
            <a:endParaRPr lang="en-US" sz="1600" dirty="0"/>
          </a:p>
          <a:p>
            <a:pPr indent="0" marL="0">
              <a:lnSpc>
                <a:spcPct val="140000"/>
              </a:lnSpc>
              <a:buNone/>
            </a:pPr>
            <a:endParaRPr lang="en-US" sz="1600" dirty="0"/>
          </a:p>
          <a:p>
            <a:pPr indent="0" marL="0">
              <a:lnSpc>
                <a:spcPct val="140000"/>
              </a:lnSpc>
              <a:buNone/>
            </a:pPr>
            <a:r>
              <a:rPr lang="en-US" sz="1600" b="1" dirty="0">
                <a:solidFill>
                  <a:srgbClr val="4A5568"/>
                </a:solidFill>
                <a:latin typeface="Pretendard" pitchFamily="34" charset="0"/>
                <a:ea typeface="Pretendard" pitchFamily="34" charset="-122"/>
                <a:cs typeface="Pretendard" pitchFamily="34" charset="-120"/>
              </a:rPr>
              <a:t>약점</a:t>
            </a:r>
            <a:endParaRPr lang="en-US" sz="1600" dirty="0"/>
          </a:p>
          <a:p>
            <a:pPr indent="0" marL="0">
              <a:lnSpc>
                <a:spcPct val="140000"/>
              </a:lnSpc>
              <a:buNone/>
            </a:pP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구축 비용이 높다</a:t>
            </a:r>
            <a:endParaRPr lang="en-US" sz="1600" dirty="0"/>
          </a:p>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 유지보수에 지속적인 인력이 필요하다</a:t>
            </a:r>
            <a:endParaRPr lang="en-US" sz="1600" dirty="0"/>
          </a:p>
        </p:txBody>
      </p:sp>
      <p:sp>
        <p:nvSpPr>
          <p:cNvPr id="8" name="Text 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43 / 61</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오히려 '사전 시장'은 AI 시대에 급성장 중이다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지식그래프 시장 규모: 2024년 $10.7억 → 2030년 $69.4억 (연평균 성장률 36.6%)</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출처: MarketsAndMarkets. Fortune Business Insights는 더 높은 성장률(37.3%)을 전망한다.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이 성장의 핵심 동력은 AI 파이프라인의 "근거 인프라(grounding infrastructure)" 수요다.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AI가 "환각" 없이 신뢰할 수 있는 답을 내려면, 검증된 지식 구조가 필요하다.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사전/지식그래프 시장이 축소되고 있다는 데이터는 발견되지 않았다.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44 / 61</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AI가 사전을 활용하는 법 ①: 더 정확한 검색</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일반 검색(벡터 기반)의 한계:</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장비-공정-부품 사이의 구조적 관계를 평탄화(flatten)한다</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다단계 추론(multi-hop reasoning)이 필요한 질문에 약하다</a:t>
            </a:r>
            <a:endParaRPr lang="en-US" sz="1800" dirty="0"/>
          </a:p>
          <a:p>
            <a:pPr lvl="1" marL="6858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용어의 중의성(예: "정밀도"가 기계인지 측정인지)을 해소하지 못한다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사전 기반 검색(GraphRAG)은 지식그래프에서 관련 서브그래프를 추출하여 AI에 제공한다.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NVIDIA 비교 분석: GraphRAG가 벡터 검색 대비 정확도에서 우위를 보인다.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45 / 61</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실제 사례: 독일 Bosch의 용접 품질 관리 시스템</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Bosch는 저항 점용접(RSW) 품질 모니터링에 제조 사전을 적용했다.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95개 클래스, 70개 관계 속성, 1,170개 공리(axiom)로 구성된 사전을 구축했다.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431만 건의 용접 데이터를 사전으로 구조화했다.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지식그래프 임베딩(Knowledge Graph Embedding)으로 ML 파이프라인에 연결했다.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사전이 ML의 피처 공간(feature space)을 정의하는 뼈대 역할을 수행한 사례다.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46 / 61</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실제 사례: Bosch의 설비 유지보수 챗봇</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Bosch Corporate Research가 제조 유지보수를 위한 반자동 지식그래프 구축 파이프라인을 개발했다.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MMO(Manufacturing Maintenance Ontology)를 개발: 장비, 물리 자산, 에러/고장, 유지보수 절차 4개 영역으로 구성된다.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규칙 기반 + 소형 AI(SLM) + 대형 AI(LLM)를 결합한 파이프라인을 구축했다.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핵심 교훈: "고품질 사전에는 앞으로도 전문가 참여가 필수적이다."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AI만으로는 부족하며, 방법론 조합이 필요하다는 점을 실증했다.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47 / 61</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AI가 사전을 활용하는 법 ②: 사전 만드는 비용을 줄여준다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OntoEKG: AI가 비정형 데이터에서 클래스/속성을 자동 식별하고, 계층 구조화 후 사전을 생성한다.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TNO 프레임워크: AI가 용어 추출과 관계 발견 같은 반복 작업을 수행하고, 전문가는 검증만 담당한다.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LLMs4OL 대회(2024-2025): AI를 활용한 사전 자동 학습 벤치마크. 용어 추출, 분류 체계 구축에서 유망한 성과를 보였다.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수작업에서 "전문가가 검증만 하는(expert-in-the-loop)" 방식으로 전환이 가능하다.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단, 제조 특화 벤치마크는 아직 부재하다. 제조 사전은 물리적 제약과 공정 순서를 포함해 난이도가 높을 수 있다.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48 / 61</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AI가 사전을 활용하는 법 ③: 지시문의 뼈대로 사용</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프롬프트(지시문)에 도메인 지식을 넣을 때, 자유 텍스트 대신 사전 구조를 사용한다.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사전의 클래스/속성/관계를 프롬프트에 직접 주입하면, AI가 정의된 개념만 사용하도록 제약할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건설 현장 활동 인식 연구에서, 사전 기반 장면 표현을 AI에 제공하여 73.68%의 인식 정확도를 달성했다.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자유 텍스트 설명 → 구조화 표현으로 전환하면 프롬프트의 버전 관리, 일관성, 확장성이 크게 개선된다.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사전이 크면 컨텍스트 윈도우에 다 넣을 수 없으므로, 쿼리 관련 부분만 선택하는 축소 전략이 필요하다.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49 / 61</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기술별 확신도 정리: 검증된 것과 아직 전망인 것</a:t>
            </a:r>
            <a:endParaRPr lang="en-US" sz="28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1828800"/>
                <a:gridCol w="4690872"/>
                <a:gridCol w="4572000"/>
              </a:tblGrid>
              <a:tr h="36576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확신도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기술 접점</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근거</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320040">
                <a:tc gridSpan="3">
                  <a:txBody>
                    <a:bodyPr/>
                    <a:lstStyle/>
                    <a:p>
                      <a:pPr algn="ctr" indent="0" marL="0">
                        <a:buNone/>
                      </a:pPr>
                      <a:r>
                        <a:rPr lang="en-US" sz="1100" b="1" dirty="0">
                          <a:solidFill>
                            <a:srgbClr val="1B7340"/>
                          </a:solidFill>
                          <a:latin typeface="Pretendard" pitchFamily="34" charset="0"/>
                          <a:ea typeface="Pretendard" pitchFamily="34" charset="-122"/>
                          <a:cs typeface="Pretendard" pitchFamily="34" charset="-120"/>
                        </a:rPr>
                        <a:t>확신도 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E6F4EA"/>
                    </a:solidFill>
                  </a:tcPr>
                </a:tc>
                <a:tc hMerge="1">
                  <a:tcPr/>
                </a:tc>
                <a:tc hMerge="1">
                  <a:tcPr/>
                </a:tc>
              </a:tr>
              <a:tr h="3657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사전 기반 검색 (GraphRAG)</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Bosch 직접 사례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이기종 데이터 통합</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Bosch VKG 사례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320040">
                <a:tc gridSpan="3">
                  <a:txBody>
                    <a:bodyPr/>
                    <a:lstStyle/>
                    <a:p>
                      <a:pPr algn="ctr" indent="0" marL="0">
                        <a:buNone/>
                      </a:pPr>
                      <a:r>
                        <a:rPr lang="en-US" sz="1100" b="1" dirty="0">
                          <a:solidFill>
                            <a:srgbClr val="856404"/>
                          </a:solidFill>
                          <a:latin typeface="Pretendard" pitchFamily="34" charset="0"/>
                          <a:ea typeface="Pretendard" pitchFamily="34" charset="-122"/>
                          <a:cs typeface="Pretendard" pitchFamily="34" charset="-120"/>
                        </a:rPr>
                        <a:t>확신도 중간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3CD"/>
                    </a:solidFill>
                  </a:tcPr>
                </a:tc>
                <a:tc hMerge="1">
                  <a:tcPr/>
                </a:tc>
                <a:tc hMerge="1">
                  <a:tcPr/>
                </a:tc>
              </a:tr>
              <a:tr h="3657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중간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AI로 사전 자동 구축</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범용 연구, 제조 특화 부족</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657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중간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사전 기반 지시문 설계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건설 도메인 사례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320040">
                <a:tc gridSpan="3">
                  <a:txBody>
                    <a:bodyPr/>
                    <a:lstStyle/>
                    <a:p>
                      <a:pPr algn="ctr" indent="0" marL="0">
                        <a:buNone/>
                      </a:pPr>
                      <a:r>
                        <a:rPr lang="en-US" sz="1100" b="1" dirty="0">
                          <a:solidFill>
                            <a:srgbClr val="721C24"/>
                          </a:solidFill>
                          <a:latin typeface="Pretendard" pitchFamily="34" charset="0"/>
                          <a:ea typeface="Pretendard" pitchFamily="34" charset="-122"/>
                          <a:cs typeface="Pretendard" pitchFamily="34" charset="-120"/>
                        </a:rPr>
                        <a:t>확신도 낮음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8D7DA"/>
                    </a:solidFill>
                  </a:tcPr>
                </a:tc>
                <a:tc hMerge="1">
                  <a:tcPr/>
                </a:tc>
                <a:tc hMerge="1">
                  <a:tcPr/>
                </a:tc>
              </a:tr>
              <a:tr h="3657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낮음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신경-기호 결합 AI</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전망 수준, 정량 비교 부재</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50 / 61</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'사전은 이제 필요 없다'는 주장 5가지와 그 반박</a:t>
            </a:r>
            <a:endParaRPr lang="en-US" sz="2800" dirty="0"/>
          </a:p>
        </p:txBody>
      </p:sp>
      <p:sp>
        <p:nvSpPr>
          <p:cNvPr id="4" name="Text 2"/>
          <p:cNvSpPr/>
          <p:nvPr/>
        </p:nvSpPr>
        <p:spPr>
          <a:xfrm>
            <a:off x="548640" y="1645920"/>
            <a:ext cx="5362956" cy="411480"/>
          </a:xfrm>
          <a:prstGeom prst="rect">
            <a:avLst/>
          </a:prstGeom>
          <a:noFill/>
          <a:ln/>
        </p:spPr>
        <p:txBody>
          <a:bodyPr wrap="square" rtlCol="0" anchor="ctr"/>
          <a:lstStyle/>
          <a:p>
            <a:pPr indent="0" marL="0">
              <a:buNone/>
            </a:pPr>
            <a:r>
              <a:rPr lang="en-US" sz="2000" b="1" dirty="0">
                <a:solidFill>
                  <a:srgbClr val="FF6B6B"/>
                </a:solidFill>
                <a:latin typeface="Pretendard SemiBold" pitchFamily="34" charset="0"/>
                <a:ea typeface="Pretendard SemiBold" pitchFamily="34" charset="-122"/>
                <a:cs typeface="Pretendard SemiBold" pitchFamily="34" charset="-120"/>
              </a:rPr>
              <a:t>반대 주장</a:t>
            </a:r>
            <a:endParaRPr lang="en-US" sz="2000" dirty="0"/>
          </a:p>
        </p:txBody>
      </p:sp>
      <p:sp>
        <p:nvSpPr>
          <p:cNvPr id="5" name="Text 3"/>
          <p:cNvSpPr/>
          <p:nvPr/>
        </p:nvSpPr>
        <p:spPr>
          <a:xfrm>
            <a:off x="548640" y="2148840"/>
            <a:ext cx="5362956" cy="3977640"/>
          </a:xfrm>
          <a:prstGeom prst="rect">
            <a:avLst/>
          </a:prstGeom>
          <a:noFill/>
          <a:ln/>
        </p:spPr>
        <p:txBody>
          <a:bodyPr wrap="square" rtlCol="0" anchor="t"/>
          <a:lstStyle/>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1. 구축 비용이 너무 높다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2. AI가 이미 용어와 관계를 학습했다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3. 일반 검색(벡터)만으로 충분하다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4. 사전은 변화에 취약하다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5. 벡터 유사도가 관계를 대체한다</a:t>
            </a:r>
            <a:endParaRPr lang="en-US" sz="1600" dirty="0"/>
          </a:p>
        </p:txBody>
      </p:sp>
      <p:sp>
        <p:nvSpPr>
          <p:cNvPr id="6" name="Text 4"/>
          <p:cNvSpPr/>
          <p:nvPr/>
        </p:nvSpPr>
        <p:spPr>
          <a:xfrm>
            <a:off x="6277356" y="1645920"/>
            <a:ext cx="5362956" cy="411480"/>
          </a:xfrm>
          <a:prstGeom prst="rect">
            <a:avLst/>
          </a:prstGeom>
          <a:noFill/>
          <a:ln/>
        </p:spPr>
        <p:txBody>
          <a:bodyPr wrap="square" rtlCol="0" anchor="ctr"/>
          <a:lstStyle/>
          <a:p>
            <a:pPr indent="0" marL="0">
              <a:buNone/>
            </a:pPr>
            <a:r>
              <a:rPr lang="en-US" sz="2000" b="1" dirty="0">
                <a:solidFill>
                  <a:srgbClr val="4A7BF7"/>
                </a:solidFill>
                <a:latin typeface="Pretendard SemiBold" pitchFamily="34" charset="0"/>
                <a:ea typeface="Pretendard SemiBold" pitchFamily="34" charset="-122"/>
                <a:cs typeface="Pretendard SemiBold" pitchFamily="34" charset="-120"/>
              </a:rPr>
              <a:t>반박</a:t>
            </a:r>
            <a:endParaRPr lang="en-US" sz="2000" dirty="0"/>
          </a:p>
        </p:txBody>
      </p:sp>
      <p:sp>
        <p:nvSpPr>
          <p:cNvPr id="7" name="Text 5"/>
          <p:cNvSpPr/>
          <p:nvPr/>
        </p:nvSpPr>
        <p:spPr>
          <a:xfrm>
            <a:off x="6277356" y="2148840"/>
            <a:ext cx="5362956" cy="3977640"/>
          </a:xfrm>
          <a:prstGeom prst="rect">
            <a:avLst/>
          </a:prstGeom>
          <a:noFill/>
          <a:ln/>
        </p:spPr>
        <p:txBody>
          <a:bodyPr wrap="square" rtlCol="0" anchor="t"/>
          <a:lstStyle/>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1. AI가 구축 비용을 크게 절감한다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2. 암묵 지식은 감사 추적이 불가능하다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3. 다단계 추론에서 벡터 검색은 실패한다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4. AI가 사전 갱신도 자동화할 수 있다</a:t>
            </a:r>
            <a:endParaRPr lang="en-US" sz="1600" dirty="0"/>
          </a:p>
          <a:p>
            <a:pPr marL="342900" indent="-342900">
              <a:lnSpc>
                <a:spcPct val="150000"/>
              </a:lnSpc>
              <a:spcAft>
                <a:spcPts val="600"/>
              </a:spcAft>
              <a:buSzPct val="100000"/>
              <a:buChar char="•"/>
            </a:pPr>
            <a:r>
              <a:rPr lang="en-US" sz="1600" dirty="0">
                <a:solidFill>
                  <a:srgbClr val="4A5568"/>
                </a:solidFill>
                <a:latin typeface="Pretendard" pitchFamily="34" charset="0"/>
                <a:ea typeface="Pretendard" pitchFamily="34" charset="-122"/>
                <a:cs typeface="Pretendard" pitchFamily="34" charset="-120"/>
              </a:rPr>
              <a:t>5. 벡터는 "왜" 관련되는지 설명 못 한다</a:t>
            </a:r>
            <a:endParaRPr lang="en-US" sz="1600" dirty="0"/>
          </a:p>
        </p:txBody>
      </p:sp>
      <p:sp>
        <p:nvSpPr>
          <p:cNvPr id="8" name="Text 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51 / 61</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4873752" cy="6858000"/>
          </a:xfrm>
          <a:prstGeom prst="rect">
            <a:avLst/>
          </a:prstGeom>
          <a:solidFill>
            <a:srgbClr val="1A1F36"/>
          </a:solidFill>
          <a:ln/>
        </p:spPr>
      </p:sp>
      <p:sp>
        <p:nvSpPr>
          <p:cNvPr id="3" name="Text 1"/>
          <p:cNvSpPr/>
          <p:nvPr/>
        </p:nvSpPr>
        <p:spPr>
          <a:xfrm>
            <a:off x="914400" y="2286000"/>
            <a:ext cx="3044952" cy="1371600"/>
          </a:xfrm>
          <a:prstGeom prst="rect">
            <a:avLst/>
          </a:prstGeom>
          <a:noFill/>
          <a:ln/>
        </p:spPr>
        <p:txBody>
          <a:bodyPr wrap="square" rtlCol="0" anchor="ctr"/>
          <a:lstStyle/>
          <a:p>
            <a:pPr algn="ctr" indent="0" marL="0">
              <a:buNone/>
            </a:pPr>
            <a:r>
              <a:rPr lang="en-US" sz="7200" b="1" dirty="0">
                <a:solidFill>
                  <a:srgbClr val="00D4AA"/>
                </a:solidFill>
                <a:latin typeface="Pretendard" pitchFamily="34" charset="0"/>
                <a:ea typeface="Pretendard" pitchFamily="34" charset="-122"/>
                <a:cs typeface="Pretendard" pitchFamily="34" charset="-120"/>
              </a:rPr>
              <a:t>07</a:t>
            </a:r>
            <a:endParaRPr lang="en-US" sz="7200" dirty="0"/>
          </a:p>
        </p:txBody>
      </p:sp>
      <p:sp>
        <p:nvSpPr>
          <p:cNvPr id="4" name="Text 2"/>
          <p:cNvSpPr/>
          <p:nvPr/>
        </p:nvSpPr>
        <p:spPr>
          <a:xfrm>
            <a:off x="5486400" y="2286000"/>
            <a:ext cx="6153912" cy="1097280"/>
          </a:xfrm>
          <a:prstGeom prst="rect">
            <a:avLst/>
          </a:prstGeom>
          <a:noFill/>
          <a:ln/>
        </p:spPr>
        <p:txBody>
          <a:bodyPr wrap="square" rtlCol="0" anchor="ctr"/>
          <a:lstStyle/>
          <a:p>
            <a:pPr indent="0" marL="0">
              <a:lnSpc>
                <a:spcPct val="120000"/>
              </a:lnSpc>
              <a:buNone/>
            </a:pPr>
            <a:r>
              <a:rPr lang="en-US" sz="3600" b="1" dirty="0">
                <a:solidFill>
                  <a:srgbClr val="1A1F36"/>
                </a:solidFill>
                <a:latin typeface="Pretendard" pitchFamily="34" charset="0"/>
                <a:ea typeface="Pretendard" pitchFamily="34" charset="-122"/>
                <a:cs typeface="Pretendard" pitchFamily="34" charset="-120"/>
              </a:rPr>
              <a:t>현실적 판단:</a:t>
            </a:r>
            <a:endParaRPr lang="en-US" sz="3600" dirty="0"/>
          </a:p>
          <a:p>
            <a:pPr indent="0" marL="0">
              <a:lnSpc>
                <a:spcPct val="120000"/>
              </a:lnSpc>
              <a:buNone/>
            </a:pPr>
            <a:r>
              <a:rPr lang="en-US" sz="3600" b="1" dirty="0">
                <a:solidFill>
                  <a:srgbClr val="1A1F36"/>
                </a:solidFill>
                <a:latin typeface="Pretendard" pitchFamily="34" charset="0"/>
                <a:ea typeface="Pretendard" pitchFamily="34" charset="-122"/>
                <a:cs typeface="Pretendard" pitchFamily="34" charset="-120"/>
              </a:rPr>
              <a:t>장벽, 비용, 그리고 선택</a:t>
            </a:r>
            <a:endParaRPr lang="en-US" sz="3600" dirty="0"/>
          </a:p>
        </p:txBody>
      </p:sp>
      <p:sp>
        <p:nvSpPr>
          <p:cNvPr id="5" name="Text 3"/>
          <p:cNvSpPr/>
          <p:nvPr/>
        </p:nvSpPr>
        <p:spPr>
          <a:xfrm>
            <a:off x="5486400" y="3474720"/>
            <a:ext cx="6153912" cy="914400"/>
          </a:xfrm>
          <a:prstGeom prst="rect">
            <a:avLst/>
          </a:prstGeom>
          <a:noFill/>
          <a:ln/>
        </p:spPr>
        <p:txBody>
          <a:bodyPr wrap="square" rtlCol="0" anchor="ctr"/>
          <a:lstStyle/>
          <a:p>
            <a:pPr indent="0" marL="0">
              <a:lnSpc>
                <a:spcPct val="140000"/>
              </a:lnSpc>
              <a:buNone/>
            </a:pPr>
            <a:r>
              <a:rPr lang="en-US" sz="1600" dirty="0">
                <a:solidFill>
                  <a:srgbClr val="4A5568"/>
                </a:solidFill>
                <a:latin typeface="Pretendard" pitchFamily="34" charset="0"/>
                <a:ea typeface="Pretendard" pitchFamily="34" charset="-122"/>
                <a:cs typeface="Pretendard" pitchFamily="34" charset="-120"/>
              </a:rPr>
              <a:t>도입을 가로막는 장벽, 놓치기 쉬운 문제, 그리고 상황별 의사결정 가이드를 정리한다.</a:t>
            </a:r>
            <a:endParaRPr lang="en-US" sz="16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52 / 61</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사전 도입을 가로막는 6가지 벽</a:t>
            </a:r>
            <a:endParaRPr lang="en-US" sz="2800" dirty="0"/>
          </a:p>
        </p:txBody>
      </p:sp>
      <p:sp>
        <p:nvSpPr>
          <p:cNvPr id="4" name="Shape 2"/>
          <p:cNvSpPr/>
          <p:nvPr/>
        </p:nvSpPr>
        <p:spPr>
          <a:xfrm>
            <a:off x="548640" y="16459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5" name="Shape 3"/>
          <p:cNvSpPr/>
          <p:nvPr/>
        </p:nvSpPr>
        <p:spPr>
          <a:xfrm>
            <a:off x="566928" y="1645920"/>
            <a:ext cx="3477463" cy="54864"/>
          </a:xfrm>
          <a:prstGeom prst="rect">
            <a:avLst/>
          </a:prstGeom>
          <a:solidFill>
            <a:srgbClr val="4A7BF7"/>
          </a:solidFill>
          <a:ln/>
        </p:spPr>
      </p:sp>
      <p:sp>
        <p:nvSpPr>
          <p:cNvPr id="6" name="Text 4"/>
          <p:cNvSpPr/>
          <p:nvPr/>
        </p:nvSpPr>
        <p:spPr>
          <a:xfrm>
            <a:off x="731520"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낡은 시스템 연결</a:t>
            </a:r>
            <a:endParaRPr lang="en-US" sz="1600" dirty="0"/>
          </a:p>
        </p:txBody>
      </p:sp>
      <p:sp>
        <p:nvSpPr>
          <p:cNvPr id="7" name="Text 5"/>
          <p:cNvSpPr/>
          <p:nvPr/>
        </p:nvSpPr>
        <p:spPr>
          <a:xfrm>
            <a:off x="731520" y="21488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기존 PLC, SCADA, MES와 사전 사이에 접점이 부재하다.</a:t>
            </a:r>
            <a:endParaRPr lang="en-US" sz="1300" dirty="0"/>
          </a:p>
        </p:txBody>
      </p:sp>
      <p:sp>
        <p:nvSpPr>
          <p:cNvPr id="8" name="Shape 6"/>
          <p:cNvSpPr/>
          <p:nvPr/>
        </p:nvSpPr>
        <p:spPr>
          <a:xfrm>
            <a:off x="4336999" y="16459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9" name="Shape 7"/>
          <p:cNvSpPr/>
          <p:nvPr/>
        </p:nvSpPr>
        <p:spPr>
          <a:xfrm>
            <a:off x="4355287" y="1645920"/>
            <a:ext cx="3477463" cy="54864"/>
          </a:xfrm>
          <a:prstGeom prst="rect">
            <a:avLst/>
          </a:prstGeom>
          <a:solidFill>
            <a:srgbClr val="00D4AA"/>
          </a:solidFill>
          <a:ln/>
        </p:spPr>
      </p:sp>
      <p:sp>
        <p:nvSpPr>
          <p:cNvPr id="10" name="Text 8"/>
          <p:cNvSpPr/>
          <p:nvPr/>
        </p:nvSpPr>
        <p:spPr>
          <a:xfrm>
            <a:off x="4519879"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데이터 품질</a:t>
            </a:r>
            <a:endParaRPr lang="en-US" sz="1600" dirty="0"/>
          </a:p>
        </p:txBody>
      </p:sp>
      <p:sp>
        <p:nvSpPr>
          <p:cNvPr id="11" name="Text 9"/>
          <p:cNvSpPr/>
          <p:nvPr/>
        </p:nvSpPr>
        <p:spPr>
          <a:xfrm>
            <a:off x="4519879" y="21488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사전 틀이 좋아도 채워 넣는 데이터가 나쁘면 무의미하다.</a:t>
            </a:r>
            <a:endParaRPr lang="en-US" sz="1300" dirty="0"/>
          </a:p>
        </p:txBody>
      </p:sp>
      <p:sp>
        <p:nvSpPr>
          <p:cNvPr id="12" name="Shape 10"/>
          <p:cNvSpPr/>
          <p:nvPr/>
        </p:nvSpPr>
        <p:spPr>
          <a:xfrm>
            <a:off x="8125358" y="16459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13" name="Shape 11"/>
          <p:cNvSpPr/>
          <p:nvPr/>
        </p:nvSpPr>
        <p:spPr>
          <a:xfrm>
            <a:off x="8143646" y="1645920"/>
            <a:ext cx="3477463" cy="54864"/>
          </a:xfrm>
          <a:prstGeom prst="rect">
            <a:avLst/>
          </a:prstGeom>
          <a:solidFill>
            <a:srgbClr val="FFB020"/>
          </a:solidFill>
          <a:ln/>
        </p:spPr>
      </p:sp>
      <p:sp>
        <p:nvSpPr>
          <p:cNvPr id="14" name="Text 12"/>
          <p:cNvSpPr/>
          <p:nvPr/>
        </p:nvSpPr>
        <p:spPr>
          <a:xfrm>
            <a:off x="8308238" y="18288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유지보수 부담</a:t>
            </a:r>
            <a:endParaRPr lang="en-US" sz="1600" dirty="0"/>
          </a:p>
        </p:txBody>
      </p:sp>
      <p:sp>
        <p:nvSpPr>
          <p:cNvPr id="15" name="Text 13"/>
          <p:cNvSpPr/>
          <p:nvPr/>
        </p:nvSpPr>
        <p:spPr>
          <a:xfrm>
            <a:off x="8308238" y="21488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공정이나 설비가 변경될 때마다 사전을 지속적으로 갱신해야 한다.</a:t>
            </a:r>
            <a:endParaRPr lang="en-US" sz="1300" dirty="0"/>
          </a:p>
        </p:txBody>
      </p:sp>
      <p:sp>
        <p:nvSpPr>
          <p:cNvPr id="16" name="Shape 14"/>
          <p:cNvSpPr/>
          <p:nvPr/>
        </p:nvSpPr>
        <p:spPr>
          <a:xfrm>
            <a:off x="548640" y="41605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17" name="Shape 15"/>
          <p:cNvSpPr/>
          <p:nvPr/>
        </p:nvSpPr>
        <p:spPr>
          <a:xfrm>
            <a:off x="566928" y="4160520"/>
            <a:ext cx="3477463" cy="54864"/>
          </a:xfrm>
          <a:prstGeom prst="rect">
            <a:avLst/>
          </a:prstGeom>
          <a:solidFill>
            <a:srgbClr val="FF6B6B"/>
          </a:solidFill>
          <a:ln/>
        </p:spPr>
      </p:sp>
      <p:sp>
        <p:nvSpPr>
          <p:cNvPr id="18" name="Text 16"/>
          <p:cNvSpPr/>
          <p:nvPr/>
        </p:nvSpPr>
        <p:spPr>
          <a:xfrm>
            <a:off x="731520" y="43434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전문 인력 부족</a:t>
            </a:r>
            <a:endParaRPr lang="en-US" sz="1600" dirty="0"/>
          </a:p>
        </p:txBody>
      </p:sp>
      <p:sp>
        <p:nvSpPr>
          <p:cNvPr id="19" name="Text 17"/>
          <p:cNvSpPr/>
          <p:nvPr/>
        </p:nvSpPr>
        <p:spPr>
          <a:xfrm>
            <a:off x="731520" y="46634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사전 엔지니어와 제조 전문가를 겸비한 인력이 극히 희소하다.</a:t>
            </a:r>
            <a:endParaRPr lang="en-US" sz="1300" dirty="0"/>
          </a:p>
        </p:txBody>
      </p:sp>
      <p:sp>
        <p:nvSpPr>
          <p:cNvPr id="20" name="Shape 18"/>
          <p:cNvSpPr/>
          <p:nvPr/>
        </p:nvSpPr>
        <p:spPr>
          <a:xfrm>
            <a:off x="4336999" y="41605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21" name="Shape 19"/>
          <p:cNvSpPr/>
          <p:nvPr/>
        </p:nvSpPr>
        <p:spPr>
          <a:xfrm>
            <a:off x="4355287" y="4160520"/>
            <a:ext cx="3477463" cy="54864"/>
          </a:xfrm>
          <a:prstGeom prst="rect">
            <a:avLst/>
          </a:prstGeom>
          <a:solidFill>
            <a:srgbClr val="8B5CF6"/>
          </a:solidFill>
          <a:ln/>
        </p:spPr>
      </p:sp>
      <p:sp>
        <p:nvSpPr>
          <p:cNvPr id="22" name="Text 20"/>
          <p:cNvSpPr/>
          <p:nvPr/>
        </p:nvSpPr>
        <p:spPr>
          <a:xfrm>
            <a:off x="4519879" y="43434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효과 불확실</a:t>
            </a:r>
            <a:endParaRPr lang="en-US" sz="1600" dirty="0"/>
          </a:p>
        </p:txBody>
      </p:sp>
      <p:sp>
        <p:nvSpPr>
          <p:cNvPr id="23" name="Text 21"/>
          <p:cNvSpPr/>
          <p:nvPr/>
        </p:nvSpPr>
        <p:spPr>
          <a:xfrm>
            <a:off x="4519879" y="46634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투자 대비 이득을 사전에 증명하기 어렵다. ROI 측정 방법이 불명확하다.</a:t>
            </a:r>
            <a:endParaRPr lang="en-US" sz="1300" dirty="0"/>
          </a:p>
        </p:txBody>
      </p:sp>
      <p:sp>
        <p:nvSpPr>
          <p:cNvPr id="24" name="Shape 22"/>
          <p:cNvSpPr/>
          <p:nvPr/>
        </p:nvSpPr>
        <p:spPr>
          <a:xfrm>
            <a:off x="8125358" y="4160520"/>
            <a:ext cx="3514039" cy="2240280"/>
          </a:xfrm>
          <a:prstGeom prst="roundRect">
            <a:avLst>
              <a:gd name="adj" fmla="val 4082"/>
            </a:avLst>
          </a:prstGeom>
          <a:solidFill>
            <a:srgbClr val="FFFFFF"/>
          </a:solidFill>
          <a:ln/>
          <a:effectLst>
            <a:outerShdw sx="100000" sy="100000" kx="0" ky="0" algn="bl" rotWithShape="0" blurRad="76200" dist="25400" dir="16200000">
              <a:srgbClr val="000000">
                <a:alpha val="8000"/>
              </a:srgbClr>
            </a:outerShdw>
          </a:effectLst>
        </p:spPr>
      </p:sp>
      <p:sp>
        <p:nvSpPr>
          <p:cNvPr id="25" name="Shape 23"/>
          <p:cNvSpPr/>
          <p:nvPr/>
        </p:nvSpPr>
        <p:spPr>
          <a:xfrm>
            <a:off x="8143646" y="4160520"/>
            <a:ext cx="3477463" cy="54864"/>
          </a:xfrm>
          <a:prstGeom prst="rect">
            <a:avLst/>
          </a:prstGeom>
          <a:solidFill>
            <a:srgbClr val="38BDF8"/>
          </a:solidFill>
          <a:ln/>
        </p:spPr>
      </p:sp>
      <p:sp>
        <p:nvSpPr>
          <p:cNvPr id="26" name="Text 24"/>
          <p:cNvSpPr/>
          <p:nvPr/>
        </p:nvSpPr>
        <p:spPr>
          <a:xfrm>
            <a:off x="8308238" y="4343400"/>
            <a:ext cx="3148279" cy="320040"/>
          </a:xfrm>
          <a:prstGeom prst="rect">
            <a:avLst/>
          </a:prstGeom>
          <a:noFill/>
          <a:ln/>
        </p:spPr>
        <p:txBody>
          <a:bodyPr wrap="square" rtlCol="0" anchor="ctr"/>
          <a:lstStyle/>
          <a:p>
            <a:pPr indent="0" marL="0">
              <a:buNone/>
            </a:pPr>
            <a:r>
              <a:rPr lang="en-US" sz="1600" b="1" dirty="0">
                <a:solidFill>
                  <a:srgbClr val="1A1F36"/>
                </a:solidFill>
                <a:latin typeface="Pretendard SemiBold" pitchFamily="34" charset="0"/>
                <a:ea typeface="Pretendard SemiBold" pitchFamily="34" charset="-122"/>
                <a:cs typeface="Pretendard SemiBold" pitchFamily="34" charset="-120"/>
              </a:rPr>
              <a:t>조직 저항</a:t>
            </a:r>
            <a:endParaRPr lang="en-US" sz="1600" dirty="0"/>
          </a:p>
        </p:txBody>
      </p:sp>
      <p:sp>
        <p:nvSpPr>
          <p:cNvPr id="27" name="Text 25"/>
          <p:cNvSpPr/>
          <p:nvPr/>
        </p:nvSpPr>
        <p:spPr>
          <a:xfrm>
            <a:off x="8308238" y="4663440"/>
            <a:ext cx="3148279" cy="1554480"/>
          </a:xfrm>
          <a:prstGeom prst="rect">
            <a:avLst/>
          </a:prstGeom>
          <a:noFill/>
          <a:ln/>
        </p:spPr>
        <p:txBody>
          <a:bodyPr wrap="square" rtlCol="0" anchor="t"/>
          <a:lstStyle/>
          <a:p>
            <a:pPr indent="0" marL="0">
              <a:lnSpc>
                <a:spcPct val="140000"/>
              </a:lnSpc>
              <a:buNone/>
            </a:pPr>
            <a:r>
              <a:rPr lang="en-US" sz="1300" dirty="0">
                <a:solidFill>
                  <a:srgbClr val="4A5568"/>
                </a:solidFill>
                <a:latin typeface="Pretendard" pitchFamily="34" charset="0"/>
                <a:ea typeface="Pretendard" pitchFamily="34" charset="-122"/>
                <a:cs typeface="Pretendard" pitchFamily="34" charset="-120"/>
              </a:rPr>
              <a:t>"이미 돌아가는데 왜 바꾸나"라는 현장의 문화적 저항이 존재한다.</a:t>
            </a:r>
            <a:endParaRPr lang="en-US" sz="1300" dirty="0"/>
          </a:p>
        </p:txBody>
      </p:sp>
      <p:sp>
        <p:nvSpPr>
          <p:cNvPr id="28" name="Text 26"/>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53 / 61</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놓치기 쉬운 문제들: 누가 관리하나, 노하우 유출은 없나</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거버넌스 문제: 사전을 만든 뒤 소유권, 변경 권한, 이력 관리를 누가 담당하는가에 대한 산업 합의가 없다.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IP/보안 위험: 제조 사전에는 공정 노하우, 원가 구조 등 민감 정보가 포함될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AI와 결합 시 유출 위험: 사전 내용이 AI 모델에 주입되면 의도치 않은 노하우 유출이 발생할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실패 사례 부재: 사전 도입이 실패한 구체적 사례가 문헌에 거의 보고되지 않는다. 성공 편향(survivorship bias) 가능성이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구축 비용 불투명: 사전 구축의 구체적 비용(인-월, 금액)에 대한 공개 데이터가 거의 없다.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54 / 61</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사전의 가장 큰 적은 다른 기술이 아니라 유지보수 비용이다</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기술적으로 사전이 유효하다는 것은 확인되었다. 문제는 기술이 아니다.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현장에서 사전이 방치되는 가장 흔한 패턴: 공정/설비가 변경되었는데 사전은 갱신되지 않는다.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지속적으로 갱신할 인력과 프로세스가 없으면, 아무리 좋은 사전도 결국 폐기된다.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AI가 이 유지보수 부담을 줄여줄 수 있다면, 사전 채택이 오히려 가속될 수 있다.</a:t>
            </a:r>
            <a:endParaRPr lang="en-US" sz="1800" dirty="0"/>
          </a:p>
          <a:p>
            <a:pPr marL="342900" indent="-342900">
              <a:lnSpc>
                <a:spcPct val="150000"/>
              </a:lnSpc>
              <a:spcAft>
                <a:spcPts val="800"/>
              </a:spcAft>
              <a:buSzPct val="100000"/>
              <a:buChar char="•"/>
            </a:pPr>
            <a:r>
              <a:rPr lang="en-US" sz="1800" dirty="0">
                <a:solidFill>
                  <a:srgbClr val="4A5568"/>
                </a:solidFill>
                <a:latin typeface="Pretendard" pitchFamily="34" charset="0"/>
                <a:ea typeface="Pretendard" pitchFamily="34" charset="-122"/>
                <a:cs typeface="Pretendard" pitchFamily="34" charset="-120"/>
              </a:rPr>
              <a:t>다만 이것은 아직 전망 수준이며, 제조 특화 검증이 필요하다.</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55 / 61</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우리 상황에 맞는 길을 찾는 의사결정 가이드</a:t>
            </a:r>
            <a:endParaRPr lang="en-US" sz="28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572000"/>
                <a:gridCol w="6519672"/>
              </a:tblGrid>
              <a:tr h="41148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우리 상황</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권장 행동</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5943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공장 간 데이터 호환이 필요하다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자산관리셸(AAS) 도입 후, MASON 구조로 시맨틱 보강</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943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새 설비 정보 연결이 안 된다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압출기 사전(ExtruOnt) 패턴으로 전문 사전 개발</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943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AI가 원시 데이터만 보고 문맥을 모른다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지식그래프 + 경량 사전 조합으로 AI에 문맥 제공</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5943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사전 만들 인력이 없다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AI 기반 반자동 사전 구축 파이프라인 검토</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59436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투자 효과를 증명해야 한다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원가 추정 등 좁은 범위부터 시작하여 효과 입증</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56 / 61</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시작하고 싶다면: 5단계 실행 로드맵</a:t>
            </a:r>
            <a:endParaRPr lang="en-US" sz="2800" dirty="0"/>
          </a:p>
        </p:txBody>
      </p:sp>
      <p:sp>
        <p:nvSpPr>
          <p:cNvPr id="4" name="Shape 2"/>
          <p:cNvSpPr/>
          <p:nvPr/>
        </p:nvSpPr>
        <p:spPr>
          <a:xfrm>
            <a:off x="548640" y="1645920"/>
            <a:ext cx="54864" cy="4572000"/>
          </a:xfrm>
          <a:prstGeom prst="rect">
            <a:avLst/>
          </a:prstGeom>
          <a:solidFill>
            <a:srgbClr val="4A7BF7"/>
          </a:solidFill>
          <a:ln/>
        </p:spPr>
      </p:sp>
      <p:sp>
        <p:nvSpPr>
          <p:cNvPr id="5" name="Shape 3"/>
          <p:cNvSpPr/>
          <p:nvPr/>
        </p:nvSpPr>
        <p:spPr>
          <a:xfrm>
            <a:off x="470916" y="1755648"/>
            <a:ext cx="210312" cy="210312"/>
          </a:xfrm>
          <a:prstGeom prst="ellipse">
            <a:avLst/>
          </a:prstGeom>
          <a:solidFill>
            <a:srgbClr val="4A7BF7"/>
          </a:solidFill>
          <a:ln/>
        </p:spPr>
      </p:sp>
      <p:sp>
        <p:nvSpPr>
          <p:cNvPr id="6" name="Text 4"/>
          <p:cNvSpPr/>
          <p:nvPr/>
        </p:nvSpPr>
        <p:spPr>
          <a:xfrm>
            <a:off x="914400" y="1645920"/>
            <a:ext cx="1828800" cy="320040"/>
          </a:xfrm>
          <a:prstGeom prst="rect">
            <a:avLst/>
          </a:prstGeom>
          <a:noFill/>
          <a:ln/>
        </p:spPr>
        <p:txBody>
          <a:bodyPr wrap="square" rtlCol="0" anchor="ctr"/>
          <a:lstStyle/>
          <a:p>
            <a:pPr indent="0" marL="0">
              <a:buNone/>
            </a:pPr>
            <a:r>
              <a:rPr lang="en-US" sz="1300" b="1" dirty="0">
                <a:solidFill>
                  <a:srgbClr val="4A7BF7"/>
                </a:solidFill>
                <a:latin typeface="Pretendard" pitchFamily="34" charset="0"/>
                <a:ea typeface="Pretendard" pitchFamily="34" charset="-122"/>
                <a:cs typeface="Pretendard" pitchFamily="34" charset="-120"/>
              </a:rPr>
              <a:t>1단계</a:t>
            </a:r>
            <a:endParaRPr lang="en-US" sz="1300" dirty="0"/>
          </a:p>
        </p:txBody>
      </p:sp>
      <p:sp>
        <p:nvSpPr>
          <p:cNvPr id="7" name="Text 5"/>
          <p:cNvSpPr/>
          <p:nvPr/>
        </p:nvSpPr>
        <p:spPr>
          <a:xfrm>
            <a:off x="914400" y="1965960"/>
            <a:ext cx="10725912" cy="320040"/>
          </a:xfrm>
          <a:prstGeom prst="rect">
            <a:avLst/>
          </a:prstGeom>
          <a:noFill/>
          <a:ln/>
        </p:spPr>
        <p:txBody>
          <a:bodyPr wrap="square" rtlCol="0" anchor="ctr"/>
          <a:lstStyle/>
          <a:p>
            <a:pPr indent="0" marL="0">
              <a:buNone/>
            </a:pPr>
            <a:r>
              <a:rPr lang="en-US" sz="1500" b="1" dirty="0">
                <a:solidFill>
                  <a:srgbClr val="1A1F36"/>
                </a:solidFill>
                <a:latin typeface="Pretendard" pitchFamily="34" charset="0"/>
                <a:ea typeface="Pretendard" pitchFamily="34" charset="-122"/>
                <a:cs typeface="Pretendard" pitchFamily="34" charset="-120"/>
              </a:rPr>
              <a:t>사전 파일 다운로드 후 구조 파악</a:t>
            </a:r>
            <a:endParaRPr lang="en-US" sz="1500" dirty="0"/>
          </a:p>
        </p:txBody>
      </p:sp>
      <p:sp>
        <p:nvSpPr>
          <p:cNvPr id="8" name="Text 6"/>
          <p:cNvSpPr/>
          <p:nvPr/>
        </p:nvSpPr>
        <p:spPr>
          <a:xfrm>
            <a:off x="914400" y="2286000"/>
            <a:ext cx="10725912" cy="137160"/>
          </a:xfrm>
          <a:prstGeom prst="rect">
            <a:avLst/>
          </a:prstGeom>
          <a:noFill/>
          <a:ln/>
        </p:spPr>
        <p:txBody>
          <a:bodyPr wrap="square" rtlCol="0" anchor="t"/>
          <a:lstStyle/>
          <a:p>
            <a:pPr indent="0" marL="0">
              <a:buNone/>
            </a:pPr>
            <a:r>
              <a:rPr lang="en-US" sz="1300" dirty="0">
                <a:solidFill>
                  <a:srgbClr val="4A5568"/>
                </a:solidFill>
                <a:latin typeface="Pretendard" pitchFamily="34" charset="0"/>
                <a:ea typeface="Pretendard" pitchFamily="34" charset="-122"/>
                <a:cs typeface="Pretendard" pitchFamily="34" charset="-120"/>
              </a:rPr>
              <a:t>SourceForge에서 OWL 파일을 다운로드하고, Protege에서 클래스 계층을 파악한다.</a:t>
            </a:r>
            <a:endParaRPr lang="en-US" sz="1300" dirty="0"/>
          </a:p>
        </p:txBody>
      </p:sp>
      <p:sp>
        <p:nvSpPr>
          <p:cNvPr id="9" name="Shape 7"/>
          <p:cNvSpPr/>
          <p:nvPr/>
        </p:nvSpPr>
        <p:spPr>
          <a:xfrm>
            <a:off x="914400" y="2514600"/>
            <a:ext cx="10725912" cy="0"/>
          </a:xfrm>
          <a:prstGeom prst="line">
            <a:avLst/>
          </a:prstGeom>
          <a:noFill/>
          <a:ln w="6350">
            <a:solidFill>
              <a:srgbClr val="E2E8F0"/>
            </a:solidFill>
            <a:prstDash val="solid"/>
          </a:ln>
        </p:spPr>
      </p:sp>
      <p:sp>
        <p:nvSpPr>
          <p:cNvPr id="10" name="Shape 8"/>
          <p:cNvSpPr/>
          <p:nvPr/>
        </p:nvSpPr>
        <p:spPr>
          <a:xfrm>
            <a:off x="470916" y="2670048"/>
            <a:ext cx="210312" cy="210312"/>
          </a:xfrm>
          <a:prstGeom prst="ellipse">
            <a:avLst/>
          </a:prstGeom>
          <a:solidFill>
            <a:srgbClr val="4A7BF7"/>
          </a:solidFill>
          <a:ln/>
        </p:spPr>
      </p:sp>
      <p:sp>
        <p:nvSpPr>
          <p:cNvPr id="11" name="Text 9"/>
          <p:cNvSpPr/>
          <p:nvPr/>
        </p:nvSpPr>
        <p:spPr>
          <a:xfrm>
            <a:off x="914400" y="2560320"/>
            <a:ext cx="1828800" cy="320040"/>
          </a:xfrm>
          <a:prstGeom prst="rect">
            <a:avLst/>
          </a:prstGeom>
          <a:noFill/>
          <a:ln/>
        </p:spPr>
        <p:txBody>
          <a:bodyPr wrap="square" rtlCol="0" anchor="ctr"/>
          <a:lstStyle/>
          <a:p>
            <a:pPr indent="0" marL="0">
              <a:buNone/>
            </a:pPr>
            <a:r>
              <a:rPr lang="en-US" sz="1300" b="1" dirty="0">
                <a:solidFill>
                  <a:srgbClr val="4A7BF7"/>
                </a:solidFill>
                <a:latin typeface="Pretendard" pitchFamily="34" charset="0"/>
                <a:ea typeface="Pretendard" pitchFamily="34" charset="-122"/>
                <a:cs typeface="Pretendard" pitchFamily="34" charset="-120"/>
              </a:rPr>
              <a:t>2단계</a:t>
            </a:r>
            <a:endParaRPr lang="en-US" sz="1300" dirty="0"/>
          </a:p>
        </p:txBody>
      </p:sp>
      <p:sp>
        <p:nvSpPr>
          <p:cNvPr id="12" name="Text 10"/>
          <p:cNvSpPr/>
          <p:nvPr/>
        </p:nvSpPr>
        <p:spPr>
          <a:xfrm>
            <a:off x="914400" y="2880360"/>
            <a:ext cx="10725912" cy="320040"/>
          </a:xfrm>
          <a:prstGeom prst="rect">
            <a:avLst/>
          </a:prstGeom>
          <a:noFill/>
          <a:ln/>
        </p:spPr>
        <p:txBody>
          <a:bodyPr wrap="square" rtlCol="0" anchor="ctr"/>
          <a:lstStyle/>
          <a:p>
            <a:pPr indent="0" marL="0">
              <a:buNone/>
            </a:pPr>
            <a:r>
              <a:rPr lang="en-US" sz="1500" b="1" dirty="0">
                <a:solidFill>
                  <a:srgbClr val="1A1F36"/>
                </a:solidFill>
                <a:latin typeface="Pretendard" pitchFamily="34" charset="0"/>
                <a:ea typeface="Pretendard" pitchFamily="34" charset="-122"/>
                <a:cs typeface="Pretendard" pitchFamily="34" charset="-120"/>
              </a:rPr>
              <a:t>자사 용어와 매핑</a:t>
            </a:r>
            <a:endParaRPr lang="en-US" sz="1500" dirty="0"/>
          </a:p>
        </p:txBody>
      </p:sp>
      <p:sp>
        <p:nvSpPr>
          <p:cNvPr id="13" name="Text 11"/>
          <p:cNvSpPr/>
          <p:nvPr/>
        </p:nvSpPr>
        <p:spPr>
          <a:xfrm>
            <a:off x="914400" y="3200400"/>
            <a:ext cx="10725912" cy="137160"/>
          </a:xfrm>
          <a:prstGeom prst="rect">
            <a:avLst/>
          </a:prstGeom>
          <a:noFill/>
          <a:ln/>
        </p:spPr>
        <p:txBody>
          <a:bodyPr wrap="square" rtlCol="0" anchor="t"/>
          <a:lstStyle/>
          <a:p>
            <a:pPr indent="0" marL="0">
              <a:buNone/>
            </a:pPr>
            <a:r>
              <a:rPr lang="en-US" sz="1300" dirty="0">
                <a:solidFill>
                  <a:srgbClr val="4A5568"/>
                </a:solidFill>
                <a:latin typeface="Pretendard" pitchFamily="34" charset="0"/>
                <a:ea typeface="Pretendard" pitchFamily="34" charset="-122"/>
                <a:cs typeface="Pretendard" pitchFamily="34" charset="-120"/>
              </a:rPr>
              <a:t>MASON의 제품/공정/자원에 자사 개념을 대응시킨다.</a:t>
            </a:r>
            <a:endParaRPr lang="en-US" sz="1300" dirty="0"/>
          </a:p>
        </p:txBody>
      </p:sp>
      <p:sp>
        <p:nvSpPr>
          <p:cNvPr id="14" name="Shape 12"/>
          <p:cNvSpPr/>
          <p:nvPr/>
        </p:nvSpPr>
        <p:spPr>
          <a:xfrm>
            <a:off x="914400" y="3429000"/>
            <a:ext cx="10725912" cy="0"/>
          </a:xfrm>
          <a:prstGeom prst="line">
            <a:avLst/>
          </a:prstGeom>
          <a:noFill/>
          <a:ln w="6350">
            <a:solidFill>
              <a:srgbClr val="E2E8F0"/>
            </a:solidFill>
            <a:prstDash val="solid"/>
          </a:ln>
        </p:spPr>
      </p:sp>
      <p:sp>
        <p:nvSpPr>
          <p:cNvPr id="15" name="Shape 13"/>
          <p:cNvSpPr/>
          <p:nvPr/>
        </p:nvSpPr>
        <p:spPr>
          <a:xfrm>
            <a:off x="470916" y="3584448"/>
            <a:ext cx="210312" cy="210312"/>
          </a:xfrm>
          <a:prstGeom prst="ellipse">
            <a:avLst/>
          </a:prstGeom>
          <a:solidFill>
            <a:srgbClr val="4A7BF7"/>
          </a:solidFill>
          <a:ln/>
        </p:spPr>
      </p:sp>
      <p:sp>
        <p:nvSpPr>
          <p:cNvPr id="16" name="Text 14"/>
          <p:cNvSpPr/>
          <p:nvPr/>
        </p:nvSpPr>
        <p:spPr>
          <a:xfrm>
            <a:off x="914400" y="3474720"/>
            <a:ext cx="1828800" cy="320040"/>
          </a:xfrm>
          <a:prstGeom prst="rect">
            <a:avLst/>
          </a:prstGeom>
          <a:noFill/>
          <a:ln/>
        </p:spPr>
        <p:txBody>
          <a:bodyPr wrap="square" rtlCol="0" anchor="ctr"/>
          <a:lstStyle/>
          <a:p>
            <a:pPr indent="0" marL="0">
              <a:buNone/>
            </a:pPr>
            <a:r>
              <a:rPr lang="en-US" sz="1300" b="1" dirty="0">
                <a:solidFill>
                  <a:srgbClr val="4A7BF7"/>
                </a:solidFill>
                <a:latin typeface="Pretendard" pitchFamily="34" charset="0"/>
                <a:ea typeface="Pretendard" pitchFamily="34" charset="-122"/>
                <a:cs typeface="Pretendard" pitchFamily="34" charset="-120"/>
              </a:rPr>
              <a:t>3단계</a:t>
            </a:r>
            <a:endParaRPr lang="en-US" sz="1300" dirty="0"/>
          </a:p>
        </p:txBody>
      </p:sp>
      <p:sp>
        <p:nvSpPr>
          <p:cNvPr id="17" name="Text 15"/>
          <p:cNvSpPr/>
          <p:nvPr/>
        </p:nvSpPr>
        <p:spPr>
          <a:xfrm>
            <a:off x="914400" y="3794760"/>
            <a:ext cx="10725912" cy="320040"/>
          </a:xfrm>
          <a:prstGeom prst="rect">
            <a:avLst/>
          </a:prstGeom>
          <a:noFill/>
          <a:ln/>
        </p:spPr>
        <p:txBody>
          <a:bodyPr wrap="square" rtlCol="0" anchor="ctr"/>
          <a:lstStyle/>
          <a:p>
            <a:pPr indent="0" marL="0">
              <a:buNone/>
            </a:pPr>
            <a:r>
              <a:rPr lang="en-US" sz="1500" b="1" dirty="0">
                <a:solidFill>
                  <a:srgbClr val="1A1F36"/>
                </a:solidFill>
                <a:latin typeface="Pretendard" pitchFamily="34" charset="0"/>
                <a:ea typeface="Pretendard" pitchFamily="34" charset="-122"/>
                <a:cs typeface="Pretendard" pitchFamily="34" charset="-120"/>
              </a:rPr>
              <a:t>부족한 하위 개념 확장</a:t>
            </a:r>
            <a:endParaRPr lang="en-US" sz="1500" dirty="0"/>
          </a:p>
        </p:txBody>
      </p:sp>
      <p:sp>
        <p:nvSpPr>
          <p:cNvPr id="18" name="Text 16"/>
          <p:cNvSpPr/>
          <p:nvPr/>
        </p:nvSpPr>
        <p:spPr>
          <a:xfrm>
            <a:off x="914400" y="4114800"/>
            <a:ext cx="10725912" cy="137160"/>
          </a:xfrm>
          <a:prstGeom prst="rect">
            <a:avLst/>
          </a:prstGeom>
          <a:noFill/>
          <a:ln/>
        </p:spPr>
        <p:txBody>
          <a:bodyPr wrap="square" rtlCol="0" anchor="t"/>
          <a:lstStyle/>
          <a:p>
            <a:pPr indent="0" marL="0">
              <a:buNone/>
            </a:pPr>
            <a:r>
              <a:rPr lang="en-US" sz="1300" dirty="0">
                <a:solidFill>
                  <a:srgbClr val="4A5568"/>
                </a:solidFill>
                <a:latin typeface="Pretendard" pitchFamily="34" charset="0"/>
                <a:ea typeface="Pretendard" pitchFamily="34" charset="-122"/>
                <a:cs typeface="Pretendard" pitchFamily="34" charset="-120"/>
              </a:rPr>
              <a:t>MASON에 없는 자사 공정/장비 클래스를 추가한다.</a:t>
            </a:r>
            <a:endParaRPr lang="en-US" sz="1300" dirty="0"/>
          </a:p>
        </p:txBody>
      </p:sp>
      <p:sp>
        <p:nvSpPr>
          <p:cNvPr id="19" name="Shape 17"/>
          <p:cNvSpPr/>
          <p:nvPr/>
        </p:nvSpPr>
        <p:spPr>
          <a:xfrm>
            <a:off x="914400" y="4343400"/>
            <a:ext cx="10725912" cy="0"/>
          </a:xfrm>
          <a:prstGeom prst="line">
            <a:avLst/>
          </a:prstGeom>
          <a:noFill/>
          <a:ln w="6350">
            <a:solidFill>
              <a:srgbClr val="E2E8F0"/>
            </a:solidFill>
            <a:prstDash val="solid"/>
          </a:ln>
        </p:spPr>
      </p:sp>
      <p:sp>
        <p:nvSpPr>
          <p:cNvPr id="20" name="Shape 18"/>
          <p:cNvSpPr/>
          <p:nvPr/>
        </p:nvSpPr>
        <p:spPr>
          <a:xfrm>
            <a:off x="470916" y="4498848"/>
            <a:ext cx="210312" cy="210312"/>
          </a:xfrm>
          <a:prstGeom prst="ellipse">
            <a:avLst/>
          </a:prstGeom>
          <a:solidFill>
            <a:srgbClr val="4A7BF7"/>
          </a:solidFill>
          <a:ln/>
        </p:spPr>
      </p:sp>
      <p:sp>
        <p:nvSpPr>
          <p:cNvPr id="21" name="Text 19"/>
          <p:cNvSpPr/>
          <p:nvPr/>
        </p:nvSpPr>
        <p:spPr>
          <a:xfrm>
            <a:off x="914400" y="4389120"/>
            <a:ext cx="1828800" cy="320040"/>
          </a:xfrm>
          <a:prstGeom prst="rect">
            <a:avLst/>
          </a:prstGeom>
          <a:noFill/>
          <a:ln/>
        </p:spPr>
        <p:txBody>
          <a:bodyPr wrap="square" rtlCol="0" anchor="ctr"/>
          <a:lstStyle/>
          <a:p>
            <a:pPr indent="0" marL="0">
              <a:buNone/>
            </a:pPr>
            <a:r>
              <a:rPr lang="en-US" sz="1300" b="1" dirty="0">
                <a:solidFill>
                  <a:srgbClr val="4A7BF7"/>
                </a:solidFill>
                <a:latin typeface="Pretendard" pitchFamily="34" charset="0"/>
                <a:ea typeface="Pretendard" pitchFamily="34" charset="-122"/>
                <a:cs typeface="Pretendard" pitchFamily="34" charset="-120"/>
              </a:rPr>
              <a:t>4단계</a:t>
            </a:r>
            <a:endParaRPr lang="en-US" sz="1300" dirty="0"/>
          </a:p>
        </p:txBody>
      </p:sp>
      <p:sp>
        <p:nvSpPr>
          <p:cNvPr id="22" name="Text 20"/>
          <p:cNvSpPr/>
          <p:nvPr/>
        </p:nvSpPr>
        <p:spPr>
          <a:xfrm>
            <a:off x="914400" y="4709160"/>
            <a:ext cx="10725912" cy="320040"/>
          </a:xfrm>
          <a:prstGeom prst="rect">
            <a:avLst/>
          </a:prstGeom>
          <a:noFill/>
          <a:ln/>
        </p:spPr>
        <p:txBody>
          <a:bodyPr wrap="square" rtlCol="0" anchor="ctr"/>
          <a:lstStyle/>
          <a:p>
            <a:pPr indent="0" marL="0">
              <a:buNone/>
            </a:pPr>
            <a:r>
              <a:rPr lang="en-US" sz="1500" b="1" dirty="0">
                <a:solidFill>
                  <a:srgbClr val="1A1F36"/>
                </a:solidFill>
                <a:latin typeface="Pretendard" pitchFamily="34" charset="0"/>
                <a:ea typeface="Pretendard" pitchFamily="34" charset="-122"/>
                <a:cs typeface="Pretendard" pitchFamily="34" charset="-120"/>
              </a:rPr>
              <a:t>지식그래프 구축, 데이터 연결</a:t>
            </a:r>
            <a:endParaRPr lang="en-US" sz="1500" dirty="0"/>
          </a:p>
        </p:txBody>
      </p:sp>
      <p:sp>
        <p:nvSpPr>
          <p:cNvPr id="23" name="Text 21"/>
          <p:cNvSpPr/>
          <p:nvPr/>
        </p:nvSpPr>
        <p:spPr>
          <a:xfrm>
            <a:off x="914400" y="5029200"/>
            <a:ext cx="10725912" cy="137160"/>
          </a:xfrm>
          <a:prstGeom prst="rect">
            <a:avLst/>
          </a:prstGeom>
          <a:noFill/>
          <a:ln/>
        </p:spPr>
        <p:txBody>
          <a:bodyPr wrap="square" rtlCol="0" anchor="t"/>
          <a:lstStyle/>
          <a:p>
            <a:pPr indent="0" marL="0">
              <a:buNone/>
            </a:pPr>
            <a:r>
              <a:rPr lang="en-US" sz="1300" dirty="0">
                <a:solidFill>
                  <a:srgbClr val="4A5568"/>
                </a:solidFill>
                <a:latin typeface="Pretendard" pitchFamily="34" charset="0"/>
                <a:ea typeface="Pretendard" pitchFamily="34" charset="-122"/>
                <a:cs typeface="Pretendard" pitchFamily="34" charset="-120"/>
              </a:rPr>
              <a:t>Neo4j 등에 사전을 적재하고, 사내 데이터 인스턴스를 연결한다.</a:t>
            </a:r>
            <a:endParaRPr lang="en-US" sz="1300" dirty="0"/>
          </a:p>
        </p:txBody>
      </p:sp>
      <p:sp>
        <p:nvSpPr>
          <p:cNvPr id="24" name="Shape 22"/>
          <p:cNvSpPr/>
          <p:nvPr/>
        </p:nvSpPr>
        <p:spPr>
          <a:xfrm>
            <a:off x="914400" y="5257800"/>
            <a:ext cx="10725912" cy="0"/>
          </a:xfrm>
          <a:prstGeom prst="line">
            <a:avLst/>
          </a:prstGeom>
          <a:noFill/>
          <a:ln w="6350">
            <a:solidFill>
              <a:srgbClr val="E2E8F0"/>
            </a:solidFill>
            <a:prstDash val="solid"/>
          </a:ln>
        </p:spPr>
      </p:sp>
      <p:sp>
        <p:nvSpPr>
          <p:cNvPr id="25" name="Shape 23"/>
          <p:cNvSpPr/>
          <p:nvPr/>
        </p:nvSpPr>
        <p:spPr>
          <a:xfrm>
            <a:off x="470916" y="5413248"/>
            <a:ext cx="210312" cy="210312"/>
          </a:xfrm>
          <a:prstGeom prst="ellipse">
            <a:avLst/>
          </a:prstGeom>
          <a:solidFill>
            <a:srgbClr val="4A7BF7"/>
          </a:solidFill>
          <a:ln/>
        </p:spPr>
      </p:sp>
      <p:sp>
        <p:nvSpPr>
          <p:cNvPr id="26" name="Text 24"/>
          <p:cNvSpPr/>
          <p:nvPr/>
        </p:nvSpPr>
        <p:spPr>
          <a:xfrm>
            <a:off x="914400" y="5303520"/>
            <a:ext cx="1828800" cy="320040"/>
          </a:xfrm>
          <a:prstGeom prst="rect">
            <a:avLst/>
          </a:prstGeom>
          <a:noFill/>
          <a:ln/>
        </p:spPr>
        <p:txBody>
          <a:bodyPr wrap="square" rtlCol="0" anchor="ctr"/>
          <a:lstStyle/>
          <a:p>
            <a:pPr indent="0" marL="0">
              <a:buNone/>
            </a:pPr>
            <a:r>
              <a:rPr lang="en-US" sz="1300" b="1" dirty="0">
                <a:solidFill>
                  <a:srgbClr val="4A7BF7"/>
                </a:solidFill>
                <a:latin typeface="Pretendard" pitchFamily="34" charset="0"/>
                <a:ea typeface="Pretendard" pitchFamily="34" charset="-122"/>
                <a:cs typeface="Pretendard" pitchFamily="34" charset="-120"/>
              </a:rPr>
              <a:t>5단계</a:t>
            </a:r>
            <a:endParaRPr lang="en-US" sz="1300" dirty="0"/>
          </a:p>
        </p:txBody>
      </p:sp>
      <p:sp>
        <p:nvSpPr>
          <p:cNvPr id="27" name="Text 25"/>
          <p:cNvSpPr/>
          <p:nvPr/>
        </p:nvSpPr>
        <p:spPr>
          <a:xfrm>
            <a:off x="914400" y="5623560"/>
            <a:ext cx="10725912" cy="320040"/>
          </a:xfrm>
          <a:prstGeom prst="rect">
            <a:avLst/>
          </a:prstGeom>
          <a:noFill/>
          <a:ln/>
        </p:spPr>
        <p:txBody>
          <a:bodyPr wrap="square" rtlCol="0" anchor="ctr"/>
          <a:lstStyle/>
          <a:p>
            <a:pPr indent="0" marL="0">
              <a:buNone/>
            </a:pPr>
            <a:r>
              <a:rPr lang="en-US" sz="1500" b="1" dirty="0">
                <a:solidFill>
                  <a:srgbClr val="1A1F36"/>
                </a:solidFill>
                <a:latin typeface="Pretendard" pitchFamily="34" charset="0"/>
                <a:ea typeface="Pretendard" pitchFamily="34" charset="-122"/>
                <a:cs typeface="Pretendard" pitchFamily="34" charset="-120"/>
              </a:rPr>
              <a:t>AI 파이프라인 연동</a:t>
            </a:r>
            <a:endParaRPr lang="en-US" sz="1500" dirty="0"/>
          </a:p>
        </p:txBody>
      </p:sp>
      <p:sp>
        <p:nvSpPr>
          <p:cNvPr id="28" name="Text 26"/>
          <p:cNvSpPr/>
          <p:nvPr/>
        </p:nvSpPr>
        <p:spPr>
          <a:xfrm>
            <a:off x="914400" y="5943600"/>
            <a:ext cx="10725912" cy="137160"/>
          </a:xfrm>
          <a:prstGeom prst="rect">
            <a:avLst/>
          </a:prstGeom>
          <a:noFill/>
          <a:ln/>
        </p:spPr>
        <p:txBody>
          <a:bodyPr wrap="square" rtlCol="0" anchor="t"/>
          <a:lstStyle/>
          <a:p>
            <a:pPr indent="0" marL="0">
              <a:buNone/>
            </a:pPr>
            <a:r>
              <a:rPr lang="en-US" sz="1300" dirty="0">
                <a:solidFill>
                  <a:srgbClr val="4A5568"/>
                </a:solidFill>
                <a:latin typeface="Pretendard" pitchFamily="34" charset="0"/>
                <a:ea typeface="Pretendard" pitchFamily="34" charset="-122"/>
                <a:cs typeface="Pretendard" pitchFamily="34" charset="-120"/>
              </a:rPr>
              <a:t>GraphRAG로 AI 그라운딩하거나, 프롬프트에 사전 구조를 주입한다.</a:t>
            </a:r>
            <a:endParaRPr lang="en-US" sz="1300" dirty="0"/>
          </a:p>
        </p:txBody>
      </p:sp>
      <p:sp>
        <p:nvSpPr>
          <p:cNvPr id="29" name="Text 27"/>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57 / 61</a:t>
            </a:r>
            <a:endParaRPr lang="en-US" sz="9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이 보고서 핵심 주장들의 근거는 얼마나 확실한가</a:t>
            </a:r>
            <a:endParaRPr lang="en-US" sz="28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5605272"/>
                <a:gridCol w="3200400"/>
                <a:gridCol w="2286000"/>
              </a:tblGrid>
              <a:tr h="411480">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핵심 주장</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출처</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c>
                  <a:txBody>
                    <a:bodyP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확신도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A1F36"/>
                    </a:solidFill>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MASON은 제품-공정-자원 기반 사전이다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원 논문 (2006)</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65개+ 제조 사전이 존재한다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2024 서베이 논문</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산업 현장 채택률은 낮다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서베이 관찰</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중-상</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자산관리셸+산업통신이 현재 주류다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표준 기구 자료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높음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사전 기반 검색이 제조 AI에 유망하다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Bosch 직접 사례</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중-상</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AI가 사전 구축을 가속화한다</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범용 연구</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중간</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5F7FA"/>
                    </a:solidFill>
                  </a:tcPr>
                </a:tc>
              </a:tr>
              <a:tr h="457200">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신경-기호 결합의 제조 적용</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WEF/Gartner</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indent="0" marL="0">
                        <a:buNone/>
                      </a:pPr>
                      <a:r>
                        <a:rPr lang="en-US" sz="1100" dirty="0">
                          <a:solidFill>
                            <a:srgbClr val="4A5568"/>
                          </a:solidFill>
                          <a:latin typeface="Pretendard" pitchFamily="34" charset="0"/>
                          <a:ea typeface="Pretendard" pitchFamily="34" charset="-122"/>
                          <a:cs typeface="Pretendard" pitchFamily="34" charset="-120"/>
                        </a:rPr>
                        <a:t>낮음</a:t>
                      </a:r>
                      <a:endParaRPr lang="en-US" sz="1100" dirty="0">
                        <a:latin typeface="Pretendard" charset="0"/>
                        <a:ea typeface="Pretendard" charset="0"/>
                        <a:cs typeface="Pretendard" charset="0"/>
                      </a:endParaRPr>
                    </a:p>
                  </a:txBody>
                  <a:tcPr marL="101600" marR="101600" marT="63500" marB="635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5" name="Text 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58 / 61</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앞으로 탐색해야 할 세 가지 질문</a:t>
            </a:r>
            <a:endParaRPr lang="en-US" sz="2800" dirty="0"/>
          </a:p>
        </p:txBody>
      </p:sp>
      <p:sp>
        <p:nvSpPr>
          <p:cNvPr id="4" name="Text 2"/>
          <p:cNvSpPr/>
          <p:nvPr/>
        </p:nvSpPr>
        <p:spPr>
          <a:xfrm>
            <a:off x="548640" y="1645920"/>
            <a:ext cx="11091672" cy="4389120"/>
          </a:xfrm>
          <a:prstGeom prst="rect">
            <a:avLst/>
          </a:prstGeom>
          <a:noFill/>
          <a:ln/>
        </p:spPr>
        <p:txBody>
          <a:bodyPr wrap="square" rtlCol="0" anchor="t"/>
          <a:lstStyle/>
          <a:p>
            <a:pPr indent="0" marL="0">
              <a:lnSpc>
                <a:spcPct val="150000"/>
              </a:lnSpc>
              <a:spcAft>
                <a:spcPts val="800"/>
              </a:spcAft>
              <a:buNone/>
            </a:pPr>
            <a:r>
              <a:rPr lang="en-US" sz="1800" b="1" dirty="0">
                <a:solidFill>
                  <a:srgbClr val="4A5568"/>
                </a:solidFill>
                <a:latin typeface="Pretendard" pitchFamily="34" charset="0"/>
                <a:ea typeface="Pretendard" pitchFamily="34" charset="-122"/>
                <a:cs typeface="Pretendard" pitchFamily="34" charset="-120"/>
              </a:rPr>
              <a:t>1. 자산관리셸(AAS)과 MASON 구조의 매핑</a:t>
            </a:r>
            <a:pPr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현재 공식 매핑이 존재하지 않는다. 이것이 실현되면 학술 사전과 산업 표준의 통합이 가능해진다.</a:t>
            </a:r>
            <a:pPr indent="0" marL="0">
              <a:lnSpc>
                <a:spcPct val="150000"/>
              </a:lnSpc>
              <a:spcAft>
                <a:spcPts val="800"/>
              </a:spcAft>
              <a:buNone/>
            </a:pPr>
            <a:pPr indent="0" marL="0">
              <a:lnSpc>
                <a:spcPct val="150000"/>
              </a:lnSpc>
              <a:spcAft>
                <a:spcPts val="800"/>
              </a:spcAft>
              <a:buNone/>
            </a:pPr>
            <a:r>
              <a:rPr lang="en-US" sz="1800" b="1" dirty="0">
                <a:solidFill>
                  <a:srgbClr val="4A5568"/>
                </a:solidFill>
                <a:latin typeface="Pretendard" pitchFamily="34" charset="0"/>
                <a:ea typeface="Pretendard" pitchFamily="34" charset="-122"/>
                <a:cs typeface="Pretendard" pitchFamily="34" charset="-120"/>
              </a:rPr>
              <a:t>2. 중소기업용 경량 사전 도입법</a:t>
            </a:r>
            <a:pPr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대기업 중심의 AAS/RAMI 4.0은 중소기업에게 과도한 복잡성일 수 있다. AI 기반 자동 커스터마이징으로 1주일 내 배포가 가능한가?</a:t>
            </a:r>
            <a:pPr indent="0" marL="0">
              <a:lnSpc>
                <a:spcPct val="150000"/>
              </a:lnSpc>
              <a:spcAft>
                <a:spcPts val="800"/>
              </a:spcAft>
              <a:buNone/>
            </a:pPr>
            <a:pPr indent="0" marL="0">
              <a:lnSpc>
                <a:spcPct val="150000"/>
              </a:lnSpc>
              <a:spcAft>
                <a:spcPts val="800"/>
              </a:spcAft>
              <a:buNone/>
            </a:pPr>
            <a:r>
              <a:rPr lang="en-US" sz="1800" b="1" dirty="0">
                <a:solidFill>
                  <a:srgbClr val="4A5568"/>
                </a:solidFill>
                <a:latin typeface="Pretendard" pitchFamily="34" charset="0"/>
                <a:ea typeface="Pretendard" pitchFamily="34" charset="-122"/>
                <a:cs typeface="Pretendard" pitchFamily="34" charset="-120"/>
              </a:rPr>
              <a:t>3. 사전 자동 갱신 파이프라인</a:t>
            </a:r>
            <a:pPr indent="0" marL="0">
              <a:lnSpc>
                <a:spcPct val="150000"/>
              </a:lnSpc>
              <a:spcAft>
                <a:spcPts val="800"/>
              </a:spcAft>
              <a:buNone/>
            </a:pPr>
            <a:r>
              <a:rPr lang="en-US" sz="1800" dirty="0">
                <a:solidFill>
                  <a:srgbClr val="4A5568"/>
                </a:solidFill>
                <a:latin typeface="Pretendard" pitchFamily="34" charset="0"/>
                <a:ea typeface="Pretendard" pitchFamily="34" charset="-122"/>
                <a:cs typeface="Pretendard" pitchFamily="34" charset="-120"/>
              </a:rPr>
              <a:t>새 장비/공정 추가 시 AI가 사전을 자동으로 확장하고 일관성을 검증하는 CI/CD 파이프라인은 어떻게 설계하는가?</a:t>
            </a:r>
            <a:endParaRPr lang="en-US" sz="1800" dirty="0"/>
          </a:p>
        </p:txBody>
      </p:sp>
      <p:sp>
        <p:nvSpPr>
          <p:cNvPr id="5" name="Text 3"/>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59 / 61</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5F7FA"/>
          </a:solidFill>
          <a:ln/>
        </p:spPr>
      </p:sp>
      <p:sp>
        <p:nvSpPr>
          <p:cNvPr id="3" name="Shape 1"/>
          <p:cNvSpPr/>
          <p:nvPr/>
        </p:nvSpPr>
        <p:spPr>
          <a:xfrm>
            <a:off x="5641848" y="1828800"/>
            <a:ext cx="914400" cy="54864"/>
          </a:xfrm>
          <a:prstGeom prst="rect">
            <a:avLst/>
          </a:prstGeom>
          <a:solidFill>
            <a:srgbClr val="4A7BF7"/>
          </a:solidFill>
          <a:ln/>
        </p:spPr>
      </p:sp>
      <p:sp>
        <p:nvSpPr>
          <p:cNvPr id="4" name="Text 2"/>
          <p:cNvSpPr/>
          <p:nvPr/>
        </p:nvSpPr>
        <p:spPr>
          <a:xfrm>
            <a:off x="1371600" y="2286000"/>
            <a:ext cx="9445752" cy="2286000"/>
          </a:xfrm>
          <a:prstGeom prst="rect">
            <a:avLst/>
          </a:prstGeom>
          <a:noFill/>
          <a:ln/>
        </p:spPr>
        <p:txBody>
          <a:bodyPr wrap="square" rtlCol="0" anchor="ctr"/>
          <a:lstStyle/>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“MASON의 진짜 유산은 사전 자체가 아니라,</a:t>
            </a:r>
            <a:endParaRPr lang="en-US" sz="2400" dirty="0"/>
          </a:p>
          <a:p>
            <a:pPr algn="ctr" indent="0" marL="0">
              <a:lnSpc>
                <a:spcPct val="150000"/>
              </a:lnSpc>
              <a:buNone/>
            </a:pPr>
            <a:r>
              <a:rPr lang="en-US" sz="2400" i="1" dirty="0">
                <a:solidFill>
                  <a:srgbClr val="1A1F36"/>
                </a:solidFill>
                <a:latin typeface="ChosunNm" pitchFamily="34" charset="0"/>
                <a:ea typeface="ChosunNm" pitchFamily="34" charset="-122"/>
                <a:cs typeface="ChosunNm" pitchFamily="34" charset="-120"/>
              </a:rPr>
              <a:t>‘제품-공정-자원’이라는 공통 문법이다”</a:t>
            </a:r>
            <a:endParaRPr lang="en-US" sz="2400" dirty="0"/>
          </a:p>
        </p:txBody>
      </p:sp>
      <p:sp>
        <p:nvSpPr>
          <p:cNvPr id="5" name="Text 3"/>
          <p:cNvSpPr/>
          <p:nvPr/>
        </p:nvSpPr>
        <p:spPr>
          <a:xfrm>
            <a:off x="1371600" y="4754880"/>
            <a:ext cx="9445752" cy="365760"/>
          </a:xfrm>
          <a:prstGeom prst="rect">
            <a:avLst/>
          </a:prstGeom>
          <a:noFill/>
          <a:ln/>
        </p:spPr>
        <p:txBody>
          <a:bodyPr wrap="square" rtlCol="0" anchor="ctr"/>
          <a:lstStyle/>
          <a:p>
            <a:pPr algn="ctr" indent="0" marL="0">
              <a:buNone/>
            </a:pPr>
            <a:r>
              <a:rPr lang="en-US" sz="1400" dirty="0">
                <a:solidFill>
                  <a:srgbClr val="718096"/>
                </a:solidFill>
                <a:latin typeface="Pretendard" pitchFamily="34" charset="0"/>
                <a:ea typeface="Pretendard" pitchFamily="34" charset="-122"/>
                <a:cs typeface="Pretendard" pitchFamily="34" charset="-120"/>
              </a:rPr>
              <a:t>— 본 보고서 종합 판단</a:t>
            </a:r>
            <a:endParaRPr lang="en-US" sz="1400" dirty="0"/>
          </a:p>
        </p:txBody>
      </p:sp>
      <p:sp>
        <p:nvSpPr>
          <p:cNvPr id="6" name="Text 4"/>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60 / 61</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548640" y="457200"/>
            <a:ext cx="1097280" cy="54864"/>
          </a:xfrm>
          <a:prstGeom prst="rect">
            <a:avLst/>
          </a:prstGeom>
          <a:solidFill>
            <a:srgbClr val="4A7BF7"/>
          </a:solidFill>
          <a:ln/>
        </p:spPr>
      </p:sp>
      <p:sp>
        <p:nvSpPr>
          <p:cNvPr id="3" name="Text 1"/>
          <p:cNvSpPr/>
          <p:nvPr/>
        </p:nvSpPr>
        <p:spPr>
          <a:xfrm>
            <a:off x="548640" y="594360"/>
            <a:ext cx="9144000" cy="548640"/>
          </a:xfrm>
          <a:prstGeom prst="rect">
            <a:avLst/>
          </a:prstGeom>
          <a:noFill/>
          <a:ln/>
        </p:spPr>
        <p:txBody>
          <a:bodyPr wrap="square" rtlCol="0" anchor="ctr"/>
          <a:lstStyle/>
          <a:p>
            <a:pPr indent="0" marL="0">
              <a:buNone/>
            </a:pPr>
            <a:r>
              <a:rPr lang="en-US" sz="2800" b="1" spc="-30" kern="0" dirty="0">
                <a:solidFill>
                  <a:srgbClr val="1A1F36"/>
                </a:solidFill>
                <a:latin typeface="Pretendard SemiBold" pitchFamily="34" charset="0"/>
                <a:ea typeface="Pretendard SemiBold" pitchFamily="34" charset="-122"/>
                <a:cs typeface="Pretendard SemiBold" pitchFamily="34" charset="-120"/>
              </a:rPr>
              <a:t>공장의 공통 언어는 아직 완성되지 않았다</a:t>
            </a:r>
            <a:endParaRPr lang="en-US" sz="2800" dirty="0"/>
          </a:p>
        </p:txBody>
      </p:sp>
      <p:sp>
        <p:nvSpPr>
          <p:cNvPr id="4" name="Shape 2"/>
          <p:cNvSpPr/>
          <p:nvPr/>
        </p:nvSpPr>
        <p:spPr>
          <a:xfrm>
            <a:off x="731520" y="1783080"/>
            <a:ext cx="411480" cy="411480"/>
          </a:xfrm>
          <a:prstGeom prst="ellipse">
            <a:avLst/>
          </a:prstGeom>
          <a:solidFill>
            <a:srgbClr val="4A7BF7"/>
          </a:solidFill>
          <a:ln/>
        </p:spPr>
      </p:sp>
      <p:sp>
        <p:nvSpPr>
          <p:cNvPr id="5" name="Text 3"/>
          <p:cNvSpPr/>
          <p:nvPr/>
        </p:nvSpPr>
        <p:spPr>
          <a:xfrm>
            <a:off x="731520" y="1783080"/>
            <a:ext cx="411480" cy="411480"/>
          </a:xfrm>
          <a:prstGeom prst="rect">
            <a:avLst/>
          </a:prstGeom>
          <a:noFill/>
          <a:ln/>
        </p:spPr>
        <p:txBody>
          <a:bodyPr wrap="square" rtlCol="0" anchor="ctr"/>
          <a:lstStyle/>
          <a:p>
            <a:pPr algn="ctr" indent="0" marL="0">
              <a:buNone/>
            </a:pPr>
            <a:r>
              <a:rPr lang="en-US" sz="1600" b="1" dirty="0">
                <a:solidFill>
                  <a:srgbClr val="FFFFFF"/>
                </a:solidFill>
                <a:latin typeface="Pretendard SemiBold" pitchFamily="34" charset="0"/>
                <a:ea typeface="Pretendard SemiBold" pitchFamily="34" charset="-122"/>
                <a:cs typeface="Pretendard SemiBold" pitchFamily="34" charset="-120"/>
              </a:rPr>
              <a:t>1</a:t>
            </a:r>
            <a:endParaRPr lang="en-US" sz="1600" dirty="0"/>
          </a:p>
        </p:txBody>
      </p:sp>
      <p:sp>
        <p:nvSpPr>
          <p:cNvPr id="6" name="Text 4"/>
          <p:cNvSpPr/>
          <p:nvPr/>
        </p:nvSpPr>
        <p:spPr>
          <a:xfrm>
            <a:off x="1371600" y="1737360"/>
            <a:ext cx="10268712" cy="502920"/>
          </a:xfrm>
          <a:prstGeom prst="rect">
            <a:avLst/>
          </a:prstGeom>
          <a:noFill/>
          <a:ln/>
        </p:spPr>
        <p:txBody>
          <a:bodyPr wrap="square" rtlCol="0" anchor="ctr"/>
          <a:lstStyle/>
          <a:p>
            <a:pPr indent="0" marL="0">
              <a:buNone/>
            </a:pPr>
            <a:r>
              <a:rPr lang="en-US" sz="1600" dirty="0">
                <a:solidFill>
                  <a:srgbClr val="1A1F36"/>
                </a:solidFill>
                <a:latin typeface="Pretendard" pitchFamily="34" charset="0"/>
                <a:ea typeface="Pretendard" pitchFamily="34" charset="-122"/>
                <a:cs typeface="Pretendard" pitchFamily="34" charset="-120"/>
              </a:rPr>
              <a:t>MASON은 직접 배포하는 도구가 아니라, 모든 제조 사전의 뼈대를 만든 개념적 유산이다.</a:t>
            </a:r>
            <a:endParaRPr lang="en-US" sz="1600" dirty="0"/>
          </a:p>
        </p:txBody>
      </p:sp>
      <p:sp>
        <p:nvSpPr>
          <p:cNvPr id="7" name="Shape 5"/>
          <p:cNvSpPr/>
          <p:nvPr/>
        </p:nvSpPr>
        <p:spPr>
          <a:xfrm>
            <a:off x="731520" y="2468880"/>
            <a:ext cx="411480" cy="411480"/>
          </a:xfrm>
          <a:prstGeom prst="ellipse">
            <a:avLst/>
          </a:prstGeom>
          <a:solidFill>
            <a:srgbClr val="4A7BF7"/>
          </a:solidFill>
          <a:ln/>
        </p:spPr>
      </p:sp>
      <p:sp>
        <p:nvSpPr>
          <p:cNvPr id="8" name="Text 6"/>
          <p:cNvSpPr/>
          <p:nvPr/>
        </p:nvSpPr>
        <p:spPr>
          <a:xfrm>
            <a:off x="731520" y="2468880"/>
            <a:ext cx="411480" cy="411480"/>
          </a:xfrm>
          <a:prstGeom prst="rect">
            <a:avLst/>
          </a:prstGeom>
          <a:noFill/>
          <a:ln/>
        </p:spPr>
        <p:txBody>
          <a:bodyPr wrap="square" rtlCol="0" anchor="ctr"/>
          <a:lstStyle/>
          <a:p>
            <a:pPr algn="ctr" indent="0" marL="0">
              <a:buNone/>
            </a:pPr>
            <a:r>
              <a:rPr lang="en-US" sz="1600" b="1" dirty="0">
                <a:solidFill>
                  <a:srgbClr val="FFFFFF"/>
                </a:solidFill>
                <a:latin typeface="Pretendard SemiBold" pitchFamily="34" charset="0"/>
                <a:ea typeface="Pretendard SemiBold" pitchFamily="34" charset="-122"/>
                <a:cs typeface="Pretendard SemiBold" pitchFamily="34" charset="-120"/>
              </a:rPr>
              <a:t>2</a:t>
            </a:r>
            <a:endParaRPr lang="en-US" sz="1600" dirty="0"/>
          </a:p>
        </p:txBody>
      </p:sp>
      <p:sp>
        <p:nvSpPr>
          <p:cNvPr id="9" name="Text 7"/>
          <p:cNvSpPr/>
          <p:nvPr/>
        </p:nvSpPr>
        <p:spPr>
          <a:xfrm>
            <a:off x="1371600" y="2423160"/>
            <a:ext cx="10268712" cy="502920"/>
          </a:xfrm>
          <a:prstGeom prst="rect">
            <a:avLst/>
          </a:prstGeom>
          <a:noFill/>
          <a:ln/>
        </p:spPr>
        <p:txBody>
          <a:bodyPr wrap="square" rtlCol="0" anchor="ctr"/>
          <a:lstStyle/>
          <a:p>
            <a:pPr indent="0" marL="0">
              <a:buNone/>
            </a:pPr>
            <a:r>
              <a:rPr lang="en-US" sz="1600" dirty="0">
                <a:solidFill>
                  <a:srgbClr val="1A1F36"/>
                </a:solidFill>
                <a:latin typeface="Pretendard" pitchFamily="34" charset="0"/>
                <a:ea typeface="Pretendard" pitchFamily="34" charset="-122"/>
                <a:cs typeface="Pretendard" pitchFamily="34" charset="-120"/>
              </a:rPr>
              <a:t>사전의 가장 큰 적은 AI가 아니라 유지보수 비용이며, AI는 오히려 동맹이 될 수 있다.</a:t>
            </a:r>
            <a:endParaRPr lang="en-US" sz="1600" dirty="0"/>
          </a:p>
        </p:txBody>
      </p:sp>
      <p:sp>
        <p:nvSpPr>
          <p:cNvPr id="10" name="Shape 8"/>
          <p:cNvSpPr/>
          <p:nvPr/>
        </p:nvSpPr>
        <p:spPr>
          <a:xfrm>
            <a:off x="731520" y="3154680"/>
            <a:ext cx="411480" cy="411480"/>
          </a:xfrm>
          <a:prstGeom prst="ellipse">
            <a:avLst/>
          </a:prstGeom>
          <a:solidFill>
            <a:srgbClr val="4A7BF7"/>
          </a:solidFill>
          <a:ln/>
        </p:spPr>
      </p:sp>
      <p:sp>
        <p:nvSpPr>
          <p:cNvPr id="11" name="Text 9"/>
          <p:cNvSpPr/>
          <p:nvPr/>
        </p:nvSpPr>
        <p:spPr>
          <a:xfrm>
            <a:off x="731520" y="3154680"/>
            <a:ext cx="411480" cy="411480"/>
          </a:xfrm>
          <a:prstGeom prst="rect">
            <a:avLst/>
          </a:prstGeom>
          <a:noFill/>
          <a:ln/>
        </p:spPr>
        <p:txBody>
          <a:bodyPr wrap="square" rtlCol="0" anchor="ctr"/>
          <a:lstStyle/>
          <a:p>
            <a:pPr algn="ctr" indent="0" marL="0">
              <a:buNone/>
            </a:pPr>
            <a:r>
              <a:rPr lang="en-US" sz="1600" b="1" dirty="0">
                <a:solidFill>
                  <a:srgbClr val="FFFFFF"/>
                </a:solidFill>
                <a:latin typeface="Pretendard SemiBold" pitchFamily="34" charset="0"/>
                <a:ea typeface="Pretendard SemiBold" pitchFamily="34" charset="-122"/>
                <a:cs typeface="Pretendard SemiBold" pitchFamily="34" charset="-120"/>
              </a:rPr>
              <a:t>3</a:t>
            </a:r>
            <a:endParaRPr lang="en-US" sz="1600" dirty="0"/>
          </a:p>
        </p:txBody>
      </p:sp>
      <p:sp>
        <p:nvSpPr>
          <p:cNvPr id="12" name="Text 10"/>
          <p:cNvSpPr/>
          <p:nvPr/>
        </p:nvSpPr>
        <p:spPr>
          <a:xfrm>
            <a:off x="1371600" y="3108960"/>
            <a:ext cx="10268712" cy="502920"/>
          </a:xfrm>
          <a:prstGeom prst="rect">
            <a:avLst/>
          </a:prstGeom>
          <a:noFill/>
          <a:ln/>
        </p:spPr>
        <p:txBody>
          <a:bodyPr wrap="square" rtlCol="0" anchor="ctr"/>
          <a:lstStyle/>
          <a:p>
            <a:pPr indent="0" marL="0">
              <a:buNone/>
            </a:pPr>
            <a:r>
              <a:rPr lang="en-US" sz="1600" dirty="0">
                <a:solidFill>
                  <a:srgbClr val="1A1F36"/>
                </a:solidFill>
                <a:latin typeface="Pretendard" pitchFamily="34" charset="0"/>
                <a:ea typeface="Pretendard" pitchFamily="34" charset="-122"/>
                <a:cs typeface="Pretendard" pitchFamily="34" charset="-120"/>
              </a:rPr>
              <a:t>‘제품-공정-자원’ 구조를 현대 표준 안에서 재활용하는 것이 현실적 경로다.</a:t>
            </a:r>
            <a:endParaRPr lang="en-US" sz="1600" dirty="0"/>
          </a:p>
        </p:txBody>
      </p:sp>
      <p:sp>
        <p:nvSpPr>
          <p:cNvPr id="13" name="Shape 11"/>
          <p:cNvSpPr/>
          <p:nvPr/>
        </p:nvSpPr>
        <p:spPr>
          <a:xfrm>
            <a:off x="548640" y="4069080"/>
            <a:ext cx="11091672" cy="0"/>
          </a:xfrm>
          <a:prstGeom prst="line">
            <a:avLst/>
          </a:prstGeom>
          <a:noFill/>
          <a:ln w="6350">
            <a:solidFill>
              <a:srgbClr val="E2E8F0"/>
            </a:solidFill>
            <a:prstDash val="solid"/>
          </a:ln>
        </p:spPr>
      </p:sp>
      <p:sp>
        <p:nvSpPr>
          <p:cNvPr id="14" name="Text 12"/>
          <p:cNvSpPr/>
          <p:nvPr/>
        </p:nvSpPr>
        <p:spPr>
          <a:xfrm>
            <a:off x="10972800" y="6446520"/>
            <a:ext cx="914400" cy="274320"/>
          </a:xfrm>
          <a:prstGeom prst="rect">
            <a:avLst/>
          </a:prstGeom>
          <a:noFill/>
          <a:ln/>
        </p:spPr>
        <p:txBody>
          <a:bodyPr wrap="square" rtlCol="0" anchor="ctr"/>
          <a:lstStyle/>
          <a:p>
            <a:pPr algn="r" indent="0" marL="0">
              <a:buNone/>
            </a:pPr>
            <a:r>
              <a:rPr lang="en-US" sz="900" dirty="0">
                <a:solidFill>
                  <a:srgbClr val="718096"/>
                </a:solidFill>
                <a:latin typeface="Pretendard" pitchFamily="34" charset="0"/>
                <a:ea typeface="Pretendard" pitchFamily="34" charset="-122"/>
                <a:cs typeface="Pretendard" pitchFamily="34" charset="-120"/>
              </a:rPr>
              <a:t>61 / 61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2026-03-20T02:06:06Z</dcterms:created>
  <dcterms:modified xsi:type="dcterms:W3CDTF">2026-03-20T02:06:06Z</dcterms:modified>
</cp:coreProperties>
</file>