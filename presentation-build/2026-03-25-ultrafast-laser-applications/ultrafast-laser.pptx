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3200400"/>
            <a:ext cx="6400800" cy="4572000"/>
          </a:xfrm>
          <a:prstGeom prst="roundRect">
            <a:avLst>
              <a:gd name="adj" fmla="val 60000"/>
            </a:avLst>
          </a:prstGeom>
          <a:solidFill>
            <a:srgbClr val="0A3060"/>
          </a:solidFill>
          <a:ln w="12700">
            <a:solidFill>
              <a:srgbClr val="0A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274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862072"/>
            <a:ext cx="12188952" cy="1371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64008" cy="27432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가공/프로세싱 엔지니어를 위한 심화 세미나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spc="-8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초단파 레이저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spc="-8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멀티도메인 어플리케이션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펨토/피코초 레이저의 산업·의료·과학 활용과 의사결정 가이드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05840" y="4617720"/>
            <a:ext cx="4572000" cy="27432"/>
          </a:xfrm>
          <a:prstGeom prst="rect">
            <a:avLst/>
          </a:prstGeom>
          <a:solidFill>
            <a:srgbClr val="3A446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제조  |  의료/안과  |  바이오/과학  |  시장 분석  |  TCO 의사결정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87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2026-03-25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레이저는 4개 도메인에서 혁신을 만들고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74320" cy="10058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11680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10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 제조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1810512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반도체·디스플레이·배터리·EV 등 8대 어플리케이션에서 양산 확립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고반복률·GHz 버스트 모드가 처리속도와 품질 동시 달성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52928"/>
            <a:ext cx="274320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127248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2926080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안과(FS-LASIK, SMILE, FLACS) 임상 확립, 피부과 ps 레이저 표준화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서브-mm 정밀 절제로 생체 열손상 최소화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968496"/>
            <a:ext cx="274320" cy="10058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242816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041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바이오/과학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4041648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PLAL 나노입자 합성, 2PP 3D 나노프린팅, 아토초 과학(2023 노벨 물리학상)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극한 시공간 분해능으로 기초과학 패러다임 전환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84064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84064"/>
            <a:ext cx="274320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358384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51572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26080" y="5157216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$2.4~2.9B, CAGR 15~17% (2025~2031), 아시아-태평양 38% 1위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배터리·반도체 수요가 성장 엔진, 섬유 레이저가 점유율 확대 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47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프레젠테이션에서 얻어갈 5가지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755648"/>
            <a:ext cx="9326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"콜드 어블레이션"의 근본 원리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20848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13배 감소가 어떻게 가능한지 — 전자-격자 열화 시간보다 짧은 펄스의 물리적 의미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61872" y="2651760"/>
            <a:ext cx="9326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"fs &gt; ps" 통념이 틀린 이유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2980944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재료별 열확산 시간 기반 최적 펄스폭 선택 — 비용과 성능의 실제 트레이드오프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639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3547872"/>
            <a:ext cx="9326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GHz 버스트 + kW급 고출력의 산업적 의의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1872" y="3877056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속도와 품질 동시 달성이 배터리·반도체 양산 진입을 어떻게 열었는가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79976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5354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535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1872" y="4443984"/>
            <a:ext cx="9326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산업/의료/과학 각 도메인의 성숙도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61872" y="477316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양산 확립 vs. 임상 확립 vs. 연구 단계 — 도메인별 현재 상태와 핵심 성과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76088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54315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61872" y="5340096"/>
            <a:ext cx="9326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TCO 관점의 도입 의사결정 가이드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61872" y="5669280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역방향 조건-행동 테이블: "결과가 X이면 → Y를 선택하라" 프레임워크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원리 → 적용 → 선택 → 시장 → 의사결정 순서로 진행한다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프레젠테이션 로드맵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4805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1600200" cy="5029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48256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Part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원리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콜드 어블레이션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fs/ps/ns 비교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22576" y="30632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42032" y="201168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2011680"/>
            <a:ext cx="1600200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2048256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Part 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2606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 제조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33472" y="31089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어플리케이션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양산 실적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78808" y="30632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98264" y="201168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98264" y="2011680"/>
            <a:ext cx="1600200" cy="502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0" name="Text 18"/>
          <p:cNvSpPr/>
          <p:nvPr/>
        </p:nvSpPr>
        <p:spPr>
          <a:xfrm>
            <a:off x="4398264" y="2048256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Part 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9704" y="2606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의료/과학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9704" y="31089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안과·피부과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PLAL·2PP·아토초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30632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54496" y="201168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2011680"/>
            <a:ext cx="16002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2048256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Part 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45936" y="2606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fs vs ps 선택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5936" y="31089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재료별 기준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TCO 최적화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91272" y="30632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110728" y="201168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0728" y="2011680"/>
            <a:ext cx="160020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8110728" y="2048256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Part 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2168" y="2606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02168" y="31089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$2.4~2.9B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CAGR 15~17%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47504" y="30632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966960" y="201168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66960" y="2011680"/>
            <a:ext cx="16002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9966960" y="2048256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Part 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0" y="2606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의사결정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0" y="31089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역방향 가이드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체크리스트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각 Part는 독립적으로 참조 가능 — 필요한 섹션만 선택적으로 활용하라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47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USP 레이저는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왜 다른가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4663440"/>
            <a:ext cx="3200400" cy="36576"/>
          </a:xfrm>
          <a:prstGeom prst="rect">
            <a:avLst/>
          </a:prstGeom>
          <a:solidFill>
            <a:srgbClr val="3A446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8288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파트에서 다루는 내용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0" y="2423160"/>
            <a:ext cx="6217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2423160"/>
            <a:ext cx="73152" cy="7772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253288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 vs ps vs fs: 펄스폭이 결정하는 모든 것 (HAZ·메커니즘·용도)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3337560"/>
            <a:ext cx="6217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3337560"/>
            <a:ext cx="73152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344728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"콜드 어블레이션"의 물리적 근거 — 전자-격자 열화 시간의 의미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4251960"/>
            <a:ext cx="6217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4251960"/>
            <a:ext cx="73152" cy="7772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436168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소스 종류별 특성: Ti:Sapphire / Yb:fiber / Yb:YAG / UV 변환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5166360"/>
            <a:ext cx="6217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516636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527608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고반복률(&gt;1 MHz) 열 누적 현상 — 이상적 콜드 어블레이션 가정의 한계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USP는 열이 전달되기 전에 물질을 제거한다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922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ns 레이저 (열 가공)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331720"/>
            <a:ext cx="5065776" cy="566928"/>
          </a:xfrm>
          <a:prstGeom prst="roundRect">
            <a:avLst>
              <a:gd name="adj" fmla="val 9677"/>
            </a:avLst>
          </a:prstGeom>
          <a:solidFill>
            <a:srgbClr val="252B45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331720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4144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용융/증발 메커니즘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008376"/>
            <a:ext cx="5065776" cy="566928"/>
          </a:xfrm>
          <a:prstGeom prst="roundRect">
            <a:avLst>
              <a:gd name="adj" fmla="val 9677"/>
            </a:avLst>
          </a:prstGeom>
          <a:solidFill>
            <a:srgbClr val="252B45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008376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18104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HAZ: 수십 ~ 수백 µm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3685032"/>
            <a:ext cx="5065776" cy="566928"/>
          </a:xfrm>
          <a:prstGeom prst="roundRect">
            <a:avLst>
              <a:gd name="adj" fmla="val 9677"/>
            </a:avLst>
          </a:prstGeom>
          <a:solidFill>
            <a:srgbClr val="252B45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685032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94760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디브리·용융물 다량 발생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4361688"/>
            <a:ext cx="5065776" cy="566928"/>
          </a:xfrm>
          <a:prstGeom prst="roundRect">
            <a:avLst>
              <a:gd name="adj" fmla="val 9677"/>
            </a:avLst>
          </a:prstGeom>
          <a:solidFill>
            <a:srgbClr val="252B45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361688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7141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재용착층(resolidification layer) 형성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" y="5038344"/>
            <a:ext cx="5065776" cy="566928"/>
          </a:xfrm>
          <a:prstGeom prst="roundRect">
            <a:avLst>
              <a:gd name="adj" fmla="val 9677"/>
            </a:avLst>
          </a:prstGeom>
          <a:solidFill>
            <a:srgbClr val="252B45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5038344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48072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구조물·소재에 열손상 전달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7373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79222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콜드 어블레이션 (fs/ps)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82512" y="2331720"/>
            <a:ext cx="515721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331720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441448"/>
            <a:ext cx="4983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다광자 이온화 → 쿨롱 폭발(Coulomb explosion)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82512" y="3008376"/>
            <a:ext cx="515721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3008376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118104"/>
            <a:ext cx="4983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≤ 1.5 µm (Al, fs 조건)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82512" y="3685032"/>
            <a:ext cx="515721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3685032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3794760"/>
            <a:ext cx="4983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디브리 극소 — 후처리 부담 대폭 감소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82512" y="4361688"/>
            <a:ext cx="515721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4361688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471416"/>
            <a:ext cx="4983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재용착층 없음 — 클린 절단면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82512" y="5038344"/>
            <a:ext cx="515721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5038344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5148072"/>
            <a:ext cx="4983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펄스폭 &lt; 전자-격자 열화 시간(1~10 ps)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126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MDPI Micromachines 2014; IntechOpen 2016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47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ns/ps/fs 레이저 3종 비교 — 펄스폭이 모든 차이를 만든다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5720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나노초 (ns)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피코초 (ps)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 (fs)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06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 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10⁻⁹ s  (1 ns)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10⁻¹² s  (1 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10⁻¹⁵ s  (1 fs)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열-기계 결합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강함 (열 전도 지배)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약함 (경계선)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없음 (콜드 어블레이션)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HAZ (Al 기준)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 ~ 수백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≤ 1.5 µm (실측)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 메커니즘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용융/증발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다광자 흡수 + 부분 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다광자 이온화, 쿨롱 폭발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디브리/용융물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많음 — 후처리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극소 — 클린 절단면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적용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절삭, 마킹, 조각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마이크로머시닝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초정밀, 세라믹/유리, 생체조직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47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HAZ 13배 차이: Al에서 200 fs → 1.5 µm vs 8 ns → 20 µm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011680"/>
            <a:ext cx="3438144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fs HAZ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≤ 1.5 µm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30906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200 fs 펄스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Al 기준 실측값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2011680"/>
            <a:ext cx="3438144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148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ns HAZ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4871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 µm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34840" y="30906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 ns 펄스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Al 기준 비교값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2011680"/>
            <a:ext cx="3438144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148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품질 차이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24871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13× 감소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183880" y="30906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fs 채용 시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HAZ 폭 기준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HAZ 폭 시각 비교 (Al, 상대적 크기)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22960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fs: 1.5 µm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0058400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805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ns: 20 µm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MDPI Micromachines 2014 (200 fs vs 8 ns, Al 기준)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1996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주의: 고반복률(&gt;1 MHz) 시 열 누적으로 HAZ 증가 가능 — 파라미터 최적화 필수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47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경계 조건: 재료에 따라 fs/ps 선택 기준이 달라진다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74320" cy="9601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01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금속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19456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945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ex) Cu, Al, Ti, 스테인리스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80136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전자-격자 열화 시간 ~1~10 ps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10 ps 이하에서 fs와 ps 품질 차이 미미 — ps가 비용 효율적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단, 고반복률 공정에서는 열 누적 설계 필수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88920"/>
            <a:ext cx="274320" cy="960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52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투명 유전체 (유리 / SiC)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324612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461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ex) 붕규산 유리, 사파이어, SiC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285292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열확산 시간 50~100 ps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ps도 fs와 유사한 냉간 절제 달성 가능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OLED 유리 다이싱: 산업 표준 = ps (비용·신뢰성 우수)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274320" cy="9601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904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생체 조직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429768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2976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ex) 각막, 연조직, 신경 조직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390448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정밀도 요구 극대 — fs 필수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안과(FS-LASIK, SMILE, FLACS): 각막 절개 깊이 µm 수준 정밀 제어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신경외과, 조직 미세 절제 연구에서 fs 이외 대안 없음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892040"/>
            <a:ext cx="27432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9560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경계선 영역 (~10~50 ps)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534924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34924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ex) PCB 다층 구조, 세라믹 복합재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4956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기준 fs-ps 품질 차이가 작아지는 구간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비용 합리적 ps 선택 가능 — "최고 스펙(fs)"이 아닌 "적합 스펙"이 TCO 최적화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결정 기준: (요구 HAZ) vs (ps 장비 비용 절감분)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943600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961888"/>
            <a:ext cx="10725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"최고 스펙(fs)"이 아닌 "적합 스펙"이 TCO를 최적화한다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47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고반복률(&gt;1 MHz)에서 "콜드 어블레이션" 가정이 깨진다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92224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단일 펄스 / 저반복률 (&lt; 1 MHz)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304288"/>
            <a:ext cx="502005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304288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140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 간 열 확산 충분 — 완전 냉각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2962656"/>
            <a:ext cx="502005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962656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723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이상적 콜드 어블레이션 구현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3621024"/>
            <a:ext cx="502005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621024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3075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극소 — fs/ps 이론값에 근접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4279392"/>
            <a:ext cx="502005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279392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891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연구용·정밀 가공 공정에 적합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737360"/>
            <a:ext cx="5422392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737360"/>
            <a:ext cx="5422392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79222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고반복률 (&gt; 1 MHz) — 열 누적 발생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82512" y="2304288"/>
            <a:ext cx="5093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2304288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414016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 간 열 잔류 — 누적 ΔT ~7,000°C 가능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82512" y="2962656"/>
            <a:ext cx="5093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962656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072384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이론값보다 실측값 훨씬 증가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82512" y="3621024"/>
            <a:ext cx="5093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3621024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73075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균일성 저하, 미세 크랙 위험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82512" y="4279392"/>
            <a:ext cx="5093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279392"/>
            <a:ext cx="64008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389120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배터리 전극 롤투롤: 고속 + 균일성 상충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285232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FF0F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285232"/>
            <a:ext cx="274320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321808"/>
            <a:ext cx="10515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 제약: 열 누적이 가공 파라미터(반복률·펄스 에너지·스캔 속도) 설계를 결정한다 — 파라미터 최적화 필수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14476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De Gruyter 배터리 레이저 가공 리뷰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47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레이저 소스: 섬유 레이저가 산업 주류를 장악 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091672" cy="97840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19072"/>
            <a:ext cx="274320" cy="9784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739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Ti:Sapphire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22199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21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연구용 표준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7739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파장: 800 nm | 펄스폭: 수십 fs | 가격: 고가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1762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최단 펄스·최고 첨두 출력 달성 가능    - 유지 복잡, MTBF 낮음, 산업 라인 부적합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91672" cy="978408"/>
          </a:xfrm>
          <a:prstGeom prst="roundRect">
            <a:avLst>
              <a:gd name="adj" fmla="val 654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88920"/>
            <a:ext cx="274320" cy="9784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843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Yb:Fiber (섬유 레이저)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32918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산업 표준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32735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~46%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0" y="28437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파장: 1030/1064 nm | 펄스폭: 수백 fs ~ 수 ps | MTBF: 50,000시간+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점유율 ~46% — 생산라인 가동률 신뢰성    - 극초단 펄스(&lt; 200 fs)는 구현 어려움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58768"/>
            <a:ext cx="11091672" cy="97840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58768"/>
            <a:ext cx="274320" cy="9784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913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Yb:YAG / Nd:YAG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" y="436168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3616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ps 레이저 주류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39136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파장: 1030/1064 nm | 펄스폭: 수 ps ~ 수십 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43159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fs 대비 비용 효율 우수, 고출력 확보 용이    - 초정밀 생체/반도체 응용에서 fs 대비 제한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928616"/>
            <a:ext cx="11091672" cy="978408"/>
          </a:xfrm>
          <a:prstGeom prst="roundRect">
            <a:avLst>
              <a:gd name="adj" fmla="val 654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928616"/>
            <a:ext cx="274320" cy="9784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983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UV 변환 (343/355 nm)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431536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4315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특수 용도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4983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파장: 343 nm (Yb 3배) 또는 355 nm (Nd 3배)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538581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PCB·반도체·유기재료 전용 — 더 작은 초점 크기, 흡수율 향상    - 변환 손실 존재, 출력 제한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989320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6007608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섬유 레이저 MTBF 50,000시간+ → 생산라인 가동률 신뢰성이 채택을 결정한다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47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산업 제조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8대 핵심 어플리케이션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3200400" cy="36576"/>
          </a:xfrm>
          <a:prstGeom prst="rect">
            <a:avLst/>
          </a:prstGeom>
          <a:solidFill>
            <a:srgbClr val="3A446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371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8대 어플리케이션 미리보기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0" y="196596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1965960"/>
            <a:ext cx="256032" cy="9601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5321808" y="222199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50992" y="20208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50992" y="2395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Via drilling, Wafer dicing, 결함 수리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49640" y="196596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965960"/>
            <a:ext cx="256032" cy="960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567928" y="222199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97112" y="20208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디스플레이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97112" y="2395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OLED 봉지 절단, μLED 리페어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306324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063240"/>
            <a:ext cx="256032" cy="9601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331927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50992" y="31181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배터리/EV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50992" y="34930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전극 패터닝, 탭 용접, 롤투롤 고속 가공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49640" y="306324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9640" y="3063240"/>
            <a:ext cx="256032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8567928" y="331927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97112" y="31181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표면 텍스처링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97112" y="34930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DLIP 구조 창출, 항마찰·항균 기능 부여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416052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160520"/>
            <a:ext cx="256032" cy="960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5321808" y="441655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50992" y="42153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금속 정밀 가공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50992" y="45902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항공우주 Ni합금·Ti 드릴링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49640" y="416052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4160520"/>
            <a:ext cx="256032" cy="9601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5" name="Text 33"/>
          <p:cNvSpPr/>
          <p:nvPr/>
        </p:nvSpPr>
        <p:spPr>
          <a:xfrm>
            <a:off x="8567928" y="441655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97112" y="42153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세라믹/복합재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897112" y="45902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SiC, Al₂O₃ 냉간 절제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03520" y="525780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5257800"/>
            <a:ext cx="256032" cy="960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5321808" y="551383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50992" y="53126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유리 용접/접합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50992" y="56875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LBGW — HAZ 없는 직접 본딩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49640" y="5257800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9640" y="5257800"/>
            <a:ext cx="256032" cy="9601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5" name="Text 43"/>
          <p:cNvSpPr/>
          <p:nvPr/>
        </p:nvSpPr>
        <p:spPr>
          <a:xfrm>
            <a:off x="8567928" y="551383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897112" y="53126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태양전지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897112" y="56875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CIGS 스크라이빙, Si 다이싱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SiC 다이싱: 3가지 USP 공정이 재료 손실 30~40%를 해결한다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성과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6패스 fs 레이어드 스텔스 다이싱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 ~270 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개질층 &lt;8 µm, Ra 224 nm, 종횡비 9.85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멀티포컬 ps 슬라이싱 (4-focal)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피코초 1064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 1.3→0.432 µm, 6인치 4H-SiC 분리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시간형상 펄스열 슬라이싱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 (복굴절 결정)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개질층 16.5 µm (재료 손실 최소화)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91672" cy="141732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91032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MDPI JMMP SiC 리뷰 2025-12-19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523036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SiC 어블레이션 임계값: 2.35 J/cm² (개질) | 4.97 J/cm² (변환) | 1035 nm fs 기준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555040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손실 30~40% 저감 = 고단가 SiC 웨이퍼 원가 절감의 핵심 레버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47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PCB/TSV 비아홀: UV fs로 직경 &lt;10 µm, 종횡비 10:1 달성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74320" cy="8229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4767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UV 펨토초 레이저(515 nm)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9514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MPI 기판 드릴링, HAZ 없음, 탄화 없음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274320" cy="8229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0779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공정 파라미터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5526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펄스 에너지 3.4~8 µJ, 펄스 중첩률 96~98%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274320" cy="8229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6791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피코초 레이저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21538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현재 단일층 PCB 직경 &lt;10 µm 홀, 0~2 µm 간격 실현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54880"/>
            <a:ext cx="27432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2803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TSV 적용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17550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HBM 3D 패키징에서 삼성·SK하이닉스 배포 중 (Mordor 2026)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81558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피코초 레이저가 나노초 대비 탄화를 완전히 제거 → 고밀도 HDI 기판 가능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47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디스플레이: OLED 형상 커팅 + UTG 필라멘테이션 4가지 핵심 성과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OLED 형상 커팅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UV fs 레이저, HAZ &lt;10 µm, 카메라홀·비직선 형상, 픽셀 수리(인접 손상 없음)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73736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PI/HC/PET 적층 커팅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UV ps 레이저(IceFyre 355-50, 1.25 MHz, ~10 ps, &gt;50 W), 속도 &gt;400 mm/s, HAZ &lt;10 µm (LiM 2021 ★★★)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UTG 필라멘테이션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Bessel 빔/TOP Cleave 광학계, 내부 개질→제어 균열, 제로 테이퍼·제로 커프, 거울 표면, 속도 최대 1 m/s (TRUMPF ★★★)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강화유리 주의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화학적 강화유리 잔류응력 → 크랙 이탈 위험. 50 µm 미만 박판: 펄스 &lt;1 ps 필요. 공정 윈도우 협소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47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배터리 전극 패터닝: kWh당 $1.3~1.5로 4C 충전 성능 2배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3657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전극 (평면 구조)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Li⁺ 이온 확산 거리 길어 → 고속 충전 한계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12724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두꺼운 전극 = 에너지 밀도 ↑ but 충전 속도 ↓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95020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기계적 다이커터: 버(burr)/박리 → 배터리 열화, 쇼트 위험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737360"/>
            <a:ext cx="5362956" cy="3657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28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패터닝 전극 (마이크로채널)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304288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fs 레이저 어블레이션으로 기공·채널 구조 형성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017520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Li⁺ 이동 경로 단축 → NREL: 4C 충전 시 용량 최대 2배, 사이클 수명 향상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30752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경제성: 기존 생산라인 통합 시 비용 증가 ~$1.3~1.5/kWh (~2%)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4443984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NREL BatMan 프로젝트: 160 mm 폭 양면 그라파이트 1,200 m+ 롤투롤 처리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8E7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59612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[양산 검증 필요 ★★] 벤치스케일 결과 — 롤투롤 균일성은 검증 초기 단계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47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배터리 전극 커팅 + 모듈 용접: 버 없는 고속 공정 확립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74320" cy="8229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4767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전극 노칭/슬리팅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9514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 W fs + 패스트 버스트 모드 (Luxinar LXR® USP) — 버 없는 고속 절삭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274320" cy="8229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0779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세라믹 전해질 커팅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5526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LATP/LAGTP 경도·취성 → ps 레이저로 정밀 커팅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274320" cy="8229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6791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모듈 용접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21538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TRUMPF 1 kW USP 레이저 — 배터리 모듈 용접·냉각판 실링·알루미늄 코팅 전처리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54880"/>
            <a:ext cx="27432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2803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부식 방지 처리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17550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표면 활성화로 접착 전처리 대체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81558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TRUMPF 1kW USP (2024년 8월 출하, Fraunhofer ILT 검증 ★★★)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LIPSS 표면 텍스처링: 5가지 기능성 표면을 레이저 한 번으로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87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350215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초발수(Superhydrophobic)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72968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접촉각 &gt;150°, 방오·방빙·방부식. 소재: STS, Al. 조건: fs/ps + 낮은 플루언스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737360"/>
            <a:ext cx="35387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50215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92024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저마찰(Tribology)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7992" y="2240280"/>
            <a:ext cx="3172968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주기적 기둥/홈 패턴. 금형 이형성·베어링 수명. STS 적용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5387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737360"/>
            <a:ext cx="350215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192024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항균(Antibacterial)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4464" y="2240280"/>
            <a:ext cx="3172968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LIPSS + DLIP 조합. 식품·의료기기 표면. 금속·폴리머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387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931920"/>
            <a:ext cx="35021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반사 저감(Anti-reflective)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3172968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나노 구조. 광학 코팅 대체 가능. 유리·폴리머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5112" y="3931920"/>
            <a:ext cx="35387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3931920"/>
            <a:ext cx="3502152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411480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대면적 스케일업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07992" y="4434840"/>
            <a:ext cx="3172968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Pulsar Photonics 폴리곤 스캐너 + 고출력 USP: 10 m²+ 처리 시스템 구축. 처리 속도 ~0.14 cm²/min (8×8 빔 어레이)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GHz 버스트 모드: Si 어블레이션 속도 23배 향상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1A1F36"/>
          </a:solidFill>
          <a:ln w="25400">
            <a:solidFill>
              <a:srgbClr val="4A7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350215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47088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BiBurst 효과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3264408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23× 속도 향상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325112" y="173736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1A1F36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50215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847088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MRR (&gt;300 W)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62272" y="2304288"/>
            <a:ext cx="3264408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≥40 mm³/min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1A1F36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737360"/>
            <a:ext cx="350215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1847088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버스트 계층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38744" y="2304288"/>
            <a:ext cx="3264408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단일→MHz→GHz→BiBurst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펄스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최고 품질 / 낮은 MRR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MHz 버스트 (~64.5 MHz)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복수 펄스, MHz 간격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 유지 + MRR↑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GHz 버스트 (~2.5 GHz)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복수 펄스, GHz 간격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MRR 대폭↑ / 일부 품질↓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BiBurst (GHz in MHz)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GHz 군집 × MHz 반복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공기이온화 방지 + 고속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5989320"/>
            <a:ext cx="11091672" cy="56692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605332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EurekAlert/RIKEN 2023-04  |  주의: 재료 의존성 강함 — Cu, STS에서는 GHz가 단일 대비 MRR 낮을 수 있음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47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세라믹/경취성 소재: USP로 균열 저항 60% 개선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74320" cy="8229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4767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사파이어(LED 기판)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9514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스텔스 다이싱 주류 — 비접촉 고속, 표면 데브리 없음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274320" cy="8229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0779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석영(Quartz)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5526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1단계 내부 개질 분리 → 균열 저항 60% 개선 (기계적 다이아몬드 절단 대비)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274320" cy="8229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6791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지르코니아(치과 보철)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21538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 텍스처링 → 친수성·생체적합성 향상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54880"/>
            <a:ext cx="27432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2803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알루미나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17550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 폴리싱 → 나노입자 재결정화 → 서브마이크론 Ra 달성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81558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파라미터: SiC 어블레이션 임계값 2.35 J/cm²(1035 nm, fs 기준). 결정 방위·도핑·편광 방향에 따라 품질 가변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47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유리 용접: 접합 강도가 모재를 초과한다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9525">
            <a:solidFill>
              <a:srgbClr val="A0A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유리 접합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접착제: 내열성/화학내성 한계, 두께 증가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패스너/프레임: 설계 제약, 이물질 가능성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유리-금속 직접 접합 불가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737360"/>
            <a:ext cx="5362956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28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레이저 용접 (ps 기반)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다광자 흡수로 유리 내부에서만 국소 용융 → 계면 접합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054096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유리-유리 / 유리-세라믹 / 유리-금속(스테인리스, Al) 직접 접합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822192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기계적 파괴 테스트: 모재 파단 (용접부 강도 &gt; 모재)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4590288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산업 사례: Spectra-Physics IceFyre® 1064-50 (50 W IR ps) 시연 (★★, MKS AP52)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64184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밀봉·의료기기 패키징·전자 케이스에 새로운 설계 자유도 제공. 광접촉(gap ≤ λ/4) 요구가 핵심 공정 과제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47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박막 태양전지 P1~P3 스크라이빙: 선폭 ≤25 µm 달성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74320" cy="8229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4767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P1 (도전층)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9514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UV 레이저(355 nm), 펄스폭 &lt;1 ps → 선폭 ≤25 µm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274320" cy="8229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0779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P2 (페로브스카이트/수송층)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5526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UV 레이저 필수 (IR 적용 불가 — 흡수 불충분, 하부 전극 손상)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274320" cy="8229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6791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P3 (후면 전극 분리)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21538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최소화로 인접 셀 광전 활성도 보존 → 모듈 직렬 저항 감소 → PCE 향상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54880"/>
            <a:ext cx="274320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28032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반증 사례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175504"/>
            <a:ext cx="10515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 레이저 P1에서 효율 12.5~21% 달성 사례 존재 → USP 대비 비용 분석 필요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81558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페로브스카이트 조성(할라이드 종류)에 따라 흡수 파장 최적점 달라짐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47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 제조 8대 분야 성숙도 총괄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어플리케이션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성과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성숙도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Si/SiC 다이싱, PCB 비아홀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fs/ps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SiC 개질층 &lt;8 µm, 비아홀 &lt;10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디스플레이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OLED 커팅, UTG 필라멘테이션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ps/fs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HAZ &lt;10 µm, 속도 1 m/s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배터리/EV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전극 노칭·패터닝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(버스트)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4C 용량 ~2배(벤치)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 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텍스처링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LIPSS, 초발수/항균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fs/ps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 m²+ 대면적 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금속 마이크로머시닝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고속 절삭·드릴링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 (버스트)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MRR ≥40 mm³/min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세라믹/경취성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사파이어·석영·지르코니아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fs/ps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균열 저항 60% 개선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유리-유리/유리-금속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모재 파단 강도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산업화 초기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태양전지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P1~P3 스크라이빙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fs/ps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선폭 ≤25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 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47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의료·바이오·과학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USP의 또 다른 전선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840480"/>
            <a:ext cx="2286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22860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의료 3대 어플리케이션 임상 확립 + 바이오/기초과학 확장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12080" y="294436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안과: FS-LASIK · SMILE · FLACS — 임상 표준 확립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12080" y="3419856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피부과: 피코초 타투 제거 · 멜라스마 — ps가 ns 대비 세션 절반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3895344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신경외과·치과·옵토포레이션 — 전임상·연구 단계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12080" y="4370832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바이오: PLAL 나노입자 · 2PP 3D 바이오프린팅 · 2광자 현미경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48463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기초과학: 아토초 과학(2023 노벨상) · 광원자시계 · LWFA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0" y="532180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산업 채택의 선행 사례로 읽는 의료 성숙 경로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안과: fs 레이저 3대 수술이 임상 표준으로 확립되었다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FS-LASIK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fs로 각막 플랩 생성 → 엑시머로 스트로마 절제. 파라미터: 100 fs~10 ps, 5~50 µJ, 20~200 kHz. 마이크로케라톰 대비 플랩 두께·재현성 우수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73736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SMILE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레이저 단독, 소절개창 2~4 mm. 42명 RCT(ASCRS 2024): SMILE vs Contoura LASIK 3개월 나안시력 통계적 동등. 각막 전방 스트로마 보존 → 생체역학 안정 ★★★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FLACS (백내장)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낭원절개 정밀도 우수. CDE 33~70% 감소. 후낭파열 0건(수동 2건). 비용: 시스템 수억원+. 주의: 학습 곡선 초기 후낭파열률 최대 7.5%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47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피코초가 나노초 대비 타투 제거 세션을 절반으로 줄인다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피코초 레이저 (300~900 ps)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기전: 광음향(photomechanical disruption) — 멜라노솜 미세분쇄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9900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세션 수: 4~8회, 최대 90% 제거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758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파장: 755/1064 nm (PicoSure, PicoWay)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3616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Fitzpatrick IV~VI형에서도 안전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0474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2024: 2회 후 평균 61% 제거 ★★★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737360"/>
            <a:ext cx="5408676" cy="4572000"/>
          </a:xfrm>
          <a:prstGeom prst="roundRect">
            <a:avLst>
              <a:gd name="adj" fmla="val 16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Q-스위치 나노초 (5~20 ns)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3042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기전: 광열 효과(photothermal)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9900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세션 수: 8~12회, 50~75% 제거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6758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파장: 1064/532 nm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3616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Fitzpatrick V~VI형 색소 위험 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50474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반증: 황색·형광 색상에서 ps/ns 차이 미미 ★★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멜라스마: ps Nd:YAG 1064 nm MASI 개선 35.9% vs ps alex 755 nm 25.5%. 병합요법(ps+트라넥삼산) 1,182명 메타분석 최고 효능 ★★★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47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전임상/연구: 뇌전증 87% 발작 감소, 단일세포 유전자 전달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74320" cy="8686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신경외과 — 뇌전증: Cornell 2024, fs 레이저 피질절개 ~20 µm. 발작 87% 감소, 전파 95% 차단. ⚠️ 마우스 모델 ★ — 인간 전환 불확실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80360"/>
            <a:ext cx="274320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71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치과: 에나멜·상아질 절제 정밀도 확인. 치명적 장벽: AR(절제율)이 임상 요구치에 미달 — 현재 연구 단계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886200"/>
            <a:ext cx="274320" cy="86868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776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옵토포레이션: 단일세포 선택적 기공 형성 → 유전자/단백질 전달. MCF-7 단일세포 형질전환 실증. CRISPR 전달 벡터 대체 연구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92040"/>
            <a:ext cx="274320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834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LIBS: 레이저 플라스마 발광 스펙트럼 → 수술 중 암 조직 vs 정상 조직 실시간 구분 연구 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47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바이오: PLAL 나노입자부터 2PP 나노 3D 프린팅까지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PLAL 나노입자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fs레이저+액체→플라스마→나노입자. Fe-Au: MRI+CT+NIR 광열 in vitro 100% 암세포 사멸. TiN ~30 nm: 640~700 nm 광열치료 ★★★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73736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2광자 중합 (2PP)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고피크강도 → 초점에서만 2광자 흡수. 해상도 ~100 nm (회절한계 이하). 3D 바이오스캐폴드, 신경세포 가이드, pH 반응형 마이크로그리퍼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2광자 현미경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NIR fs → 심부 조직 이미징. FACED: 400 Hz 전압 이미징, 투과 &gt;800 µm 피질. miniBB2p 헤드피스 2.6 g (Nature Commun. 2025)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LWFA 방사선치료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웨이크필드 가속 100 GV/m. FLASH 방사선치료 전임상 진입(INRS 2023). VHEE &gt;100 MeV, 정상조직 선량 20~70% 감소(시뮬레이션). ★★ 5~10년 상용화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47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기초과학: 아토초 → 주파수 빗 → 초고속 분광 → 산업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4A7BF7"/>
          </a:solidFill>
          <a:ln w="6350">
            <a:solidFill>
              <a:srgbClr val="4A7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아토초 과학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HHG로 250 as 펄스 생성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 노벨 물리학상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 동역학 실시간 관측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XUV→반도체 메트롤로지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201168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주파수 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6517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모드잠금 레이저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종모드 위상 동기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광학 원자시계 18자리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GPS보다 수십억 배 정확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0" y="201168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초고속 분광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펌프-프로브 fs 분해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화학반응 중간체 관측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단백질 구조변화 관측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CARS 현미경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0" y="2011680"/>
            <a:ext cx="2039112" cy="3474720"/>
          </a:xfrm>
          <a:prstGeom prst="roundRect">
            <a:avLst>
              <a:gd name="adj" fmla="val 4484"/>
            </a:avLst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0" y="2148840"/>
            <a:ext cx="1856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 연결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0" y="2651760"/>
            <a:ext cx="185623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HHG 기반 XUV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반도체 EUV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마스크 검사 개시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기초→산업 가속 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0896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47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의료/바이오/과학 성숙도 총괄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어플리케이션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성숙도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FS-LASIK, SMILE, FLACS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임상 확립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타투 제거, 멜라스마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 (755/1064 nm)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임상 확립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경조직 절제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 단계 (속도 미달)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신경외과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뇌전증 피질절개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전임상 ★ (마우스)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세포 조작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옵토포레이션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나노입자(PLAL)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Au/Fe-Au/TiN 합성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연구→상용화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2PP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3D 바이오스캐폴드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연구→상용화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2광자 현미경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 vivo 뇌 이미징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 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아토초/HHG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 동역학, XUV 광원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 인프라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LWFA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FLASH 방사선치료 전임상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(TW~PW)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전임상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47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 vs 피코초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선택할 것인가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8072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메시지: 'fs가 항상 ps보다 우월하다'는 통념은 틀렸다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48072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재료·요구사항이 선택을 결정한다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fs vs ps 물리적 차이 — 실측 데이터 기반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 (fs)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피코초 (ps)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출처/비고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펄스폭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50~500 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1~100 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HAZ (Al, 실측)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≤1.5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2~5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MDPI Micromachines 2014 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 (금속)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0.02~0.1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0.1~0.5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복수 학술 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15~30% 빠름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⚠️ [제조사 주장: opmtlaser.com]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MRR (금속, &gt;300 W)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낮음~중간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0.1~1 mm³/min/W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고부피 제거 ps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투자비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(fs 대비 저렴)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10~50 ps 경계: fs와 ps 품질 차이 미미 → ps가 비용 합리적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47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재료별 경계 조건 의사결정 플로우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A1F36"/>
          </a:solidFill>
          <a:ln w="6350">
            <a:solidFill>
              <a:srgbClr val="1A1F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가공 재료는?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금속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(Fe/Al/Cu/Ti)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ps 이하 → fs/ps 품질 유사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공차 ±0.005 mm / Ra&lt;0.1 µm → fs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→ ps (비용 효율)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28346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투명 유전체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(유리/사파이어)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65760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양산 처리량 우선 → ps (Bessel+필라멘테이션)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OLED 유리 ps 표준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특수 박막 → 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8346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생체조직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65760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fs 필수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안과·신경외과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정밀도 요구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28346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반도체/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복합소재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0" y="365760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서브-10 µm / HAZ&lt;1 µm → fs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양산 다이싱 → ps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CFRP 열응력 → fs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어플리케이션별 fs/ps 선택 매트릭스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어플리케이션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의료기기 (스텐트·카테터)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HAZ &lt;1 µm, 생체적합성 유지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MEMS/반도체 서브-10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크랙·리캐스트층 최소화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 수술 (LASIK·백내장)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조직 정밀 절제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항공우주 CFRP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응력 임계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배터리 전극 구조화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(고반복률)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롤투롤, 열 제어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2광자 중합(2PP)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비선형 흡수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PCD 공구 제작 (자동차)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처리속도+비용 효율 [제조사 주장]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OLED/FPD 디스플레이 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불필요, 비용 우위, 생산라인 적합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유리/사파이어 절단 (양산)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50~100 ps 유리도 냉간 절제 달성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다이싱 (양산)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높은 처리량, 자동화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텍스처링·마킹 (금속)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속도·비용 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고정밀 금형 마이크로 피처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 &lt;0.1 µm 요구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연구/시간분해 분광/양자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분해능 핵심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47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OLED 유리 절단: ps가 fs를 이긴다 — 칩핑 5 µm, 조도 0.343 µm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ps 칩핑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~5 µm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3736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9976" y="173736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ps 조도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240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 0.343 µm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65592" y="173736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73736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48472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처리량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48472" y="2240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 우위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피코초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~5 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조도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0.343 µm (Bessel+CO₂)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서브마이크론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두께 적용성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0.1~6+ mm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주로 박막 전문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(50 kHz, 70 W)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(R&amp;D 중심)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생산라인 적합성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0807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ps의 '적합 스펙'이 OLED 양산 표준 — 초과 스펙(fs) 불필요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47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F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시장과 기술은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어디로 가고 있는가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8072" y="2560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 규모 + 성장 드라이버 + 최신 기술 + 신흥 어플리케이션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2025 시장 $2.4~2.9B, CAGR 15~17% — 아시아-태평양 38%로 1위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01168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214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 시장 규모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4323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$2.4~2.9B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6개 시장보고서 종합 ★★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201168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1214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CAGR (2025~2031)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24323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15~17%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34840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현실적 중간값, 범위 9.5~21%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201168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1214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아시아-태평양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24323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38% (1위)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183880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CAGR ~18%, 웨이퍼 팹·기가팩토리·디스플레이</a:t>
            </a:r>
            <a:endParaRPr lang="en-US" sz="9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CAGR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Fortune Business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$2.57B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16.62% (2025~34)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2034: $10.26B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Grand View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$2.45B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21.0% (2026~33)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2033: $10.61B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Mordor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$3.29B (2026)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15.07% (2026~31)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2031: $6.64B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IMARC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$2.4B (2024)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13% (2025~33)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2033: $7.1B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62179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CAGR 편차: fs만 포함 vs fs+ps, 광학부품 포함 여부 정의 차이에 기인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47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4대 성장 드라이버: EV 배터리 + 반도체 + 디스플레이 + 의료기기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기가팩토리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전극 패터닝·노칭, 모듈 용접, 냉각판 실링. NREL BatMan 1,200 m+ 롤투롤 처리. 기가팩토리 설비투자 직결 — EV 수요 둔화 시 리스크 ★★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04291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737360"/>
            <a:ext cx="50063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920240"/>
            <a:ext cx="467715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 첨단 패키징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240280"/>
            <a:ext cx="467715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HBM 적층(CoWoS), TSV 종횡비 10:1 이상. 삼성·SK하이닉스 이미 fs 레이저 배포. 3D 패키징 수요 지속 성장 ★★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디스플레이 (OLED/UTG)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폴더블·롤러블 디스플레이 확산. 형상 커팅 + UTG 필라멘테이션 표준화. 한국·일본 패널 업체 중심 수요 집중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04291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0063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467715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의료기기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467715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안과(fs 레이저 수술 표준화) + 피부과(ps 레이저 성장). 안과 분야 USP 시장 점유 41.9%. 규제 승인 지연이 성장 제약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47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GHz 버스트 + kW급 출력 = 양산 진입의 열쇠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53912" y="1691640"/>
            <a:ext cx="27432" cy="4800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" cy="2926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버스트 모드 혁신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48840"/>
            <a:ext cx="22860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21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BiBurst(GHz in MHz)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56946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 어블레이션 23배 향상, 공기 이온화 방지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72968"/>
            <a:ext cx="22860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461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유리 처리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59359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버스트당 10~30 µm 절제, 최대 60 kJ/cm² 플루언스에서 재료 분쇄 없음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97096"/>
            <a:ext cx="22860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702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파라미터 사례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6177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133 MHz 인트라버스트, 70펄스/버스트, 240 µJ/버스트, 1 kHz 인터버스트율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21224"/>
            <a:ext cx="22860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943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재료 의존성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6418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Cu, STS에서 GHz가 단일 대비 MRR 낮을 수 있음 → 사전 테스트 필수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691640"/>
            <a:ext cx="54864" cy="2926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691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kW급 평균 출력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2148840"/>
            <a:ext cx="5330952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148840"/>
            <a:ext cx="228600" cy="9144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2221992"/>
            <a:ext cx="487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TRUMPF 1kW USP (2024년 8월)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569464"/>
            <a:ext cx="4873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Fraunhofer ILT 배터리·반도체 공정 시험 중 ★★★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172968"/>
            <a:ext cx="5330952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172968"/>
            <a:ext cx="228600" cy="9144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246120"/>
            <a:ext cx="487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2kW 전광섬유 (1064 nm)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3593592"/>
            <a:ext cx="4873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76.6% 효율, 1.39 GHz 반복률, 비선형 왜곡 억제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197096"/>
            <a:ext cx="5330952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4197096"/>
            <a:ext cx="228600" cy="9144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4270248"/>
            <a:ext cx="487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EU 지원 1.5kW 시스템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29400" y="4617720"/>
            <a:ext cx="4873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GW급 첨두 출력 + 기본 모드 빔 품질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5221224"/>
            <a:ext cx="5330952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5221224"/>
            <a:ext cx="228600" cy="9144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5294376"/>
            <a:ext cx="487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스케일링 과제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29400" y="5641848"/>
            <a:ext cx="4873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TMI(횡모드 불안정), 비선형 효과(SPM·SRS), 단일 채널 출력 한계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47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신흥 어플리케이션 4선: 양자컴퓨팅·국방·나노포토닉·리소그래피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양자컴퓨팅 ★★★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NKT Photonics–IonQ 파트너십(2024): 바륨이온 양자컴퓨터용 모듈식 랙 마운트 레이저 서브시스템 2025년 납품. 다이아몬드 Tin-vacancy 센터 단광자 생성 + 양자 스핀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04291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737360"/>
            <a:ext cx="500634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920240"/>
            <a:ext cx="467715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국방·항공우주 ★★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240280"/>
            <a:ext cx="467715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Cornell/ONR: 비선형 광학 결정 이용 NIR→MIR 변환 효율 수배 향상 → 야전 배치형 열추적 미사일 교란 레이저. DARPA PULSE: 탁상형 코히런트 X선 소스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나노포토닉 가속기 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 µm 거리에서 전자 에너지 43% 향상 (class5photonics 2024). 소형 입자 가속기 원천기술. 현재 연구 단계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04291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0063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467715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TPP 나노리소그래피 ★★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467715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2광자 중합 고반복률 fs 레이저로 양산 진입 준비 중. 나노스케일 3D 패터닝. 기존 포토리소그래피 대체 가능성 연구 단계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47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중국 USP 시장이 2030년 $2.19B로 2배 성장한다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74320" cy="80467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476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중국 단독 시장 성장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7685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$1.11B → 2030년 $2.19B (CAGR 14.46%) ★★★ — ResearchAndMarkets 2025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274320" cy="8046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620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Amplitude Laser Group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19125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8월 Suzhou 현지 생산·서비스 거점 설립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03320"/>
            <a:ext cx="274320" cy="80467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776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내수 업체 성장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10565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JPT, Raycus 등 중국산 USP 레이저 급성장 → 서구 업체 마진 압박 가능성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617720"/>
            <a:ext cx="274320" cy="8046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90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전략적 고려사항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02005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중국산 장비 검토 시 빔 품질(M²), MTBF, 서비스 인프라를 서구 제품과 직접 비교 필요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FF8E7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742432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탐색 질문: 중국 USP 업체 기술 격차와 가격 경쟁 본격화 시점은?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47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A305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G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3200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내일 업무에 적용하는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의사결정 가이드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파트의 내용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2487168"/>
            <a:ext cx="621792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0" y="278892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788920"/>
            <a:ext cx="256032" cy="6583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50992" y="284378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TCO 비교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50992" y="313639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 vs ps vs fs — 초기 투자비가 전부가 아니다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0" y="361188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3611880"/>
            <a:ext cx="256032" cy="6583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50992" y="366674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역방향 의사결정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50992" y="395935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만약 X이면 → Y를 하라 (8개 결정 가이드)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0" y="443484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4434840"/>
            <a:ext cx="256032" cy="6583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50992" y="448970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실패 모드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50992" y="478231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간과하면 공정이 실패하는 5가지 주의사항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525780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5257800"/>
            <a:ext cx="256032" cy="6583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4" name="Text 22"/>
          <p:cNvSpPr/>
          <p:nvPr/>
        </p:nvSpPr>
        <p:spPr>
          <a:xfrm>
            <a:off x="5650992" y="531266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후속 탐색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50992" y="560527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리서치가 답하지 못한 질문 3가지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TCO 비교: ns vs ps vs fs — 초기 투자비가 전부가 아니다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나노초(ns)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피코초(ps)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펨토초(fs)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투자비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소모품(공구·연마재)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후처리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(재작업·폴리싱)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부품당 비용(양산)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수명 기준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자동화 적합성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수율·안정성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회수 기간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1~3년 (고정밀)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1~3년 (고정밀)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12080"/>
            <a:ext cx="11091672" cy="132588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5212080"/>
            <a:ext cx="256032" cy="13258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257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정량 지표 (복수 출처 합성 ★★)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생산 비용 절감: 15~30%  |  후가공 비용 절감: 최대 60%  |  다중빔 처리 시 처리량 향상: 최대 400%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PCD 공구: 연간 ~$280K 절감  ⚠️ 제조사 자료 — 독립 검증 미확인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47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역방향 의사결정 가이드: 만약 X이면 → Y를 하라</a:t>
            </a:r>
            <a:endParaRPr lang="en-US" sz="2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6247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만약...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그러면...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공차 ±0.01 mm 이하, HAZ &lt;5 µm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ns 대신 USP(ps 이상) 도입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공차 ±0.005 mm 이하, Ra &lt;0.1 µm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ps가 아닌 fs 선택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유리/사파이어 절단 + 양산 처리량 우선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대신 ps (Bessel 빔 + 필라멘테이션) — OLED 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배터리 전극 패터닝 검토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벤치스케일 성과(NREL)를 roll-to-roll에서 재검증 (★★ 양산 미확인)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 &gt;1 MHz 운용 예정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누적 모델링 선행 — 콜드 어블레이션 가정 붕괴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중국산 USP 레이저 검토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품질(M²), MTBF, 서비스 인프라를 서구 제품과 직접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GHz 버스트 모드 도입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 의존성 강함 — 대상 재료에서 반드시 사전 테스트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회수 3년 초과 전망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ps로 다운그레이드 또는 기존 ns/기계 공정 유지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EC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00-synthesis.md §7 역방향 의사결정 가이드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47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주의: 이것을 간과하면 공정이 실패한다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74320" cy="78638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01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Class 4 레이저 안전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3113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인터록 시스템, 차폐, 보호 안경 필수. 직접 노출 시 즉각 실명 위험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34056"/>
            <a:ext cx="274320" cy="78638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072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나노입자/퓸(fume) — 건강 이슈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13639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가공 시 발생 나노입자 — 작업자 건강 이슈, 배기·HEPA 필터 시스템 필수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39312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39312"/>
            <a:ext cx="274320" cy="7863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7124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유리 필라멘테이션 실패 모드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강화유리 잔류응력 → 크랙 전파 방향 이탈, 비정상 파단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544568"/>
            <a:ext cx="274320" cy="78638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17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배터리 전극 패터닝 실패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946904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깊이 불균일 → 전해액 편류, 국부 리튬 도금 위험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449824"/>
            <a:ext cx="274320" cy="78638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52297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경쟁 기술 영역 — USP가 항상 정답이 아님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585216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DRIE(MEMS 높은 종횡비 대량 양산), EDM(금형·미세홀 비용 경쟁력), ns 레이저(마킹·거친 절삭 TCO 우위)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후속 탐색 질문 — 이번 리서치가 답하지 못한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20040" cy="9601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중국 USP 레이저 업체 기술 격차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957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JPT, Raycus 등이 서구·일본 대비 어느 수준? 가격 경쟁 본격화 시점은? (★ 후속 조사 필요)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320040" cy="960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089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GHz 버스트 모드 양산 적용 사례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49300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R&amp;D를 넘어 실제 생산라인에 통합된 검증 사례가 있는가? (★★ 확인 필요)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14800"/>
            <a:ext cx="320040" cy="960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062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"USP 레이저가 실패한 어플리케이션"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5902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시도되었다가 ns/기계 가공으로 회귀한 사례 — 성공 편향 교정을 위해 반드시 조사 필요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FF4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394960"/>
            <a:ext cx="54864" cy="7772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46811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7BF7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"품질 우선은 느려도 된다는 뜻이지, 불필요하게 비효율적이어도 된다는 뜻은 아니다"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114800"/>
            <a:ext cx="5943600" cy="4114800"/>
          </a:xfrm>
          <a:prstGeom prst="roundRect">
            <a:avLst>
              <a:gd name="adj" fmla="val 77778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423160"/>
            <a:ext cx="12188952" cy="274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450592"/>
            <a:ext cx="12188952" cy="1371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914400"/>
            <a:ext cx="64008" cy="25603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8686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USP 레이저는 '정밀도 프리미엄'에서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'양산 필수'로 전환 중이다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502920" cy="3200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78892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콜드 어블레이션 → HAZ 13배 감소, 후처리 제거, 신소재 가공 가능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3493008"/>
            <a:ext cx="502920" cy="3200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930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447288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"fs &gt; ps" 통념 불식 → 재료별 적합 스펙 선택이 TCO 최적화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4151376"/>
            <a:ext cx="502920" cy="3200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5137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410565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GHz 버스트 + 1kW USP → 양산 진입 장벽 해소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4809744"/>
            <a:ext cx="502920" cy="3200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974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4764024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$2.4~2.9B 시장, CAGR 15~17% → EV·반도체·디스플레이 드라이버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468112"/>
            <a:ext cx="502920" cy="3200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6811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542239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TCO 관점 → 초기 투자비가 아닌 재료 절감·후처리 제거·수율로 평가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6400800"/>
            <a:ext cx="5029200" cy="27432"/>
          </a:xfrm>
          <a:prstGeom prst="rect">
            <a:avLst/>
          </a:prstGeom>
          <a:solidFill>
            <a:srgbClr val="3A446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64922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감사합니다  |  질문 및 토론 환영합니다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2026-03-25T06:24:41Z</dcterms:created>
  <dcterms:modified xsi:type="dcterms:W3CDTF">2026-03-25T06:24:41Z</dcterms:modified>
</cp:coreProperties>
</file>