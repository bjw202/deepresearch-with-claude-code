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notesMasterIdLst>
    <p:notesMasterId r:id="rId5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2103120"/>
            <a:ext cx="13716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2286000"/>
            <a:ext cx="94457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400" b="1" spc="-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팔란티어 온톨로지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371600" y="347472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 의사결정을 모델링하는 운영 레이어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411480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5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구조 · 구축/운영 방식 · 산업별 실제 사례 · AIP와의 결합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548640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5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Deep Research  |  2026-03-24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 프레젠테이션에서 다루는 5가지 핵심 질문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457200" cy="45720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737360"/>
            <a:ext cx="10177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팔란티어 온톨로지는 무엇이고, 왜 이렇게 설계되었는가?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2697480"/>
            <a:ext cx="457200" cy="45720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2651760"/>
            <a:ext cx="10177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실제로 어떻게 구축하고, 어떻게 유지보수하는가?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3611880"/>
            <a:ext cx="457200" cy="45720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3566160"/>
            <a:ext cx="10177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산업에서 어떤 문제를 어떻게 해결하고 있는가?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1520" y="4526280"/>
            <a:ext cx="457200" cy="45720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526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4480560"/>
            <a:ext cx="10177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AIP 시대에 LLM과 온톨로지는 어떻게 결합되는가?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31520" y="544068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440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5394960"/>
            <a:ext cx="10177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기술적 독창성 vs 과대포장 비판, 진실은 어디에 있는가?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/ 55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목차: 원리에서 사례, 그리고 평가까지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7BF7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1737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온톨로지의 핵심 원리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2057400"/>
            <a:ext cx="9811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정의, 4개 프리미티브, OWL과의 차이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463040" y="2423160"/>
            <a:ext cx="1017727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51460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7BF7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63040" y="2514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플랫폼 아키텍처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2834640"/>
            <a:ext cx="9811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4개 레이어, 마이크로서비스, Writeback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463040" y="3200400"/>
            <a:ext cx="1017727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9184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7BF7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03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463040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구축과 운영의 실제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3611880"/>
            <a:ext cx="9811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Type 생성, 6단계 구축 여정, FDE 모델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463040" y="3977640"/>
            <a:ext cx="1017727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06908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7BF7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04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46304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산업별 사례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4389120"/>
            <a:ext cx="9811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국방, 항공, 헬스케어, 에너지, 금융, 정부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463040" y="4754880"/>
            <a:ext cx="1017727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84632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7BF7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05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463040" y="4846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AIP: LLM과의 결합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63040" y="5166360"/>
            <a:ext cx="9811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Grounding, 환각 감소, Agent Studio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463040" y="5532120"/>
            <a:ext cx="1017727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562356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7BF7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06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463040" y="5623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균형 잡힌 평가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63040" y="5943600"/>
            <a:ext cx="9811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차별점, 벤더 락인, 과대포장 비판, 의사결정 가이드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/ 55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6153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온톨로지란 무엇인가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0" y="320040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정의, 설계 철학, 4개 프리미티브, 그리고 기존 기술과의 비교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/ 55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5641848" y="1828800"/>
            <a:ext cx="9144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2286000"/>
            <a:ext cx="944575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400" i="1" dirty="0">
                <a:solidFill>
                  <a:srgbClr val="1A1F36"/>
                </a:solidFill>
                <a:latin typeface="ChosunNm" pitchFamily="34" charset="0"/>
                <a:ea typeface="ChosunNm" pitchFamily="34" charset="-122"/>
                <a:cs typeface="ChosunNm" pitchFamily="34" charset="-120"/>
              </a:rPr>
              <a:t>“The Ontology is designed to represent the complex, interconnected decisions of an enterprise, not simply the data.”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475488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Palantir Foundry 공식 문서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/ 55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온톨로지는 데이터가 아니라 의사결정을 표현한다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데이터베이스: "무엇이 있는가"를 저장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팔란티어 온톨로지: "이 데이터로 무엇을 해야 하는가"까지 포함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시맨틱 요소(명사): Objects, Properties, Links — 세계를 기술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키네틱 요소(동사): Actions, Functions — 세계를 변화시킴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둘의 결합이 "운영 디지털 트윈"을 형성한다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/ 55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4개 프리미티브가 기업의 디지털 트윈을 구성한다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팔란티어 용어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DB 유사 개념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추가된 차원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Object Type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 / Class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비즈니스 엔티티 (고객, 항공기, 주문)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GUI 기반 생성, 비즈니스 컨텍스트 내장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Property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Column / Field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엔티티의 속성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Value Types로 도메인 특화 타입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Link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Foreign Key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엔티티 간 관계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명시적 의미와 방향성, 다형성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Action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Stored Procedure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실세계 변경을 일으키는 동사형 작업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보안 상속, Side Effects, 히스토리 로그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Function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UDF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계산 로직, ML 모델 호출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AIP Logic 연동, LLM 호출 통합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Interface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다형성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여러 Object Type의 공통 구조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서로 다른 타입의 추상화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 / 55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시맨틱 요소(명사)와 키네틱 요소(동사)로 이분화된다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3629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시맨틱 요소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3629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"세계를 기술하는 명사"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5362956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Type: 비즈니스 엔티티 정의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Property: 엔티티의 속성과 타입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Link: 엔티티 간 관계와 방향성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Interface: 공통 구조 추상화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77356" y="1645920"/>
            <a:ext cx="53629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키네틱 요소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277356" y="2103120"/>
            <a:ext cx="53629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"세계를 변화시키는 동사"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77356" y="2560320"/>
            <a:ext cx="5362956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Action: 실세계 변경 + 보안 상속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Function: 계산 로직 + ML/LLM 호출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Side Effects: 웹훅, 알림, CDC 연동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Writeback: 양방향 데이터 흐름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 / 55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DB 모델링과 개념적으로 동형이나 통합에서 차별화된다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 프리미티브는 Table/Column/FK/Stored Procedure와 동형 (Feng 분석)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아리스토텔레스(BC350) → ER 모델(1976) → OOP(1990s) → OWL(2001) → Palantir(2016)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그러나 혁신의 소재는 개념이 아니라 "통합과 접근성"에 있다:</a:t>
            </a:r>
            <a:endParaRPr lang="en-US" sz="1700" dirty="0"/>
          </a:p>
          <a:p>
            <a:pPr lvl="1" marL="6858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① 데이터+로직+액션+보안의 4중 통합을 단일 플랫폼에서 제공</a:t>
            </a:r>
            <a:endParaRPr lang="en-US" sz="1700" dirty="0"/>
          </a:p>
          <a:p>
            <a:pPr lvl="1" marL="6858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② GUI 기반으로 비개발자도 Object Type 생성/수정 가능</a:t>
            </a:r>
            <a:endParaRPr lang="en-US" sz="1700" dirty="0"/>
          </a:p>
          <a:p>
            <a:pPr lvl="1" marL="6858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③ AIP를 통해 LLM의 컨텍스트로 직접 주입 가능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/ 55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OWL/RDF와는 목적부터 다르다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비교 항목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팔란티어 온톨로지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OWL/RDF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 목적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운영 워크플로우, 의사결정 실행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형식적 시맨틱, 기계 추론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추론 능력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없음 (규칙 기반 액션으로 대체)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OWL 추론 엔진으로 새 사실 도출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실시간 운영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핵심: 실시간 라이트백, 스트리밍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일반적으로 정적, 주기적 갱신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UI/워크플로우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기본 내장 (Workshop, AIP)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표준에 없음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보안 모델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행/열 수준 세분화 보안 내장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표준에 없음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상호운용성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독점적 (JSON/OpenAPI 내보내기)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W3C 표준, 오픈 생태계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55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데이터+로직+액션+보안의 4중 통합이 핵심 혁신이다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45920"/>
            <a:ext cx="53721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데이터 모델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Type, Property, Link로 비즈니스 엔티티를 구조화. GUI 기반 생성 및 관리.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31636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49924" y="1645920"/>
            <a:ext cx="53721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6414516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비즈니스 로직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14516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Function으로 계산/ML/LLM 호출 통합. 별도 앱 코드 없이 온톨로지 안에서 로직 실행.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4160520"/>
            <a:ext cx="5372100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실행 동작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Action으로 실세계 변경. Writeback + Side Effects(웹훅, 알림)로 외부 시스템과 연동.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31636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49924" y="4160520"/>
            <a:ext cx="537210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6414516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권한 관리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14516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행/열 수준 세분화 보안이 온톨로지에 내장. 별도 IAM 없이 데이터 접근 통제.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55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6153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플랫폼 아키텍처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0" y="320040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4개 레이어, 백엔드 마이크로서비스, 데이터 흐름 원칙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/ 55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4개 레이어가 외부 소스에서 앱까지 연결한다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73152" cy="9144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373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5CF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① 데이터 연결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0" y="1737360"/>
            <a:ext cx="79827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소스(ERP, CRM, IoT, DB)에서 raw 데이터 수집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0" y="2606040"/>
            <a:ext cx="1216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</a:rPr>
              <a:t>▼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880360"/>
            <a:ext cx="73152" cy="9144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8803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B6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② 파이프라인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657600" y="2880360"/>
            <a:ext cx="79827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Builder에서 raw → clean 변환 (타입 캐스팅, UTC 정규화)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0" y="3749040"/>
            <a:ext cx="1216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</a:rPr>
              <a:t>▼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4023360"/>
            <a:ext cx="73152" cy="91440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0233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7BF7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③ 온톨로지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657600" y="4023360"/>
            <a:ext cx="79827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OMS(메타데이터) + OSS(쿼리) + Object Storage V2 + Actions Service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0" y="4892040"/>
            <a:ext cx="1216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</a:rPr>
              <a:t>▼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16636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5166360"/>
            <a:ext cx="73152" cy="9144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1663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D4AA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④ 애플리케이션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657600" y="5166360"/>
            <a:ext cx="79827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Workshop(대시보드), AIP(AI), OSDK(외부 앱)를 통해 사용자와 상호작용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/ 55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백엔드 마이크로서비스가 온톨로지를 운영한다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45920"/>
            <a:ext cx="53721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OMS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Ontology Metadata Service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Type, Link, Action의 정의(스키마)를 관리하는 메타데이터 저장소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31636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49924" y="1645920"/>
            <a:ext cx="53721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6414516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OSS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14516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Set Service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 객체의 읽기, 검색, 집계 쿼리를 처리하는 서비스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4160520"/>
            <a:ext cx="5372100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Actions Service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편집을 원자적 트랜잭션으로 커밋하고 writeback 데이터셋에 저장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31636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49924" y="4160520"/>
            <a:ext cx="537210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6414516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Object Data Funnel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14516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소스 데이터셋의 변경을 감지하여 Object Storage V2 인덱스와 동기화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/ 55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데이터는 원본 그대로 수집하고 파이프라인에서 변환한다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원칙: 데이터를 원본 그대로(as-is) 수집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변환 이력을 Foundry 파이프라인 내부에서 완전히 관리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 정의는 JSON 형식으로 저장되며 다운로드 가능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파이프라인 단계: Data Connection → Pipeline Builder → Ontology Hydration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Data Funnel이 데이터셋 변경 → 오브젝트 인덱스를 자동 동기화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/ 55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Writeback이 온톨로지를 읽기 전용이 아닌 운영 시스템으로 만든다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411480" cy="41148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7373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사용자 편집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114800" y="1737360"/>
            <a:ext cx="7525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Action을 통해 오브젝트 수정 요청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697480"/>
            <a:ext cx="411480" cy="41148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97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6517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원자적 트랜잭션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114800" y="2651760"/>
            <a:ext cx="7525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변경이 원자적으로 커밋 (전체 성공 또는 전체 실패)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3611880"/>
            <a:ext cx="411480" cy="41148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35661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Writeback 저장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114800" y="3566160"/>
            <a:ext cx="7525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변경 내용이 writeback 데이터셋에 기록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4526280"/>
            <a:ext cx="411480" cy="41148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526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480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파이프라인 재처리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114800" y="4480560"/>
            <a:ext cx="7525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원본 데이터와 writeback을 병합 처리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1520" y="5440680"/>
            <a:ext cx="411480" cy="41148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440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5394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실시간 반영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114800" y="5394960"/>
            <a:ext cx="7525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앱(Workshop, AIP, 외부)에 즉시 반영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/ 55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6153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구축과 운영의 실제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0" y="320040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Type 생성, 6단계 여정, FDE 모델, 유지보수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/ 55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Object Type 생성에는 두 가지 경로가 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3629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경로 A: Ontology Manager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362956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Ontology Manager에서 New → Object Type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백킹 데이터셋 없이 스키마 먼저 정의 가능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데이터셋 컬럼 → Properties 자동 매핑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키(PK)와 타이틀 키 설정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메타데이터(아이콘, 설명) 추가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77356" y="1645920"/>
            <a:ext cx="53629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경로 B: Pipeline Builder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277356" y="2194560"/>
            <a:ext cx="5362956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Builder에서 transform 출력으로 생성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type 이름·온톨로지 지정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컬럼 → Properties 자동 처리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Link Types 추가 (소스/타겟 지정)</a:t>
            </a:r>
            <a:endParaRPr lang="en-US" sz="15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파이프라인 배포로 온톨로지 업데이트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 / 55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온톨로지 구축은 6단계 여정을 거친다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" cy="457200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5" name="Shape 3"/>
          <p:cNvSpPr/>
          <p:nvPr/>
        </p:nvSpPr>
        <p:spPr>
          <a:xfrm>
            <a:off x="470916" y="17556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45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0" y="1645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 모델링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286000" y="1965960"/>
            <a:ext cx="9354312" cy="35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비즈니스 엔티티·관계 정의 | 도메인 전문가 + FDE | 수 주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2362200"/>
            <a:ext cx="107259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" y="25176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407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2단계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0" y="2407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연결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286000" y="2727960"/>
            <a:ext cx="9354312" cy="35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소스 수집 파이프라인 구축 | 데이터 엔지니어 + FDE | 수 주~수 개월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124200"/>
            <a:ext cx="107259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" y="32796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169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286000" y="3169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파이프라인 구축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286000" y="3489960"/>
            <a:ext cx="9354312" cy="35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raw → clean 변환, 품질 규칙 적용 | 데이터 엔지니어 | 수 주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3886200"/>
            <a:ext cx="107259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" y="40416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931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4단계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286000" y="3931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 정의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286000" y="4251960"/>
            <a:ext cx="9354312" cy="35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Type / Link / Action 생성 | FDE + 도메인 전문가 | 수 주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14400" y="4648200"/>
            <a:ext cx="107259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" y="48036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693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5단계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286000" y="4693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앱 구축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2286000" y="5013960"/>
            <a:ext cx="9354312" cy="35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 대시보드, 워크플로우 구성 | FDE + 비즈니스 팀 | 수 주~수 개월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14400" y="5410200"/>
            <a:ext cx="107259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" y="55656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5455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6단계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286000" y="5455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전환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2286000" y="5775960"/>
            <a:ext cx="9354312" cy="35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교육, 피드백, 반복 개선 | 전체 팀 | 지속적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 / 55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FDE 모델이 품질을 높이지만 비용도 높인다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Forward-Deployed Engineer: 팔란티어 엔지니어가 고객사에 상주하며 구축 지원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 전문가 + 데이터 모델링 + 팔란티어 플랫폼 전문가의 삼중 교집합 필요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상위 20개 고객 평균 연간 계약: $93.9M (약 1,200억 원)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954개 고객 평균: $4.7M/년 (약 60억 원)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AIP Bootcamp: 1,000+ 기업 참여 집중 도입 프로그램으로 진입 장벽 완화 시도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56692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출처: Palantir 2025 Annual Report. 수치는 2025년 기준이며 AIP Bootcamp 확대로 향후 평균 계약 규모 변동 가능.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 / 55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스키마 변경은 버전 명 대신 속성 추가로 관리한다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버전 명 금지: Message_v2, Customer_old 같은 이름 사용 금지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속성 추가/deprecated 처리로 점진적 진화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안정적 ID 전략: 복합 키보다 단일 비즈니스 ID 사용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Branch 활용: 운영 환경 영향 없이 변경 테스트 가능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배포 후 Object type ID, 링크, 소스/타겟은 수정 불가 → 초기 설계가 중요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 / 55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대규모 온톨로지에는 3가지 운영 리스크가 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45920"/>
            <a:ext cx="53721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시스템 경계 충돌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팀이 많아질수록 동일 비즈니스 개념의 Object Type이 중복 생성되는 문제 발생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31636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49924" y="1645920"/>
            <a:ext cx="53721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6414516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DRY 원칙 위반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14516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유사한 Logic이 여러 Function에 반복 구현되면 유지보수 비용이 급증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4160520"/>
            <a:ext cx="5372100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데이터 신선도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백킹 데이터셋의 업데이트 빈도를 모니터링하지 않으면 "stale ontology" 문제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31636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49924" y="4160520"/>
            <a:ext cx="537210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6414516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OSDK 확장성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14516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TypeScript/Python/Java SDK로 외부 앱에서 접근 가능하나 일부 타입은 아직 미지원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 / 55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6153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산업별 사례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0" y="320040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국방, 항공 제조, 헬스케어, 에너지, 금융, 정부 — 6개 분야의 실제 적용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 / 55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Gotham의 핵심은 Entity Resolution이다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국방/정보기관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동일한 실세계 개체가 복수 데이터 소스에서 서로 다른 ID로 존재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NSA, CIA, FBI 각각에 다른 ID로 등록된 동일 인물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유사도 임계값(s_ij &gt; θ) 기반으로 캐노니컬 객체로 통합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canonicalObjectPrimaryKey / winnerObjectPrimaryKey 체계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주의: 임계값 θ는 비공개이며, 오설정 시 무고한 민간인 포함 위험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 / 55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유사도 임계값 기반으로 캐노니컬 객체를 생성한다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국방/정보기관</a:t>
            </a:r>
            <a:endParaRPr lang="en-US" sz="16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Object Type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역할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관계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Person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인물 엔티티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→ Organization, Vehicle, Event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Organization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조직 엔티티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→ Person, Location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Vehicle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차량/장비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→ Person, Location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Location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장소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→ Event, Person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Event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사건/활동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→ Person, Location, Organization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Asset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정보 자산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→ Person, Event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 / 55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다중 소스에서 작전 결심까지의 워크플로우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국방/정보기관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411480" cy="41148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7373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다중 소스 수집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0" y="1737360"/>
            <a:ext cx="7068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신호정보, 내부고발자 보고서, 감시 데이터 등 이종 출처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697480"/>
            <a:ext cx="411480" cy="41148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697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6517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Entity Resolution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2651760"/>
            <a:ext cx="7068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유사도 기반으로 동일 인물/조직/장소를 캐노니컬 객체로 통합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611880"/>
            <a:ext cx="411480" cy="41148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5661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관계 그래프 구축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3566160"/>
            <a:ext cx="7068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Person-Organization-Event-Location 간 관계 자동 연결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4526280"/>
            <a:ext cx="411480" cy="41148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526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44805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분석관 탐색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0" y="4480560"/>
            <a:ext cx="7068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그래프 탐색을 통한 위협 네트워크 패턴 발견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" y="5440680"/>
            <a:ext cx="411480" cy="41148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440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53949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 경보 + 작전 결심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0" y="5394960"/>
            <a:ext cx="7068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이상 패턴 자동 감지 → 인간 분석관 최종 판단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 / 55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IED 탐지에서 기존 군 시스템보다 우수한 성능을 보였다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국방/정보기관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아프가니스탄 IED 탐지에서 DCGS-A(기존 군 시스템) 대비 우수한 성능 보고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그러나 전군 표준화(DCGS-A 대체)는 실패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다중 정보 소스의 관계 그래프가 IED 네트워크 패턴 탐지에 효과적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Intelligence Augmentation 철학: 완전 자동화가 아닌 인간+소프트웨어 협업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Wikipedia. 독립 성능 비교 데이터는 제한적.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27 / 55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"남은 작업이 무엇인가"라는 질문에 아무도 답할 수 없었다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Airbus Skywise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A350 생산량 4배 증가 목표 → 5백만 개 부품, 4개국, 8+ 공장 데이터 통합 필요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"특정 항공기에 현재 남은 작업이 무엇인가?"에 답하는 시스템이 없었음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공장, 부서, 시스템이 독립적으로 데이터를 관리하는 사일로 상태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항공기 한 대당 최대 20,000개 센서, 비행당 100만 데이터 포인트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 / 55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항공기-센서-부품-공급업체의 이중 그래프를 구축했다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Airbus Skywise</a:t>
            </a:r>
            <a:endParaRPr lang="en-US" sz="16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그래프 1: 운용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역할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그래프 2: 공급망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역할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Aircraft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기종별 꼬리번호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Supplier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부품 공급업체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Sensor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항공기당 2만개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Part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5백만 개 부품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Reading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센서 측정값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WorkOrder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작업 지시서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MaintenanceEvent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정비 이력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ProductionSchedule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생산 일정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29 / 55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A350 납품이 33% 가속화되었다 (팔란티어 발표)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Airbus Skywise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373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A7BF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33%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85800" y="2697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A350 납품 가속화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64592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/>
        </p:spPr>
      </p:sp>
      <p:sp>
        <p:nvSpPr>
          <p:cNvPr id="9" name="Text 7"/>
          <p:cNvSpPr/>
          <p:nvPr/>
        </p:nvSpPr>
        <p:spPr>
          <a:xfrm>
            <a:off x="4434840" y="17373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D4A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50,000+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434840" y="2697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사용자 수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8183880" y="17373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B02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10,500+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8183880" y="2697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 항공기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38404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출처: 팔란티어-에어버스 공동 PDF (2020). 독립 검증 없음. 2026년 다년간 협력 연장 계약 체결.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 / 55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Skywise는 50,000명 사용자, 10,500대 항공기를 연결한다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Airbus Skywise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세계 최대 항공 데이터 통합 플랫폼으로 성장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항공사, MRO, 제조사가 하나의 온톨로지를 공유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예측 정비: 센서 Reading → Alert → WorkOrder 자동 생성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공급망 최적화: Supplier → Part → ProductionSchedule 연계로 병목 조기 탐지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사례가 보여주는 핵심: 온톨로지의 가치는 단일 사용처가 아닌 다중 앱의 공유 데이터 모델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31 / 55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팔란티어는 자체 온톨로지 대신 OMOP 표준을 수용했다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N3C (헬스케어)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N3C = National COVID Cohort Collaborative, 75개+ 의료기관 참여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팔란티어가 자체 온톨로지를 설계하지 않고 OMOP 5.3.1 CDM 업계 표준 수용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Object Types: Patient, Encounter, Lab Result, Diagnosis, Procedure, Medication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시사점: 팔란티어의 가치는 "온톨로지 설계"보다 "어떤 표준이든 그 위에서 통합·운영"하는 능력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 / 55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1,300만 환자, 50억 행의 COVID 데이터를 통합했다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N3C (헬스케어)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373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A7BF7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13M+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85800" y="2697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환자 수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64592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/>
        </p:spPr>
      </p:sp>
      <p:sp>
        <p:nvSpPr>
          <p:cNvPr id="9" name="Text 7"/>
          <p:cNvSpPr/>
          <p:nvPr/>
        </p:nvSpPr>
        <p:spPr>
          <a:xfrm>
            <a:off x="4434840" y="17373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D4A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50억+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434840" y="2697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8183880" y="17373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B02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75+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8183880" y="2697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참여 기관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38404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출처: PMC 학술 논문 (PMID 32761549). N3C 데이터 규모는 학술적으로 검증된 독립 수치.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 / 55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백신 배분과 약물 재창출 의사결정을 지원했다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Tiberius (헬스케어)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Tiberius 시스템: 연방-주정부-약국 체인까지 연결하는 백신 배분 플랫폼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취약 집단 우선 백신 배분 최적화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코로나19-기저질환 상관관계 분석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약물 재창출 후보 탐색: 기존 약물의 새로운 적응증 발견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온톨로지의 역할: 다기관 데이터를 하나의 Patient 중심 뷰로 통합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34 / 55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BP는 200만 센서의 실시간 디지털 트윈을 구축했다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에너지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2014년부터 팔란티어와 협력, 200만+ 센서 실시간 통합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온톨로지: Asset(설비) → Sensor → Reading → Alert → WorkOrder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생산 최적화: Well/Field → ProductionForecast 연계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AIP 추가 이후: 자연어로 "북해 플랫폼의 압력 이상 설비 목록" 질의 가능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온톨로지가 LLM의 배경 지식 역할 — 엔지니어의 질문을 구조화된 쿼리로 변환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35 / 55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금융 AML에서 25개 위험 지표를 관계 그래프로 연결했다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</a:t>
            </a:r>
            <a:endParaRPr lang="en-US" sz="16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Object Type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역할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관계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Customer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고객 (25+ 위험 지표)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→ Account, Entity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Account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계좌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→ Transaction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Transaction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거래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→ Account(from/to)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Entity/Network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실소유권 그래프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→ Organization (체인)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Alert/Case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경보 및 사건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→ Customer, Transaction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Sanction/PEP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제재·정치적 노출인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→ Customer Match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출처: 팔란티어 AML 브로슈어. KYC 10일→10시간, TP 40배 등은 자체 주장 (독립 검증 없음).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36 / 55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ICE 사례는 온톨로지의 도구 비중립성을 보여준다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정부/이민집행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FALCON/ICM 플랫폼: Subject, Case, Travel, Location, Vehicle, Encounter 통합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FOIA 공개: 민사 추방 대상을 형사 수사로 등록하여 데이터 접근 확대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ELITE 도구(2026): 메디케이드 건강 데이터를 이민 집행에 연계 — 심각한 프라이버시 문제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 설계(어떤 엔티티를 어떻게 연결하는가)가 권력 구조를 결정한다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기술적 질문이 곧 정치적 질문이 되는 사례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37 / 55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6개 산업에서 온톨로지는 동일한 설계 패턴을 따른다</a:t>
            </a:r>
            <a:endParaRPr lang="en-US" sz="28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1584525"/>
                <a:gridCol w="1584525"/>
                <a:gridCol w="1584525"/>
                <a:gridCol w="1584525"/>
                <a:gridCol w="1584525"/>
                <a:gridCol w="1584525"/>
                <a:gridCol w="1584525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패턴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국방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헬스케어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에너지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금융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엔티티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Person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Patient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Aircraft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Asset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Customer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Subject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이벤트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Event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Encounter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FlightPhase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Reading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Transaction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Encounter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계층 소속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Org→Person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Supplier→Part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Well→Asset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Org→Account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Case→Subject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경보/결과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WorkOrder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Alert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Alert/Case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Case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38 / 55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핵심은 "이 엔티티의 모든 정보를 한 뷰로" 보는 것이다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사례에서 동일한 문제 해결: "이 엔티티와 관련된 모든 정보를 하나의 뷰에서"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차이는 도메인별 엔티티와 관계의 구체적 내용뿐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공통 구조: 핵심 엔티티 허브 + 이벤트 타임라인 + 계층적 소속 + 경보/결과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패턴이 반복 가능하다는 것이 팔란티어의 산업 횡단 확장력의 근거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동시에, 각 도메인의 구체적 온톨로지 구축에는 FDE의 도메인 전문성이 필수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39 / 55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6153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AIP: LLM과 온톨로지의 결합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0" y="320040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Grounding, 환각 감소, 도구 호출, Agent Studio, 진화 역사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 / 55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LLM은 전체가 아닌 선택된 Object만 변수로 받는다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Grounding 메커니즘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"AIP does not magically scan the entire ontology."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AIP Logic 함수 실행 시 특정 Object들이 변수처럼 주입된다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LLM은 사용자/프로젝트의 권한 범위 안에서만 온톨로지에 접근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Google Knowledge Graph와 구조적으로 유사 (검색 정확도 향상 원리)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차이: 팔란티어는 엔터프라이즈 특정 지식을 폐쇄적 그래프로 관리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594360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출처: Sainath Palla, Towards AI (2025-11)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41 / 55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온톨로지 쿼리가 LLM의 환각을 줄인다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3629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 없이 (직접 생성)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362956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"Distribution Center 위치는 어디인가?"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LLM이 자체 생성 → 환각 발생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존재하지 않는 위치를 그럴듯하게 답변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77356" y="1645920"/>
            <a:ext cx="53629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 경유 (쿼리 실행)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77356" y="2194560"/>
            <a:ext cx="5362956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"Distribution Center 위치는 어디인가?"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LLM이 온톨로지 쿼리로 변환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실제 Object에서 데이터 반환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사실 기반 정확한 답변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출처: Palantir Blog (2024-07). 자체 사례이며 독립 벤치마크는 확인되지 않음.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42 / 55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Actions와 Functions가 LLM의 도구로 등록된다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AIP Logic에서 Actions와 Functions가 LLM의 "도구(Tool)"로 등록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LLM이 추론 과정에서 어떤 도구를 호출할지 스스로 결정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온톨로지를 통해 실제 시스템에 작용 (읽기 + 쓰기)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 상속: LLM은 사용자의 권한 범위 안에서만 작동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예시: 재고 확인(Function) → 공급업체 평가(Function) → 주문 생성(Action)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43 / 55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Gotham(2008) → Foundry(2016) → AIP(2023)로 진화했다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" cy="457200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5" name="Shape 3"/>
          <p:cNvSpPr/>
          <p:nvPr/>
        </p:nvSpPr>
        <p:spPr>
          <a:xfrm>
            <a:off x="470916" y="17556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459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2008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03120" y="1645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Gotham: 정보기관용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103120" y="1965960"/>
            <a:ext cx="95371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엔티티 관계 그래프. CIA/NSA용 Intelligence Augmentation. In-Q-Tel 초기 투자.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2514600"/>
            <a:ext cx="107259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" y="26700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560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2016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03120" y="2560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Foundry: 기업용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103120" y="2880360"/>
            <a:ext cx="95371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Object/Property/Link/Action 4요소 정형화. 비즈니스 디지털 트윈. Airbus, Morgan Stanley 도입.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429000"/>
            <a:ext cx="107259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" y="35844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474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03120" y="3474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AIP: AI 결합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103120" y="3794760"/>
            <a:ext cx="95371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+ 온톨로지 연결. AIP Logic (노코드 LLM 함수). Grounding layer 역할.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4343400"/>
            <a:ext cx="107259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" y="44988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3891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103120" y="4389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 Studio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103120" y="4709160"/>
            <a:ext cx="95371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멀티스텝 에이전트. AIP Evals (신뢰성 테스트). 1,000+ 기업 Bootcamp.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14400" y="5257800"/>
            <a:ext cx="1072591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" y="5413248"/>
            <a:ext cx="210312" cy="210312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5303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103120" y="5303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최신 확장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2103120" y="5623560"/>
            <a:ext cx="95371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Opus 4 에이전트, Python SDK v2, Qualcomm 엣지 AI 연동.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44 / 55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AIP Agent Studio가 멀티스텝 자동화를 지원한다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45920"/>
            <a:ext cx="53721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AIP Logic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노코드 LLM 함수 빌더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입력: Ontology Object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출력: 추천, 편집, 새 Object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보안: 사용자 권한 상속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31636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49924" y="1645920"/>
            <a:ext cx="53721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6414516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Agent Studio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14516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멀티스텝 에이전트 워크플로우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재고 확인 → 공급업체 평가 → 주문 생성 같은 연속 작업 자동화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4160520"/>
            <a:ext cx="5372100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AIP Evals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 신뢰성 테스트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 호출 정확도, 출력 품질, 엣지 케이스 자동 검증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31636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49924" y="4160520"/>
            <a:ext cx="537210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6414516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OSDK 연동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14516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Ontology SDK로 외부 앱 배포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TypeScript/Python/Java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2024년 말 베타 출시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 / 55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3752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3044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0" y="2286000"/>
            <a:ext cx="6153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균형 잡힌 평가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0" y="3200400"/>
            <a:ext cx="6153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차별점, 벤더 락인, 과대포장 비판, 의사결정 가이드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46 / 55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경쟁사 대비 실행 가능한 운영 레이어가 차별점이다</a:t>
            </a:r>
            <a:endParaRPr lang="en-US" sz="28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Palantir Foundry/AIP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Databricks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Snowflake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시맨틱 레이어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실행 가능한 운영 레이어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Unity Catalog (메타데이터)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YAML 시맨틱 모델 (분석)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집중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운영 워크플로우에 AI 배포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모델 빌딩·훈련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기반 분석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주요 사용자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비즈니스 분석가, 운영팀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데이터 엔지니어, 과학자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분석가, 데이터 엔지니어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오픈소스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코어 폐쇄, SDK/API 공개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오픈소스 (Delta Lake)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Apache Iceberg 지원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대상 규모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$500M+ 연매출 기업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47 / 55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개념은 동형이나 통합에서 제품 레벨 차별점이 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3629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Feng의 비판 (근거 강도: 중간)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362956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Object/Property/Link/Action은 Table/Column/FK/SP와 동형</a:t>
            </a:r>
            <a:endParaRPr lang="en-US" sz="140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아리스토텔레스 → ER → OOP → OWL → Palantir: 5번째 재포장</a:t>
            </a:r>
            <a:endParaRPr lang="en-US" sz="140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"같은 것에 다른 이름을 붙여 3자리 수 배의 가격"</a:t>
            </a:r>
            <a:endParaRPr lang="en-US" sz="140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PostgreSQL 전문가의 외부 관찰에 기반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77356" y="1645920"/>
            <a:ext cx="53629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통합 판단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277356" y="2194560"/>
            <a:ext cx="5362956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 프리미티브 동형성은 기술적으로 유효</a:t>
            </a:r>
            <a:endParaRPr lang="en-US" sz="140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그러나 4중 통합(데이터+로직+액션+보안)은 기존 개별 시스템 조합으로 달성 어려움</a:t>
            </a:r>
            <a:endParaRPr lang="en-US" sz="140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GUI 기반 비개발자 접근성 + AI 연동 내장</a:t>
            </a:r>
            <a:endParaRPr lang="en-US" sz="140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Feng 자신도 "가치는 개념 밖에 있다" 인정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48 / 55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벤더 락인은 구조적 문제이나 SDK/API는 공개되어 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코어 플랫폼은 폐쇄 소스이나, OSDK(GitHub 공개), JSON/OpenAPI 내보내기 지원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데이터를 CSV/JSON으로 내보낼 수 있지만 다른 시스템에서 즉시 사용 불가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 위에 워크플로우와 앱이 쌓이면 전환 비용이 기하급수적으로 증가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Databricks(Delta Lake), Snowflake(Iceberg)와 달리 자체 호스팅 불가</a:t>
            </a:r>
            <a:endParaRPr lang="en-US" sz="1700" dirty="0"/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정부 계약의 경우 기술 주권(technological sovereignty) 장기 리스크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594360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출처: HASH.ai "The Problem with Palantir" (2025-04)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49 / 55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모든 정량적 성과 데이터는 팔란티어 자체 출처이다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신뢰도 매트릭스</a:t>
            </a:r>
            <a:endParaRPr lang="en-US" sz="16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주장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확신도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독립 검증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4중 통합이 제품 차별점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팔란티어 공식 문서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불필요 (기술 구조 사실)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프리미티브가 DB와 동형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Feng (vonng.com)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기술적으로 유효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A350 33% 가속화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팔란티어-에어버스 PDF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6B6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KYC 20배 효율화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팔란티어 AML 브로슈어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낮음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6B6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벤더 락인 심각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HASH.ai 독립 분석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있음 (구조적 논거)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AIP 환각 감소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팔란티어 블로그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6B6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정부 매출 비중 54%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Annual Report (IR)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있음 (공시)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 / 55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 상충점 4건의 통합 판단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상충점 해결 테이블</a:t>
            </a:r>
            <a:endParaRPr lang="en-US" sz="16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상충 주제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통합 판단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기술적 독창성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개념은 동형이나, 통합·접근성에서 제품 레벨 차별점 존재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벤더 락인 심각도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코어 폐쇄이나 SDK/API 공개; 전환 비용은 실질적으로 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Feng 비판 근거 강도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중간으로 하향 조정 (비사용자 외부 관찰, 제품 가치 미포함)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성과 수치 신뢰도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모든 정량적 성과에 "팔란티어 주장" 태그 부착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51 / 55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도입 검토 시 7가지 조건별 의사결정 가이드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역방향 의사결정 가이드</a:t>
            </a:r>
            <a:endParaRPr lang="en-US" sz="16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의사결정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이종 데이터 소스 10개 미만, 단일 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ETL + BI 도구로 충분한지 먼저 검토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"분석"이 아닌 "운영 실행" 수준 필요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Action/Writeback이 차별점. 경쟁사에 없는 기능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연간 SW 예산 $5M 미만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AIP Bootcamp 활용하되 복잡한 온톨로지는 예산 초과 위험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LLM + 운영 워크플로우 통합 목표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기구축 온톨로지가 있으면 AIP ROI 높음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멀티벤더/오픈소스 원칙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벤더 락인 리스크. 오픈소스 조합 검토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비즈니스 도메인이 빠르게 변화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온톨로지 유지보수 부담. "불완전한 온톨로지는 위험"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정부/규제 환경 데이터 통합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조달 경험·보안 인증이 강점. 윤리적 리스크 평가 필요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52 / 55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리서치에서 발견된 4가지 예상 밖 사실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45920"/>
            <a:ext cx="53721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N3C: 표준 수용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팔란티어가 자체 온톨로지 대신 OMOP CDM 업계 표준을 수용. 가치는 설계가 아닌 통합 플랫폼 능력에.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31636" y="16459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49924" y="1645920"/>
            <a:ext cx="53721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6414516" y="18288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ICE: 도구 비중립성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14516" y="21488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온톨로지 설계(엔티티 연결 방식)가 권력 구조를 결정. 기술적 질문이 정치적 질문이 되는 사례.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4160520"/>
            <a:ext cx="5372100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MCP: 독점적 위치 위협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OpenAI/Anthropic의 MCP 표준화가 확산되면 grounding layer 독점 포지션 약화 가능.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31636" y="4160520"/>
            <a:ext cx="5408676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49924" y="4160520"/>
            <a:ext cx="537210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6414516" y="4343400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오픈소스 재현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14516" y="4663440"/>
            <a:ext cx="5042916" cy="155448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3-layer 온톨로지 아키텍처를 오픈소스로 재현한 프로젝트 존재. 진짜 해자는 FDE+정부 관계.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53 / 55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다음에 조사해야 할 3가지 후속 질문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457200" cy="45720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737360"/>
            <a:ext cx="101772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온톨로지 구축의 실제 ROI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2194560"/>
            <a:ext cx="101772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"ETL + 범용 LLM" 대비 팔란티어 온톨로지의 경제적 타당성.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중견기업($50M~$500M)에서의 손익분기점은 어디인가?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383280"/>
            <a:ext cx="457200" cy="45720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3291840"/>
            <a:ext cx="101772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온톨로지 거버넌스 실무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3749040"/>
            <a:ext cx="101772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대규모 조직(Object Type 수백 개)에서 변경 승인, 스튜어드 역할, 팀 간 충돌 해결.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FDE 철수 후 자체 운영이 가능한가?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4937760"/>
            <a:ext cx="457200" cy="45720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937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4846320"/>
            <a:ext cx="101772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MCP 시대의 포지셔닝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5303520"/>
            <a:ext cx="101772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MCP가 표준으로 자리잡을 경우 온톨로지의 grounding layer 역할은 어떻게 변하는가?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팔란티어가 MCP를 수용할 것인가, 독자 생태계를 유지할 것인가?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54 / 55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 요약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411480" cy="41148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737360"/>
            <a:ext cx="102687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팔란티어 온톨로지의 개념은 기존 DB 모델링과 동형이나, 데이터+로직+액션+보안의 4중 통합으로 제품 레벨 차별화를 달성했다.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880360"/>
            <a:ext cx="411480" cy="41148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880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834640"/>
            <a:ext cx="102687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6개 산업에서 "핵심 엔티티 허브 + 이벤트 타임라인 + 계층적 소속"이라는 일관된 패턴으로 작동하며, AIP를 통해 LLM의 grounding layer로 진화했다.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3977640"/>
            <a:ext cx="411480" cy="41148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977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3931920"/>
            <a:ext cx="102687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성과 수치가 자체 출처이며 벤더 락인이 구조적으로 존재하므로, 도입 검토 시 ROI 정량화와 대안 비교가 필수적이다.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5303520"/>
            <a:ext cx="11091672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5778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검색 비용: Perplexity ~$1.76 (26회) | Tavily 42/1,000 크레딧 (31회) | 총 57회 API 호출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55 / 55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2026-03-23T16:18:44Z</dcterms:created>
  <dcterms:modified xsi:type="dcterms:W3CDTF">2026-03-23T16:18:44Z</dcterms:modified>
</cp:coreProperties>
</file>