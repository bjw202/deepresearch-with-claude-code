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</p:sldIdLst>
  <p:notesMasterIdLst>
    <p:notesMasterId r:id="rId5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notesMaster" Target="notesMasters/notesMaster1.xml"/><Relationship Id="rId60" Type="http://schemas.openxmlformats.org/officeDocument/2006/relationships/presProps" Target="presProps.xml"/><Relationship Id="rId61" Type="http://schemas.openxmlformats.org/officeDocument/2006/relationships/viewProps" Target="viewProps.xml"/><Relationship Id="rId62" Type="http://schemas.openxmlformats.org/officeDocument/2006/relationships/theme" Target="theme/theme1.xml"/><Relationship Id="rId6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0" y="2103120"/>
            <a:ext cx="1371600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4" name="Text 2"/>
          <p:cNvSpPr/>
          <p:nvPr/>
        </p:nvSpPr>
        <p:spPr>
          <a:xfrm>
            <a:off x="1371600" y="2286000"/>
            <a:ext cx="944575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4000" b="1" spc="-50" kern="0" dirty="0">
                <a:solidFill>
                  <a:srgbClr val="FFFFFF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공장의 불량, AI가 원인을 찾고</a:t>
            </a:r>
            <a:endParaRPr lang="en-US" sz="4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4000" b="1" spc="-50" kern="0" dirty="0">
                <a:solidFill>
                  <a:srgbClr val="FFFFFF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레시피를 고칠 수 있을까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1371600" y="3749040"/>
            <a:ext cx="94457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>
                    <a:alpha val="7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온톨로지 + AI 에이전트 기반 제조 공정 제어 가능성 조사 | 2026-03-20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 / 57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오늘 이야기할 것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411480" cy="411480"/>
          </a:xfrm>
          <a:prstGeom prst="ellipse">
            <a:avLst/>
          </a:prstGeom>
          <a:solidFill>
            <a:srgbClr val="4A7BF7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002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80160" y="155448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이미 돌아가고 있는 시스템들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486400" y="155448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기존 공정 제어 도구의 역할과 한계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2258568"/>
            <a:ext cx="411480" cy="411480"/>
          </a:xfrm>
          <a:prstGeom prst="ellipse">
            <a:avLst/>
          </a:prstGeom>
          <a:solidFill>
            <a:srgbClr val="4A7BF7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25856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80160" y="2212848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AI 보조 시스템의 구조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5486400" y="2212848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 가지 기술의 역할 분담과 전체 흐름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2916936"/>
            <a:ext cx="411480" cy="411480"/>
          </a:xfrm>
          <a:prstGeom prst="ellipse">
            <a:avLst/>
          </a:prstGeom>
          <a:solidFill>
            <a:srgbClr val="4A7BF7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91693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80160" y="2871216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지식의 지도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5486400" y="2871216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불량-원인-파라미터 관계를 컴퓨터가 읽을 수 있게 정리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3575304"/>
            <a:ext cx="411480" cy="411480"/>
          </a:xfrm>
          <a:prstGeom prst="ellipse">
            <a:avLst/>
          </a:prstGeom>
          <a:solidFill>
            <a:srgbClr val="4A7BF7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57530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80160" y="3529584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AI의 역할과 한계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5486400" y="3529584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AI가 잘하는 일과 못하는 일 구분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40080" y="4233672"/>
            <a:ext cx="411480" cy="411480"/>
          </a:xfrm>
          <a:prstGeom prst="ellipse">
            <a:avLst/>
          </a:prstGeom>
          <a:solidFill>
            <a:srgbClr val="4A7BF7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423367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05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280160" y="4187952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실제 현장 사례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5486400" y="4187952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이미 작동하고 있는 유사 시스템들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40080" y="4892040"/>
            <a:ext cx="411480" cy="411480"/>
          </a:xfrm>
          <a:prstGeom prst="ellipse">
            <a:avLst/>
          </a:prstGeom>
          <a:solidFill>
            <a:srgbClr val="4A7BF7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48920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06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280160" y="484632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위험과 장벽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5486400" y="484632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안전, 규제, 조직 저항, 데이터 인프라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40080" y="5550408"/>
            <a:ext cx="411480" cy="411480"/>
          </a:xfrm>
          <a:prstGeom prst="ellipse">
            <a:avLst/>
          </a:prstGeom>
          <a:solidFill>
            <a:srgbClr val="4A7BF7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" y="555040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07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280160" y="5504688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어디서, 어떻게 시작할 것인가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5486400" y="5504688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단계적 도입 전략과 시작점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 / 57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3" name="Shape 1"/>
          <p:cNvSpPr/>
          <p:nvPr/>
        </p:nvSpPr>
        <p:spPr>
          <a:xfrm>
            <a:off x="5641848" y="1828800"/>
            <a:ext cx="91440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4" name="Text 2"/>
          <p:cNvSpPr/>
          <p:nvPr/>
        </p:nvSpPr>
        <p:spPr>
          <a:xfrm>
            <a:off x="1371600" y="2286000"/>
            <a:ext cx="9445752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2600" i="1" dirty="0">
                <a:solidFill>
                  <a:srgbClr val="1A1F36"/>
                </a:solidFill>
                <a:latin typeface="ChosunNm" pitchFamily="34" charset="0"/>
                <a:ea typeface="ChosunNm" pitchFamily="34" charset="-122"/>
                <a:cs typeface="ChosunNm" pitchFamily="34" charset="-120"/>
              </a:rPr>
              <a:t>“같은 불량이 반복되는데,</a:t>
            </a:r>
            <a:endParaRPr lang="en-US" sz="26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2600" i="1" dirty="0">
                <a:solidFill>
                  <a:srgbClr val="1A1F36"/>
                </a:solidFill>
                <a:latin typeface="ChosunNm" pitchFamily="34" charset="0"/>
                <a:ea typeface="ChosunNm" pitchFamily="34" charset="-122"/>
                <a:cs typeface="ChosunNm" pitchFamily="34" charset="-120"/>
              </a:rPr>
              <a:t>매번 사람이 원인을 찾고 레시피를 수정한다”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371600" y="4754880"/>
            <a:ext cx="9445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 제조 현장의 공통 과제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 / 57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불량 감지부터 레시피 수정까지, 지금은 대부분 수동이다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1091672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불량 감지: SPC(통계적 공정 관리) 관리도가 이상 신호를 띄움</a:t>
            </a:r>
            <a:endParaRPr lang="en-US" sz="17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원인 분석: 엔지니어가 경험과 데이터를 뒤져서 원인을 찾음</a:t>
            </a:r>
            <a:endParaRPr lang="en-US" sz="17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레시피 수정: 파라미터를 수동으로 조정하고 시험 생산</a:t>
            </a:r>
            <a:endParaRPr lang="en-US" sz="17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설비 적용: 수정된 레시피를 설비에 직접 입력</a:t>
            </a:r>
            <a:endParaRPr lang="en-US" sz="17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 확인: 다음 생산 결과를 기다림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4480560"/>
            <a:ext cx="11091672" cy="1463040"/>
          </a:xfrm>
          <a:prstGeom prst="roundRect">
            <a:avLst>
              <a:gd name="adj" fmla="val 6250"/>
            </a:avLst>
          </a:prstGeom>
          <a:solidFill>
            <a:srgbClr val="FFF5F5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45720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6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핵심 병목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4892040"/>
            <a:ext cx="1054303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원인 분석에 수 시간~수 일 소요, 숙련 엔지니어 의존, 같은 불량이 반복되어도 매번 처음부터 분석, 과거 이력이 체계적으로 축적되지 않음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 / 57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만약 AI가 원인을 찾고, 레시피를 제안하고, 설비에 내려준다면?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1828800" cy="731520"/>
          </a:xfrm>
          <a:prstGeom prst="roundRect">
            <a:avLst>
              <a:gd name="adj" fmla="val 10000"/>
            </a:avLst>
          </a:prstGeom>
          <a:solidFill>
            <a:srgbClr val="FF6B6B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01168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불량 감지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468880" y="2011680"/>
            <a:ext cx="25603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18096"/>
                </a:solidFill>
              </a:rPr>
              <a:t>▶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24912" y="2011680"/>
            <a:ext cx="1828800" cy="731520"/>
          </a:xfrm>
          <a:prstGeom prst="roundRect">
            <a:avLst>
              <a:gd name="adj" fmla="val 10000"/>
            </a:avLst>
          </a:prstGeom>
          <a:solidFill>
            <a:srgbClr val="4A7BF7"/>
          </a:solidFill>
          <a:ln/>
        </p:spPr>
      </p:sp>
      <p:sp>
        <p:nvSpPr>
          <p:cNvPr id="8" name="Text 6"/>
          <p:cNvSpPr/>
          <p:nvPr/>
        </p:nvSpPr>
        <p:spPr>
          <a:xfrm>
            <a:off x="2724912" y="201168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원인 분석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53712" y="2011680"/>
            <a:ext cx="25603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18096"/>
                </a:solidFill>
              </a:rPr>
              <a:t>▶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809744" y="2011680"/>
            <a:ext cx="1828800" cy="731520"/>
          </a:xfrm>
          <a:prstGeom prst="roundRect">
            <a:avLst>
              <a:gd name="adj" fmla="val 10000"/>
            </a:avLst>
          </a:prstGeom>
          <a:solidFill>
            <a:srgbClr val="00D4AA"/>
          </a:solidFill>
          <a:ln/>
        </p:spPr>
      </p:sp>
      <p:sp>
        <p:nvSpPr>
          <p:cNvPr id="11" name="Text 9"/>
          <p:cNvSpPr/>
          <p:nvPr/>
        </p:nvSpPr>
        <p:spPr>
          <a:xfrm>
            <a:off x="4809744" y="201168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레시피 제안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638544" y="2011680"/>
            <a:ext cx="25603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18096"/>
                </a:solidFill>
              </a:rPr>
              <a:t>▶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894576" y="2011680"/>
            <a:ext cx="1828800" cy="731520"/>
          </a:xfrm>
          <a:prstGeom prst="roundRect">
            <a:avLst>
              <a:gd name="adj" fmla="val 10000"/>
            </a:avLst>
          </a:prstGeom>
          <a:solidFill>
            <a:srgbClr val="FFB020"/>
          </a:solidFill>
          <a:ln/>
        </p:spPr>
      </p:sp>
      <p:sp>
        <p:nvSpPr>
          <p:cNvPr id="14" name="Text 12"/>
          <p:cNvSpPr/>
          <p:nvPr/>
        </p:nvSpPr>
        <p:spPr>
          <a:xfrm>
            <a:off x="6894576" y="201168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사람 승인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723376" y="2011680"/>
            <a:ext cx="25603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18096"/>
                </a:solidFill>
              </a:rPr>
              <a:t>▶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979408" y="2011680"/>
            <a:ext cx="1828800" cy="731520"/>
          </a:xfrm>
          <a:prstGeom prst="roundRect">
            <a:avLst>
              <a:gd name="adj" fmla="val 10000"/>
            </a:avLst>
          </a:prstGeom>
          <a:solidFill>
            <a:srgbClr val="8B5CF6"/>
          </a:solidFill>
          <a:ln/>
        </p:spPr>
      </p:sp>
      <p:sp>
        <p:nvSpPr>
          <p:cNvPr id="17" name="Text 15"/>
          <p:cNvSpPr/>
          <p:nvPr/>
        </p:nvSpPr>
        <p:spPr>
          <a:xfrm>
            <a:off x="8979408" y="201168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설비 적용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40080" y="310896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자동 모니터링으로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즉시 감지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724912" y="310896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KG + AI가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유사 사례 탐색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09744" y="310896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수치는 ML이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계산하여 제안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894576" y="310896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위험도별로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자동/수동 분기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979408" y="310896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OPC UA로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설비에 전달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8640" y="4389120"/>
            <a:ext cx="11091672" cy="1645920"/>
          </a:xfrm>
          <a:prstGeom prst="roundRect">
            <a:avLst>
              <a:gd name="adj" fmla="val 5556"/>
            </a:avLst>
          </a:prstGeom>
          <a:solidFill>
            <a:srgbClr val="F5F7FA"/>
          </a:solidFill>
          <a:ln/>
        </p:spPr>
      </p:sp>
      <p:sp>
        <p:nvSpPr>
          <p:cNvPr id="24" name="Text 22"/>
          <p:cNvSpPr/>
          <p:nvPr/>
        </p:nvSpPr>
        <p:spPr>
          <a:xfrm>
            <a:off x="822960" y="4480560"/>
            <a:ext cx="10543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핵심: 사람을 대체하는 것이 아니라, 분석과 제안을 자동화하여 엔지니어의 판단을 돕는 것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22960" y="5029200"/>
            <a:ext cx="1054303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모니터링 → 지식 탐색 → AI 판단 → ML 계산 → 안전 검증 → 보고서 → 승인 → 설비 전달 → 결과 모니터링 → 지식 축적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 / 57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873752" cy="685800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2286000"/>
            <a:ext cx="304495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00D4AA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01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5486400" y="2286000"/>
            <a:ext cx="615391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1A1F36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이미 돌아가고 있는</a:t>
            </a:r>
            <a:endParaRPr lang="en-US" sz="3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1A1F36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시스템들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0" y="3566160"/>
            <a:ext cx="61539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제조 현장에는 이미 불량 감지, 원인 분석, 레시피 조정을</a:t>
            </a: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담당하는 시스템들이 있다. AI를 논하기 전에 이들을 먼저 이해해야 한다.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 / 57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공정 제어의 4가지 기존 도구를 비교한다</a:t>
            </a:r>
            <a:endParaRPr lang="en-US" sz="2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91672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560320"/>
                <a:gridCol w="3108960"/>
                <a:gridCol w="3136392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시스템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역할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강점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한계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SPC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(통계적 공정 관리)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관리도 기반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이상 감지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단순하고 검증됨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25년 이상 실적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체계적 드리프트 감지 못함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사후 대응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FDC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(불량 감지 분류)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센서 데이터로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실시간 이상 감지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장비 상태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모니터링에 강함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"왜?"에 대한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답은 약함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R2R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(런투런 제어)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런 간 레시피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파라미터 자동 조정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피드백/피드포워드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기반 정밀 보정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정적 모델 기반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비선형 드리프트에 취약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APC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(고급 공정 제어)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R2R + FDC 통합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공장 전체 최적화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수율/처리량/스크랩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동시 개선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구축 비용 높음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모델 유지보수 부담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 / 57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통계적 공정 관리: 25년 검증된 기본기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1430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SPC (Statistical Process Control)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1645920"/>
            <a:ext cx="11091672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관리도(Control Chart)로 공정의 이상 여부를 판단하는 가장 전통적인 방법</a:t>
            </a:r>
            <a:endParaRPr lang="en-US" sz="17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Western Electric 규칙 등 통계적 기준으로 이상 신호를 탐지</a:t>
            </a:r>
            <a:endParaRPr lang="en-US" sz="17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단순하고, 25년 이상 현장에서 검증된 높은 신뢰도</a:t>
            </a:r>
            <a:endParaRPr lang="en-US" sz="17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한계: 도구 마모 같은 체계적 드리프트를 사전에 감지하지 못함</a:t>
            </a:r>
            <a:endParaRPr lang="en-US" sz="17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한계: 이상이 발생한 뒤에 감지하는 사후 대응 방식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 / 57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런투런 제어: 매번 조금씩 레시피를 자동 보정한다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1430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R2R (Run-to-Run Control)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1645920"/>
            <a:ext cx="11091672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 생산 런(Run)이 끝날 때마다, 결과를 보고 다음 런의 파라미터를 자동 조정</a:t>
            </a:r>
            <a:endParaRPr lang="en-US" sz="17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피드백 방식: 이전 결과를 반영하여 보정</a:t>
            </a:r>
            <a:endParaRPr lang="en-US" sz="17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피드포워드 방식: 입력 재료의 변동을 미리 반영</a:t>
            </a:r>
            <a:endParaRPr lang="en-US" sz="17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한계: DOE 기반 정적 모델이라 비선형 드리프트를 따라잡지 못함</a:t>
            </a:r>
            <a:endParaRPr lang="en-US" sz="17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한계: 모델이 실제 공정과 괴리될 수 있음 (부산물 축적, 촉매 열화 등)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 / 57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고급 공정 제어: 공장 전체를 최적화하려는 시도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1430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APC (Advanced Process Control)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1645920"/>
            <a:ext cx="11091672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R2R과 FDC를 통합하여 공장 수준의 제어를 시도하는 상위 시스템</a:t>
            </a:r>
            <a:endParaRPr lang="en-US" sz="17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수율, 처리량, 스크랩률을 동시에 최적화하는 것이 목표</a:t>
            </a:r>
            <a:endParaRPr lang="en-US" sz="17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구축 비용이 높고, 전체 배포해야 효과를 볼 수 있음</a:t>
            </a:r>
            <a:endParaRPr lang="en-US" sz="17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모델 유지보수 부담이 크고, 공정 변경 시 재구축이 필요할 수 있음</a:t>
            </a:r>
            <a:endParaRPr lang="en-US" sz="17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안정 공정에서 R2R/APC는 95~98% 정확도를 유지하는 검증된 솔루션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 / 57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기존 시스템이 잘 하는 것 vs 못 하는 것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362956" cy="457200"/>
          </a:xfrm>
          <a:prstGeom prst="roundRect">
            <a:avLst>
              <a:gd name="adj" fmla="val 12000"/>
            </a:avLst>
          </a:prstGeom>
          <a:solidFill>
            <a:srgbClr val="00D4A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45920"/>
            <a:ext cx="53629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잘 하는 것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2286000"/>
            <a:ext cx="5362956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안정적이고 선형적인 공정의 정밀 보정</a:t>
            </a:r>
            <a:endParaRPr lang="en-US" sz="16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결정론적이고 예측 가능한 제어</a:t>
            </a:r>
            <a:endParaRPr lang="en-US" sz="16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수십 년간 검증된 높은 신뢰성</a:t>
            </a:r>
            <a:endParaRPr lang="en-US" sz="16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PID/R2R 기반 95~98% 정확도 유지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277356" y="1645920"/>
            <a:ext cx="5362956" cy="457200"/>
          </a:xfrm>
          <a:prstGeom prst="roundRect">
            <a:avLst>
              <a:gd name="adj" fmla="val 12000"/>
            </a:avLst>
          </a:prstGeom>
          <a:solidFill>
            <a:srgbClr val="FF6B6B"/>
          </a:solidFill>
          <a:ln/>
        </p:spPr>
      </p:sp>
      <p:sp>
        <p:nvSpPr>
          <p:cNvPr id="8" name="Text 6"/>
          <p:cNvSpPr/>
          <p:nvPr/>
        </p:nvSpPr>
        <p:spPr>
          <a:xfrm>
            <a:off x="6277356" y="1645920"/>
            <a:ext cx="53629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못 하는 것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277356" y="2286000"/>
            <a:ext cx="5362956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비예측적 드리프트 대응 (부산물 축적, 촉매 열화)</a:t>
            </a:r>
            <a:endParaRPr lang="en-US" sz="16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공정 간 상호작용 파악 (식각→CMP→증착 연쇄 영향)</a:t>
            </a:r>
            <a:endParaRPr lang="en-US" sz="16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숙련 엔지니어의 암묵지 활용</a:t>
            </a:r>
            <a:endParaRPr lang="en-US" sz="16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새로운 불량 모드에 대한 빠른 대응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 / 57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기존 시스템이 충분한 곳에서는 AI가 불필요한 복잡성만 더한다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1091672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안정적이고 선형적인 공정: PID/R2R이 95~98% 정확도를 유지하면 AI 추가 실익 미미</a:t>
            </a:r>
            <a:endParaRPr lang="en-US" sz="17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데이터가 부족한 공정: AI는 대량의 양질 데이터가 필요, 부족하면 전통 방법이 더 신뢰성 있음</a:t>
            </a:r>
            <a:endParaRPr lang="en-US" sz="17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실시간 결정론적 제어: AI의 확률적 특성은 보장된 응답 시간이 필요한 곳에 부적합</a:t>
            </a:r>
            <a:endParaRPr lang="en-US" sz="17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기본 CNC 가공, 재고 관리 등 루틴 작업: 전통적 최적화가 충분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4754880"/>
            <a:ext cx="11091672" cy="1097280"/>
          </a:xfrm>
          <a:prstGeom prst="roundRect">
            <a:avLst>
              <a:gd name="adj" fmla="val 8333"/>
            </a:avLst>
          </a:prstGeom>
          <a:solidFill>
            <a:srgbClr val="F5F7FA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4846320"/>
            <a:ext cx="10543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7BF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✔  의사결정 질문: "우리 공정이 R2R만으로 못 잡는 변동성이 있는가?"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5212080"/>
            <a:ext cx="10543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없다면 AI 도입 실익이 낮다. "비예측적 드리프트가 있는 특정 공정"에서만 AI가 가치를 더한다.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 / 57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873752" cy="685800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2286000"/>
            <a:ext cx="304495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00D4AA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02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5486400" y="2286000"/>
            <a:ext cx="615391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1A1F36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AI 보조 시스템은</a:t>
            </a:r>
            <a:endParaRPr lang="en-US" sz="3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1A1F36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어떤 구조로 만들 수 있는가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0" y="3566160"/>
            <a:ext cx="61539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기존 시스템을 대체하지 않고, 그 위에 지능형 보조 계층을 올리는 설계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 / 57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핵심 아이디어: 세 가지 기술이 각자 잘하는 일을 분담한다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1091672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LLM(대규모 언어 모델): "어떤 파라미터를 왜 조정해야 하는지" 판단하고 설명</a:t>
            </a:r>
            <a:endParaRPr lang="en-US" sz="1700" dirty="0"/>
          </a:p>
          <a:p>
            <a:pPr marL="342900" indent="-342900">
              <a:lnSpc>
                <a:spcPct val="150000"/>
              </a:lnSpc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전통 ML/물리 모델: "얼마나 조정할지" 구체적 수치를 계산</a:t>
            </a:r>
            <a:endParaRPr lang="en-US" sz="1700" dirty="0"/>
          </a:p>
          <a:p>
            <a:pPr marL="342900" indent="-342900">
              <a:lnSpc>
                <a:spcPct val="150000"/>
              </a:lnSpc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온톨로지/지식그래프: "조정이 안전 범위 내인지" 검증하고, 지식을 축적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3840480"/>
            <a:ext cx="11091672" cy="2103120"/>
          </a:xfrm>
          <a:prstGeom prst="roundRect">
            <a:avLst>
              <a:gd name="adj" fmla="val 4348"/>
            </a:avLst>
          </a:prstGeom>
          <a:solidFill>
            <a:srgbClr val="F5F7FA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3931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왜 이렇게 분리하는가?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4389120"/>
            <a:ext cx="1054303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LLM은 비정형 문서(FMEA, 유지보수 기록)를 읽고 추론하는 데 강하지만, 수치 정밀 계산은 구조적으로 취약 (ACL 2025)</a:t>
            </a:r>
            <a:endParaRPr lang="en-US" sz="1400" dirty="0"/>
          </a:p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전통 ML은 수치 정밀도와 결정론적 일관성에서 우위</a:t>
            </a:r>
            <a:endParaRPr lang="en-US" sz="1400" dirty="0"/>
          </a:p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온톨로지는 추론 경로의 감사 추적과 안전 보장에 필수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 / 57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세 계층의 역할 분담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514039" cy="3840480"/>
          </a:xfrm>
          <a:prstGeom prst="roundRect">
            <a:avLst>
              <a:gd name="adj" fmla="val 260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645920"/>
            <a:ext cx="3477463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828800"/>
            <a:ext cx="3148279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AI 에이전트 (LLM)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2148840"/>
            <a:ext cx="3148279" cy="3154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질문: "어떤 파라미터를 왜 조정?"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지식그래프 질의로 유사 사례 탐색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원인 가설 생성 및 순위화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자연어 보고서 작성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비정형 문서(FMEA, 엔지니어 노트) 활용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36999" y="1645920"/>
            <a:ext cx="3514039" cy="3840480"/>
          </a:xfrm>
          <a:prstGeom prst="roundRect">
            <a:avLst>
              <a:gd name="adj" fmla="val 260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355287" y="1645920"/>
            <a:ext cx="3477463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0" name="Text 8"/>
          <p:cNvSpPr/>
          <p:nvPr/>
        </p:nvSpPr>
        <p:spPr>
          <a:xfrm>
            <a:off x="4519879" y="1828800"/>
            <a:ext cx="3148279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전통 ML / 물리 모델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19879" y="2148840"/>
            <a:ext cx="3148279" cy="3154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질문: "얼마나 조정?"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파라미터 최적화 수치 계산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시뮬레이션 기반 예측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R2R 보정 모델 연동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결정론적 일관성 보장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125358" y="1645920"/>
            <a:ext cx="3514039" cy="3840480"/>
          </a:xfrm>
          <a:prstGeom prst="roundRect">
            <a:avLst>
              <a:gd name="adj" fmla="val 260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143646" y="1645920"/>
            <a:ext cx="3477463" cy="54864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14" name="Text 12"/>
          <p:cNvSpPr/>
          <p:nvPr/>
        </p:nvSpPr>
        <p:spPr>
          <a:xfrm>
            <a:off x="8308238" y="1828800"/>
            <a:ext cx="3148279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지식 사전 (온톨로지/KG)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308238" y="2148840"/>
            <a:ext cx="3148279" cy="3154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질문: "안전 범위 내인가?"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불량-원인-파라미터 관계 저장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안전 제약 조건 검증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분석 이력 축적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추론 경로 감사 추적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 / 57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전체 흐름: 불량 감지부터 설비 적용까지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64208"/>
            <a:ext cx="365760" cy="365760"/>
          </a:xfrm>
          <a:prstGeom prst="ellipse">
            <a:avLst/>
          </a:prstGeom>
          <a:solidFill>
            <a:srgbClr val="4A7BF7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6420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05840" y="1572768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불량 감지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1892808"/>
            <a:ext cx="4814316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SPC/FDC가 이상 신호 발행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514600"/>
            <a:ext cx="365760" cy="365760"/>
          </a:xfrm>
          <a:prstGeom prst="ellipse">
            <a:avLst/>
          </a:prstGeom>
          <a:solidFill>
            <a:srgbClr val="4A7BF7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5146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05840" y="24231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지식 탐색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05840" y="2743200"/>
            <a:ext cx="4814316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온톨로지/KG에서 유사 불량, 원인 후보 조회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364992"/>
            <a:ext cx="365760" cy="365760"/>
          </a:xfrm>
          <a:prstGeom prst="ellipse">
            <a:avLst/>
          </a:prstGeom>
          <a:solidFill>
            <a:srgbClr val="4A7BF7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3649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05840" y="3273552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AI 판단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05840" y="3593592"/>
            <a:ext cx="4814316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LLM이 원인 가설 순위화, 조정할 파라미터 결정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215384"/>
            <a:ext cx="365760" cy="365760"/>
          </a:xfrm>
          <a:prstGeom prst="ellipse">
            <a:avLst/>
          </a:prstGeom>
          <a:solidFill>
            <a:srgbClr val="4A7BF7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21538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05840" y="4123944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ML 계산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05840" y="4443984"/>
            <a:ext cx="4814316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전통 ML/물리 모델이 구체적 수치 산출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5065776"/>
            <a:ext cx="365760" cy="365760"/>
          </a:xfrm>
          <a:prstGeom prst="ellipse">
            <a:avLst/>
          </a:prstGeom>
          <a:solidFill>
            <a:srgbClr val="4A7BF7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506577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974336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안전 검증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05840" y="5294376"/>
            <a:ext cx="4814316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온톨로지가 파라미터 허용 범위 확인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277356" y="1664208"/>
            <a:ext cx="365760" cy="365760"/>
          </a:xfrm>
          <a:prstGeom prst="ellipse">
            <a:avLst/>
          </a:prstGeom>
          <a:solidFill>
            <a:srgbClr val="4A7BF7"/>
          </a:solidFill>
          <a:ln/>
        </p:spPr>
      </p:sp>
      <p:sp>
        <p:nvSpPr>
          <p:cNvPr id="25" name="Text 23"/>
          <p:cNvSpPr/>
          <p:nvPr/>
        </p:nvSpPr>
        <p:spPr>
          <a:xfrm>
            <a:off x="6277356" y="166420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6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734556" y="1572768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보고서 생성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734556" y="1892808"/>
            <a:ext cx="4814316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LLM이 근거, 변경 diff, 영향 범위 정리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277356" y="2514600"/>
            <a:ext cx="365760" cy="365760"/>
          </a:xfrm>
          <a:prstGeom prst="ellipse">
            <a:avLst/>
          </a:prstGeom>
          <a:solidFill>
            <a:srgbClr val="4A7BF7"/>
          </a:solidFill>
          <a:ln/>
        </p:spPr>
      </p:sp>
      <p:sp>
        <p:nvSpPr>
          <p:cNvPr id="29" name="Text 27"/>
          <p:cNvSpPr/>
          <p:nvPr/>
        </p:nvSpPr>
        <p:spPr>
          <a:xfrm>
            <a:off x="6277356" y="25146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7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734556" y="24231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사람 승인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734556" y="2743200"/>
            <a:ext cx="4814316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위험도별로 자동/수동 분기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277356" y="3364992"/>
            <a:ext cx="365760" cy="365760"/>
          </a:xfrm>
          <a:prstGeom prst="ellipse">
            <a:avLst/>
          </a:prstGeom>
          <a:solidFill>
            <a:srgbClr val="4A7BF7"/>
          </a:solidFill>
          <a:ln/>
        </p:spPr>
      </p:sp>
      <p:sp>
        <p:nvSpPr>
          <p:cNvPr id="33" name="Text 31"/>
          <p:cNvSpPr/>
          <p:nvPr/>
        </p:nvSpPr>
        <p:spPr>
          <a:xfrm>
            <a:off x="6277356" y="33649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8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734556" y="3273552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설비 전달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734556" y="3593592"/>
            <a:ext cx="4814316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OPC UA / REST API로 레시피 다운로드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277356" y="4215384"/>
            <a:ext cx="365760" cy="365760"/>
          </a:xfrm>
          <a:prstGeom prst="ellipse">
            <a:avLst/>
          </a:prstGeom>
          <a:solidFill>
            <a:srgbClr val="4A7BF7"/>
          </a:solidFill>
          <a:ln/>
        </p:spPr>
      </p:sp>
      <p:sp>
        <p:nvSpPr>
          <p:cNvPr id="37" name="Text 35"/>
          <p:cNvSpPr/>
          <p:nvPr/>
        </p:nvSpPr>
        <p:spPr>
          <a:xfrm>
            <a:off x="6277356" y="421538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9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734556" y="4123944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결과 모니터링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734556" y="4443984"/>
            <a:ext cx="4814316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적용 후 품질 데이터 추적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6277356" y="5065776"/>
            <a:ext cx="365760" cy="365760"/>
          </a:xfrm>
          <a:prstGeom prst="ellipse">
            <a:avLst/>
          </a:prstGeom>
          <a:solidFill>
            <a:srgbClr val="4A7BF7"/>
          </a:solidFill>
          <a:ln/>
        </p:spPr>
      </p:sp>
      <p:sp>
        <p:nvSpPr>
          <p:cNvPr id="41" name="Text 39"/>
          <p:cNvSpPr/>
          <p:nvPr/>
        </p:nvSpPr>
        <p:spPr>
          <a:xfrm>
            <a:off x="6277356" y="506577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10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6734556" y="4974336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지식 축적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6734556" y="5294376"/>
            <a:ext cx="4814316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결과를 KG에 피드백하여 시스템 학습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 / 57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이 시스템은 기존을 대체하지 않고, 그 위에 올라간다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371600" y="1828800"/>
            <a:ext cx="7315200" cy="1188720"/>
          </a:xfrm>
          <a:prstGeom prst="roundRect">
            <a:avLst>
              <a:gd name="adj" fmla="val 6154"/>
            </a:avLst>
          </a:prstGeom>
          <a:solidFill>
            <a:srgbClr val="4A7BF7"/>
          </a:solidFill>
          <a:ln/>
        </p:spPr>
      </p:sp>
      <p:sp>
        <p:nvSpPr>
          <p:cNvPr id="5" name="Text 3"/>
          <p:cNvSpPr/>
          <p:nvPr/>
        </p:nvSpPr>
        <p:spPr>
          <a:xfrm>
            <a:off x="1645920" y="1965960"/>
            <a:ext cx="6766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제안 시스템 (지능형 보조 계층)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645920" y="2377440"/>
            <a:ext cx="6766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온톨로지/KG + LLM 에이전트 + 전통 ML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961120" y="2148840"/>
            <a:ext cx="1645920" cy="411480"/>
          </a:xfrm>
          <a:prstGeom prst="roundRect">
            <a:avLst>
              <a:gd name="adj" fmla="val 13333"/>
            </a:avLst>
          </a:prstGeom>
          <a:solidFill>
            <a:srgbClr val="4A7BF7"/>
          </a:solidFill>
          <a:ln/>
        </p:spPr>
      </p:sp>
      <p:sp>
        <p:nvSpPr>
          <p:cNvPr id="8" name="Text 6"/>
          <p:cNvSpPr/>
          <p:nvPr/>
        </p:nvSpPr>
        <p:spPr>
          <a:xfrm>
            <a:off x="8961120" y="214884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새로 추가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754880" y="301752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18096"/>
                </a:solidFill>
              </a:rPr>
              <a:t>▼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371600" y="3200400"/>
            <a:ext cx="7315200" cy="1188720"/>
          </a:xfrm>
          <a:prstGeom prst="roundRect">
            <a:avLst>
              <a:gd name="adj" fmla="val 6154"/>
            </a:avLst>
          </a:prstGeom>
          <a:solidFill>
            <a:srgbClr val="00D4AA"/>
          </a:solidFill>
          <a:ln/>
        </p:spPr>
      </p:sp>
      <p:sp>
        <p:nvSpPr>
          <p:cNvPr id="11" name="Text 9"/>
          <p:cNvSpPr/>
          <p:nvPr/>
        </p:nvSpPr>
        <p:spPr>
          <a:xfrm>
            <a:off x="1645920" y="3337560"/>
            <a:ext cx="6766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기존 APC/R2R 시스템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645920" y="3749040"/>
            <a:ext cx="6766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PID/R2R 컨트롤러, SPC, FDC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961120" y="3520440"/>
            <a:ext cx="1645920" cy="411480"/>
          </a:xfrm>
          <a:prstGeom prst="roundRect">
            <a:avLst>
              <a:gd name="adj" fmla="val 13333"/>
            </a:avLst>
          </a:prstGeom>
          <a:solidFill>
            <a:srgbClr val="F5F7FA"/>
          </a:solidFill>
          <a:ln/>
        </p:spPr>
      </p:sp>
      <p:sp>
        <p:nvSpPr>
          <p:cNvPr id="14" name="Text 12"/>
          <p:cNvSpPr/>
          <p:nvPr/>
        </p:nvSpPr>
        <p:spPr>
          <a:xfrm>
            <a:off x="8961120" y="352044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5568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기존 유지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54880" y="438912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18096"/>
                </a:solidFill>
              </a:rPr>
              <a:t>▼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371600" y="4572000"/>
            <a:ext cx="7315200" cy="1188720"/>
          </a:xfrm>
          <a:prstGeom prst="roundRect">
            <a:avLst>
              <a:gd name="adj" fmla="val 6154"/>
            </a:avLst>
          </a:prstGeom>
          <a:solidFill>
            <a:srgbClr val="718096"/>
          </a:solidFill>
          <a:ln/>
        </p:spPr>
      </p:sp>
      <p:sp>
        <p:nvSpPr>
          <p:cNvPr id="17" name="Text 15"/>
          <p:cNvSpPr/>
          <p:nvPr/>
        </p:nvSpPr>
        <p:spPr>
          <a:xfrm>
            <a:off x="1645920" y="4709160"/>
            <a:ext cx="6766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설비 (PLC/DCS)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645920" y="5120640"/>
            <a:ext cx="6766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물리적 장비와 센서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961120" y="4892040"/>
            <a:ext cx="1645920" cy="411480"/>
          </a:xfrm>
          <a:prstGeom prst="roundRect">
            <a:avLst>
              <a:gd name="adj" fmla="val 13333"/>
            </a:avLst>
          </a:prstGeom>
          <a:solidFill>
            <a:srgbClr val="F5F7FA"/>
          </a:solidFill>
          <a:ln/>
        </p:spPr>
      </p:sp>
      <p:sp>
        <p:nvSpPr>
          <p:cNvPr id="20" name="Text 18"/>
          <p:cNvSpPr/>
          <p:nvPr/>
        </p:nvSpPr>
        <p:spPr>
          <a:xfrm>
            <a:off x="8961120" y="489204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5568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기존 유지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640" y="566928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Brownfield 전제: 기존 인프라를 걷어내지 않고, 그 위에 보조/추천 계층으로 추가한다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17 / 57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AI 에이전트들의 역할 분담</a:t>
            </a:r>
            <a:endParaRPr lang="en-US" sz="28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91672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5029200"/>
                <a:gridCol w="4050792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에이전트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역할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사용 도구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오케스트레이터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불량 이벤트 분류, 에이전트 호출 조율, 결과를 승인 단계로 전달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라우팅 로직, 상태 관리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분석 에이전트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KG 질의로 유사 불량 탐색, 통계 분석으로 원인 후보 순위화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KG 질의, SPC 분석, 상관분석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레시피 생성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파라미터 조정안 생성, 기존 레시피와의 차이(diff) 산출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레시피 DB 조회, 시뮬레이션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검증 에이전트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제안된 변경이 물리적/공정적 제약을 위반하지 않는지 확인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공정 시뮬레이터, KG 제약 질의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보고 에이전트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분석 과정과 결론을 사람이 읽을 수 있는 보고서로 정리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템플릿 렌더링, 차트 생성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이력 학습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승인/거부 결과와 적용 후 품질 데이터를 KG에 피드백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KG 쓰기, 모델 업데이트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18 / 57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사람이 반드시 확인하는 구간: 위험도별 분기</a:t>
            </a:r>
            <a:endParaRPr lang="en-US" sz="28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91672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4114800"/>
                <a:gridCol w="5148072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위험도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판단 기준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처리 방식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6B6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Critical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안전 관련 파라미터 변경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설비 손상 가능성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반드시 수동 승인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+ 상위 관리자 에스컬레이션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B02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Major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품질에 직접 영향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고가 원자재 관련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수동 승인 필수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D4A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Minor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미세 조정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과거 승인 이력 있는 패턴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조건부 자동 승인 가능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(동일 패턴 3회 이상 승인 이력 시)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029200"/>
            <a:ext cx="11091672" cy="914400"/>
          </a:xfrm>
          <a:prstGeom prst="roundRect">
            <a:avLst>
              <a:gd name="adj" fmla="val 8000"/>
            </a:avLst>
          </a:prstGeom>
          <a:solidFill>
            <a:srgbClr val="FFF8E1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22960" y="5120640"/>
            <a:ext cx="1054303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자동 승인은 Minor 등급에 한해, 동일 패턴 3회 이상 승인 이력 + 변경 폭 임계값 이내 + 검증 통과일 때만 허용. 자동 승인 후 48시간 이내 결과 모니터링 필수.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19 / 57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승인 화면에는 무엇이 보여야 하는가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53629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승인 화면 필수 정보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2103120"/>
            <a:ext cx="5362956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불량 요약: 유형, 심각도, 감지 시각, 영향 제품</a:t>
            </a:r>
            <a:endParaRPr lang="en-US" sz="1500" dirty="0"/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원인 분석: 후보 원인 순위와 확신도 (0~1)</a:t>
            </a:r>
            <a:endParaRPr lang="en-US" sz="1500" dirty="0"/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레시피 변경 diff: 파라미터별 현재값 → 제안값</a:t>
            </a:r>
            <a:endParaRPr lang="en-US" sz="1500" dirty="0"/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영향 범위: 대상 설비, 영향 제품, 예상 효과</a:t>
            </a:r>
            <a:endParaRPr lang="en-US" sz="1500" dirty="0"/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검증 결과: 파라미터 범위, 인접 공정 영향, 과거 유사 조정 이력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277356" y="1645920"/>
            <a:ext cx="53629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레시피 변경 diff 예시</a:t>
            </a:r>
            <a:endParaRPr lang="en-US" sz="18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77356" y="2103120"/>
          <a:ext cx="5362956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097280"/>
                <a:gridCol w="1097280"/>
                <a:gridCol w="109728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파라미터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현재값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제안값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허용범위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Zone3 온도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260°C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248°C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230~270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컨베이어 속도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0.8 m/min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0.7 m/min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0.5~1.2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가스 유량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150 sccm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145 sccm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120~180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3200400" y="5303520"/>
            <a:ext cx="1828800" cy="548640"/>
          </a:xfrm>
          <a:prstGeom prst="roundRect">
            <a:avLst>
              <a:gd name="adj" fmla="val 10000"/>
            </a:avLst>
          </a:prstGeom>
          <a:solidFill>
            <a:srgbClr val="00D4AA"/>
          </a:solidFill>
          <a:ln/>
        </p:spPr>
      </p:sp>
      <p:sp>
        <p:nvSpPr>
          <p:cNvPr id="9" name="Text 6"/>
          <p:cNvSpPr/>
          <p:nvPr/>
        </p:nvSpPr>
        <p:spPr>
          <a:xfrm>
            <a:off x="3200400" y="53035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승인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212080" y="5303520"/>
            <a:ext cx="1828800" cy="548640"/>
          </a:xfrm>
          <a:prstGeom prst="roundRect">
            <a:avLst>
              <a:gd name="adj" fmla="val 10000"/>
            </a:avLst>
          </a:prstGeom>
          <a:solidFill>
            <a:srgbClr val="FFB020"/>
          </a:solidFill>
          <a:ln/>
        </p:spPr>
      </p:sp>
      <p:sp>
        <p:nvSpPr>
          <p:cNvPr id="11" name="Text 8"/>
          <p:cNvSpPr/>
          <p:nvPr/>
        </p:nvSpPr>
        <p:spPr>
          <a:xfrm>
            <a:off x="5212080" y="53035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수정 후 승인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7223760" y="5303520"/>
            <a:ext cx="1828800" cy="548640"/>
          </a:xfrm>
          <a:prstGeom prst="roundRect">
            <a:avLst>
              <a:gd name="adj" fmla="val 10000"/>
            </a:avLst>
          </a:prstGeom>
          <a:solidFill>
            <a:srgbClr val="FF6B6B"/>
          </a:solidFill>
          <a:ln/>
        </p:spPr>
      </p:sp>
      <p:sp>
        <p:nvSpPr>
          <p:cNvPr id="13" name="Text 10"/>
          <p:cNvSpPr/>
          <p:nvPr/>
        </p:nvSpPr>
        <p:spPr>
          <a:xfrm>
            <a:off x="7223760" y="53035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거부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 / 57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873752" cy="685800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2286000"/>
            <a:ext cx="304495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00D4AA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03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5486400" y="2286000"/>
            <a:ext cx="615391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1A1F36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불량의 원인을 찾으려면</a:t>
            </a:r>
            <a:endParaRPr lang="en-US" sz="3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1A1F36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'지식의 지도'가 필요하다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0" y="3566160"/>
            <a:ext cx="61539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불량-원인-파라미터 관계를 컴퓨터가 읽을 수 있도록</a:t>
            </a: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명시적으로 정리하는 온톨로지와 지식그래프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21 / 57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불량-원인-파라미터의 관계를 컴퓨터가 읽을 수 있게 정리한다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1091672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온톨로지: 개념과 관계를 정의하는 "사전". 예) "불량"에는 "근본 원인"이 있고, 원인에는 "관련 파라미터"가 있다</a:t>
            </a:r>
            <a:endParaRPr lang="en-US" sz="16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지식그래프(KG): 그 사전에 실제 데이터를 채운 것. 예) "표면 기포" → "온도 과다" → "Zone3 온도"</a:t>
            </a:r>
            <a:endParaRPr lang="en-US" sz="16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왜 필요한가: AI가 과거 불량의 원인과 해결 방법을 빠르게 찾을 수 있게 해줌</a:t>
            </a:r>
            <a:endParaRPr lang="en-US" sz="16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단순 검색(RAG) 대비 장점: 관계를 따라가며 추론 가능, 감사 추적 가능, 안전 제약 검증 가능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4846320"/>
            <a:ext cx="11091672" cy="1188720"/>
          </a:xfrm>
          <a:prstGeom prst="roundRect">
            <a:avLst>
              <a:gd name="adj" fmla="val 7692"/>
            </a:avLst>
          </a:prstGeom>
          <a:solidFill>
            <a:srgbClr val="F5F7FA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5029200"/>
            <a:ext cx="2103120" cy="640080"/>
          </a:xfrm>
          <a:prstGeom prst="roundRect">
            <a:avLst>
              <a:gd name="adj" fmla="val 8571"/>
            </a:avLst>
          </a:prstGeom>
          <a:solidFill>
            <a:srgbClr val="FF6B6B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502920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불량(Defect)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017520" y="502920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18096"/>
                </a:solidFill>
              </a:rPr>
              <a:t>→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566160" y="5029200"/>
            <a:ext cx="2103120" cy="640080"/>
          </a:xfrm>
          <a:prstGeom prst="roundRect">
            <a:avLst>
              <a:gd name="adj" fmla="val 8571"/>
            </a:avLst>
          </a:prstGeom>
          <a:solidFill>
            <a:srgbClr val="FFB020"/>
          </a:solidFill>
          <a:ln/>
        </p:spPr>
      </p:sp>
      <p:sp>
        <p:nvSpPr>
          <p:cNvPr id="10" name="Text 8"/>
          <p:cNvSpPr/>
          <p:nvPr/>
        </p:nvSpPr>
        <p:spPr>
          <a:xfrm>
            <a:off x="3566160" y="502920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원인(RootCause)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669280" y="502920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18096"/>
                </a:solidFill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103120" cy="640080"/>
          </a:xfrm>
          <a:prstGeom prst="roundRect">
            <a:avLst>
              <a:gd name="adj" fmla="val 8571"/>
            </a:avLst>
          </a:prstGeom>
          <a:solidFill>
            <a:srgbClr val="4A7BF7"/>
          </a:solidFill>
          <a:ln/>
        </p:spPr>
      </p:sp>
      <p:sp>
        <p:nvSpPr>
          <p:cNvPr id="13" name="Text 11"/>
          <p:cNvSpPr/>
          <p:nvPr/>
        </p:nvSpPr>
        <p:spPr>
          <a:xfrm>
            <a:off x="6217920" y="502920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파라미터(Parameter)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321040" y="502920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18096"/>
                </a:solidFill>
              </a:rPr>
              <a:t>→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869680" y="5029200"/>
            <a:ext cx="2103120" cy="640080"/>
          </a:xfrm>
          <a:prstGeom prst="roundRect">
            <a:avLst>
              <a:gd name="adj" fmla="val 8571"/>
            </a:avLst>
          </a:prstGeom>
          <a:solidFill>
            <a:srgbClr val="00D4AA"/>
          </a:solidFill>
          <a:ln/>
        </p:spPr>
      </p:sp>
      <p:sp>
        <p:nvSpPr>
          <p:cNvPr id="16" name="Text 14"/>
          <p:cNvSpPr/>
          <p:nvPr/>
        </p:nvSpPr>
        <p:spPr>
          <a:xfrm>
            <a:off x="8869680" y="502920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레시피(Recipe)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22 / 57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제품-공정-자원 구조 위에 불량과 레시피 개념을 확장한다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1430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MASON PPR (제조 온톨로지) 확장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514039" cy="4114800"/>
          </a:xfrm>
          <a:prstGeom prst="roundRect">
            <a:avLst>
              <a:gd name="adj" fmla="val 260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66928" y="1737360"/>
            <a:ext cx="3477463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920240"/>
            <a:ext cx="314827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Product (제품/개체)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2377440"/>
            <a:ext cx="3148279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기존: 제품 정의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" y="2743200"/>
            <a:ext cx="3148279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834640"/>
            <a:ext cx="314827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7BF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확장 개념: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3108960"/>
            <a:ext cx="3148279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 Defect (불량 현상)</a:t>
            </a:r>
            <a:endParaRPr lang="en-US" sz="1300" dirty="0"/>
          </a:p>
          <a:p>
            <a:pPr marL="342900" indent="-342900">
              <a:lnSpc>
                <a:spcPct val="150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 QualitySpec (품질 규격)</a:t>
            </a:r>
            <a:endParaRPr lang="en-US" sz="1300" dirty="0"/>
          </a:p>
          <a:p>
            <a:pPr marL="342900" indent="-342900">
              <a:lnSpc>
                <a:spcPct val="150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 Symptom (증상)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336999" y="1737360"/>
            <a:ext cx="3514039" cy="4114800"/>
          </a:xfrm>
          <a:prstGeom prst="roundRect">
            <a:avLst>
              <a:gd name="adj" fmla="val 260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355287" y="1737360"/>
            <a:ext cx="3477463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4" name="Text 12"/>
          <p:cNvSpPr/>
          <p:nvPr/>
        </p:nvSpPr>
        <p:spPr>
          <a:xfrm>
            <a:off x="4519879" y="1920240"/>
            <a:ext cx="314827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Process (공정/작업)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519879" y="2377440"/>
            <a:ext cx="3148279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기존: 공정 단계 정의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19879" y="2743200"/>
            <a:ext cx="3148279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19879" y="2834640"/>
            <a:ext cx="314827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AA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확장 개념: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19879" y="3108960"/>
            <a:ext cx="3148279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 Recipe (레시피)</a:t>
            </a:r>
            <a:endParaRPr lang="en-US" sz="1300" dirty="0"/>
          </a:p>
          <a:p>
            <a:pPr marL="342900" indent="-342900">
              <a:lnSpc>
                <a:spcPct val="150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 Parameter (공정 파라미터)</a:t>
            </a:r>
            <a:endParaRPr lang="en-US" sz="1300" dirty="0"/>
          </a:p>
          <a:p>
            <a:pPr marL="342900" indent="-342900">
              <a:lnSpc>
                <a:spcPct val="150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 Step (공정 단계)</a:t>
            </a:r>
            <a:endParaRPr lang="en-US" sz="1300" dirty="0"/>
          </a:p>
          <a:p>
            <a:pPr marL="342900" indent="-342900">
              <a:lnSpc>
                <a:spcPct val="150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 FMEA (고장 모드 분석)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125358" y="1737360"/>
            <a:ext cx="3514039" cy="4114800"/>
          </a:xfrm>
          <a:prstGeom prst="roundRect">
            <a:avLst>
              <a:gd name="adj" fmla="val 260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143646" y="1737360"/>
            <a:ext cx="3477463" cy="54864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21" name="Text 19"/>
          <p:cNvSpPr/>
          <p:nvPr/>
        </p:nvSpPr>
        <p:spPr>
          <a:xfrm>
            <a:off x="8308238" y="1920240"/>
            <a:ext cx="314827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Resource (자원/설비)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308238" y="2377440"/>
            <a:ext cx="3148279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기존: 설비/자원 정의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308238" y="2743200"/>
            <a:ext cx="3148279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308238" y="2834640"/>
            <a:ext cx="314827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02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확장 개념: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308238" y="3108960"/>
            <a:ext cx="3148279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 Sensor (센서)</a:t>
            </a:r>
            <a:endParaRPr lang="en-US" sz="1300" dirty="0"/>
          </a:p>
          <a:p>
            <a:pPr marL="342900" indent="-342900">
              <a:lnSpc>
                <a:spcPct val="150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 Setting (설정값)</a:t>
            </a:r>
            <a:endParaRPr lang="en-US" sz="1300" dirty="0"/>
          </a:p>
          <a:p>
            <a:pPr marL="342900" indent="-342900">
              <a:lnSpc>
                <a:spcPct val="150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 CalibrationStatus (교정 상태)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23 / 57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지식 지도의 핵심 연결 관계 7가지</a:t>
            </a:r>
            <a:endParaRPr lang="en-US" sz="28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91672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103120"/>
                <a:gridCol w="2560320"/>
                <a:gridCol w="4142232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관계 이름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출발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도착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의미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hasRootCause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불량(Defect)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근본원인(RootCause)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이 불량의 원인은 무엇인가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detectedIn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불량(Defect)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공정(Process)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어떤 공정에서 발견되었는가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causedByParam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근본원인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파라미터(Parameter)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어떤 파라미터가 원인인가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relatedToEquip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근본원인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설비(Equipment)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어떤 설비와 관련되는가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mitigatedBy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근본원인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레시피(Recipe)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어떤 레시피 조정으로 해결하는가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belongsToRecipe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파라미터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레시피(Recipe)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이 파라미터는 어떤 레시피에 속하는가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analyzedDefect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분석기록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불량(Defect)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이 분석은 어떤 불량을 다뤘는가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24 / 57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지식 지도를 처음 만드는 것이 가장 어렵다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1091672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콜드 스타트 문제: 지식그래프가 비어 있으면 AI가 분석할 근거가 없음</a:t>
            </a:r>
            <a:endParaRPr lang="en-US" sz="16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해결 방법: FMEA(고장 모드 영향 분석) 문서에서 LLM으로 관계를 자동 추출</a:t>
            </a:r>
            <a:endParaRPr lang="en-US" sz="16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실제 연구 결과: 온톨로지 기반 LLM 추출이 단순 RAG 대비 F1 점수 약 2배 (0.267 → 0.523)</a:t>
            </a:r>
            <a:endParaRPr lang="en-US" sz="16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arXiv 2510.15428 (자동차 센서 조립 도메인, 타 도메인 검증 필요)</a:t>
            </a:r>
            <a:endParaRPr lang="en-US" sz="16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자동 추출 후 반드시 도메인 전문가 검증 필요 (추출 오류가 지식 기반 자체를 오염시킬 수 있음)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25 / 57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지식은 쌓일수록 강해진다: 매 분석이 새로운 지식이 된다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1091672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이력 학습 에이전트가 모든 분석 결과를 지식그래프에 피드백</a:t>
            </a:r>
            <a:endParaRPr lang="en-US" sz="17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승인된 레시피 변경과 적용 후 품질 데이터가 함께 기록됨</a:t>
            </a:r>
            <a:endParaRPr lang="en-US" sz="17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거부된 제안도 기록되어 "왜 거부되었는지" 학습</a:t>
            </a:r>
            <a:endParaRPr lang="en-US" sz="17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시간이 갈수록 유사 사례가 쌓이고, AI의 판단 정확도가 향상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31520" y="4754880"/>
            <a:ext cx="1554480" cy="548640"/>
          </a:xfrm>
          <a:prstGeom prst="roundRect">
            <a:avLst>
              <a:gd name="adj" fmla="val 10000"/>
            </a:avLst>
          </a:prstGeom>
          <a:solidFill>
            <a:srgbClr val="FF6B6B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475488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불량 발생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286000" y="4754880"/>
            <a:ext cx="182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18096"/>
                </a:solidFill>
              </a:rPr>
              <a:t>→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468880" y="4754880"/>
            <a:ext cx="1554480" cy="548640"/>
          </a:xfrm>
          <a:prstGeom prst="roundRect">
            <a:avLst>
              <a:gd name="adj" fmla="val 10000"/>
            </a:avLst>
          </a:prstGeom>
          <a:solidFill>
            <a:srgbClr val="4A7BF7"/>
          </a:solidFill>
          <a:ln/>
        </p:spPr>
      </p:sp>
      <p:sp>
        <p:nvSpPr>
          <p:cNvPr id="9" name="Text 7"/>
          <p:cNvSpPr/>
          <p:nvPr/>
        </p:nvSpPr>
        <p:spPr>
          <a:xfrm>
            <a:off x="2468880" y="475488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AI 분석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023360" y="4754880"/>
            <a:ext cx="182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18096"/>
                </a:solidFill>
              </a:rPr>
              <a:t>→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206240" y="4754880"/>
            <a:ext cx="1554480" cy="548640"/>
          </a:xfrm>
          <a:prstGeom prst="roundRect">
            <a:avLst>
              <a:gd name="adj" fmla="val 10000"/>
            </a:avLst>
          </a:prstGeom>
          <a:solidFill>
            <a:srgbClr val="00D4AA"/>
          </a:solidFill>
          <a:ln/>
        </p:spPr>
      </p:sp>
      <p:sp>
        <p:nvSpPr>
          <p:cNvPr id="12" name="Text 10"/>
          <p:cNvSpPr/>
          <p:nvPr/>
        </p:nvSpPr>
        <p:spPr>
          <a:xfrm>
            <a:off x="4206240" y="475488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레시피 제안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760720" y="4754880"/>
            <a:ext cx="182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18096"/>
                </a:solidFill>
              </a:rPr>
              <a:t>→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943600" y="4754880"/>
            <a:ext cx="1554480" cy="548640"/>
          </a:xfrm>
          <a:prstGeom prst="roundRect">
            <a:avLst>
              <a:gd name="adj" fmla="val 10000"/>
            </a:avLst>
          </a:prstGeom>
          <a:solidFill>
            <a:srgbClr val="FFB020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0" y="475488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사람 승인/거부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498080" y="4754880"/>
            <a:ext cx="182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18096"/>
                </a:solidFill>
              </a:rPr>
              <a:t>→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680960" y="4754880"/>
            <a:ext cx="1554480" cy="548640"/>
          </a:xfrm>
          <a:prstGeom prst="roundRect">
            <a:avLst>
              <a:gd name="adj" fmla="val 10000"/>
            </a:avLst>
          </a:prstGeom>
          <a:solidFill>
            <a:srgbClr val="8B5CF6"/>
          </a:solidFill>
          <a:ln/>
        </p:spPr>
      </p:sp>
      <p:sp>
        <p:nvSpPr>
          <p:cNvPr id="18" name="Text 16"/>
          <p:cNvSpPr/>
          <p:nvPr/>
        </p:nvSpPr>
        <p:spPr>
          <a:xfrm>
            <a:off x="7680960" y="475488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결과 피드백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235440" y="4754880"/>
            <a:ext cx="182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18096"/>
                </a:solidFill>
              </a:rPr>
              <a:t>→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418320" y="4754880"/>
            <a:ext cx="1554480" cy="548640"/>
          </a:xfrm>
          <a:prstGeom prst="roundRect">
            <a:avLst>
              <a:gd name="adj" fmla="val 10000"/>
            </a:avLst>
          </a:prstGeom>
          <a:solidFill>
            <a:srgbClr val="4A7BF7"/>
          </a:solidFill>
          <a:ln/>
        </p:spPr>
      </p:sp>
      <p:sp>
        <p:nvSpPr>
          <p:cNvPr id="21" name="Text 19"/>
          <p:cNvSpPr/>
          <p:nvPr/>
        </p:nvSpPr>
        <p:spPr>
          <a:xfrm>
            <a:off x="9418320" y="475488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KG 지식 축적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8640" y="548640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↺  순환: 마지막의 축적된 지식이 다음 분석의 정확도를 높인다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26 / 57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873752" cy="685800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2286000"/>
            <a:ext cx="304495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00D4AA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04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5486400" y="2286000"/>
            <a:ext cx="615391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1A1F36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AI는 '수치 결정자'가</a:t>
            </a:r>
            <a:endParaRPr lang="en-US" sz="3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1A1F36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아니라 '지식 통역사'다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0" y="3566160"/>
            <a:ext cx="61539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LLM의 진짜 가치는 비정형 문서를 읽고, 지식과 연결하며,</a:t>
            </a: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사람에게 설명하는 역할에 있다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27 / 57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AI가 잘하는 일 vs 못하는 일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362956" cy="457200"/>
          </a:xfrm>
          <a:prstGeom prst="roundRect">
            <a:avLst>
              <a:gd name="adj" fmla="val 12000"/>
            </a:avLst>
          </a:prstGeom>
          <a:solidFill>
            <a:srgbClr val="00D4A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45920"/>
            <a:ext cx="53629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AI(LLM)가 잘하는 일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2286000"/>
            <a:ext cx="5362956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패턴 인식: 과거 불량 사례에서 유사 패턴 탐지</a:t>
            </a:r>
            <a:endParaRPr lang="en-US" sz="15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비정형 문서 해석: FMEA, 유지보수 기록, 엔지니어 노트를 읽고 활용</a:t>
            </a:r>
            <a:endParaRPr lang="en-US" sz="15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유사 사례 탐색: KG에서 관련 사례를 찾아 연결</a:t>
            </a:r>
            <a:endParaRPr lang="en-US" sz="15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자연어 설명 생성: 분석 결과를 사람이 이해할 수 있는 보고서로 작성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277356" y="1645920"/>
            <a:ext cx="5362956" cy="457200"/>
          </a:xfrm>
          <a:prstGeom prst="roundRect">
            <a:avLst>
              <a:gd name="adj" fmla="val 12000"/>
            </a:avLst>
          </a:prstGeom>
          <a:solidFill>
            <a:srgbClr val="FF6B6B"/>
          </a:solidFill>
          <a:ln/>
        </p:spPr>
      </p:sp>
      <p:sp>
        <p:nvSpPr>
          <p:cNvPr id="8" name="Text 6"/>
          <p:cNvSpPr/>
          <p:nvPr/>
        </p:nvSpPr>
        <p:spPr>
          <a:xfrm>
            <a:off x="6277356" y="1645920"/>
            <a:ext cx="53629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AI(LLM)가 못하는 일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277356" y="2286000"/>
            <a:ext cx="5362956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수치 정밀 계산: 수치 변동에 따라 정확도 급감 (ACL 2025 검증, 구조적 취약점)</a:t>
            </a:r>
            <a:endParaRPr lang="en-US" sz="15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결정론적 제어: 같은 입력에 다른 출력 가능 (비결정론적)</a:t>
            </a:r>
            <a:endParaRPr lang="en-US" sz="15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안전 보장: 환각(Hallucination)으로 그럴듯하지만 틀린 값을 자신 있게 제시</a:t>
            </a:r>
            <a:endParaRPr lang="en-US" sz="15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실시간 반응: 추론 시간이 길고 보장된 응답 시간 제공 불가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5669280"/>
            <a:ext cx="11091672" cy="502920"/>
          </a:xfrm>
          <a:prstGeom prst="roundRect">
            <a:avLst>
              <a:gd name="adj" fmla="val 10909"/>
            </a:avLst>
          </a:prstGeom>
          <a:solidFill>
            <a:srgbClr val="F5F7FA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5669280"/>
            <a:ext cx="105430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7BF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그래서 3계층으로 분리한다: LLM은 판단, ML은 수치 계산, 온톨로지는 안전 검증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28 / 57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AI의 수치 추론은 구조적으로 취약하다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1091672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ACL 2025: 수학 문제의 숫자만 바꿔도 정확도가 급감한다</a:t>
            </a:r>
            <a:pPr lvl="1" indent="0" marL="0">
              <a:lnSpc>
                <a:spcPct val="150000"/>
              </a:lnSpc>
              <a:spcAft>
                <a:spcPts val="600"/>
              </a:spcAft>
              <a:buNone/>
            </a:pPr>
            <a:r>
              <a:rPr lang="en-US" sz="17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Llama-3-8B 기준, 어려운 변형에서 69%가 계산 오류, 31%가 추론 오류</a:t>
            </a:r>
            <a:endParaRPr lang="en-US" sz="1700" dirty="0"/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arXiv:2509.06332: 소수 판별, 24 게임 등 기초 수학에서도 불안정</a:t>
            </a:r>
            <a:pPr lvl="1" indent="0" marL="0">
              <a:lnSpc>
                <a:spcPct val="150000"/>
              </a:lnSpc>
              <a:spcAft>
                <a:spcPts val="600"/>
              </a:spcAft>
              <a:buNone/>
            </a:pPr>
            <a:r>
              <a:rPr lang="en-US" sz="17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큰 수에서 체계적으로 실패하며, 이 불안정성이 복잡한 문제에서 증폭된다</a:t>
            </a:r>
            <a:endParaRPr lang="en-US" sz="1700" dirty="0"/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FILLIS: 제조 현장 맥락에서도 수학 연산 한계를 확인</a:t>
            </a:r>
            <a:pPr lvl="1" indent="0" marL="0">
              <a:lnSpc>
                <a:spcPct val="150000"/>
              </a:lnSpc>
              <a:spcAft>
                <a:spcPts val="600"/>
              </a:spcAft>
              <a:buNone/>
            </a:pPr>
            <a:r>
              <a:rPr lang="en-US" sz="17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LLM이 기계 작동 설명에는 강하나, 수치 계산에는 외부 도구가 필수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29 / 57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그래서 수치는 전통 기술이, 판단은 AI가 맡는다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200400" cy="25603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737360"/>
            <a:ext cx="3163824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92024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LLM이 판단한다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2240280"/>
            <a:ext cx="283464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"어떤 파라미터를 조정할지"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결정한다.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KG 질의, 유사 사례 탐색,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원인 가설 생성을 수행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749040" y="2651760"/>
            <a:ext cx="640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4389120" y="1737360"/>
            <a:ext cx="3200400" cy="25603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407408" y="1737360"/>
            <a:ext cx="3163824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0" y="192024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전통 ML이 계산한다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0" y="2240280"/>
            <a:ext cx="283464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"얼마나 조정할지"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수치를 산출한다.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물리 모델, R2R 보정,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베이지안 최적화를 활용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589520" y="2651760"/>
            <a:ext cx="640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3600" dirty="0"/>
          </a:p>
        </p:txBody>
      </p:sp>
      <p:sp>
        <p:nvSpPr>
          <p:cNvPr id="14" name="Shape 12"/>
          <p:cNvSpPr/>
          <p:nvPr/>
        </p:nvSpPr>
        <p:spPr>
          <a:xfrm>
            <a:off x="8229600" y="1737360"/>
            <a:ext cx="3200400" cy="25603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47888" y="1737360"/>
            <a:ext cx="3163824" cy="54864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16" name="Text 14"/>
          <p:cNvSpPr/>
          <p:nvPr/>
        </p:nvSpPr>
        <p:spPr>
          <a:xfrm>
            <a:off x="8412480" y="192024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온톨로지가 검증한다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412480" y="2240280"/>
            <a:ext cx="283464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"안전 범위 내인지"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확인한다.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파라미터 허용 범위 검증,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추론 경로 감사 추적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5029200"/>
            <a:ext cx="11091672" cy="548640"/>
          </a:xfrm>
          <a:prstGeom prst="roundRect">
            <a:avLst>
              <a:gd name="adj" fmla="val 13333"/>
            </a:avLst>
          </a:prstGeom>
          <a:solidFill>
            <a:srgbClr val="F5F7FA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5029200"/>
            <a:ext cx="107259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A7BF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각 계층이 자기 강점에 집중하는 3계층 하이브리드 구조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30 / 57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실제 사례: Bosch의 용접 품질 관리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1091672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95개 클래스로 구성된 온톨로지로 용접 품질 지식을 구조화</a:t>
            </a:r>
            <a:endParaRPr lang="en-US" sz="18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431만 건의 용접 기록 데이터를 지식그래프에 연결</a:t>
            </a:r>
            <a:endParaRPr lang="en-US" sz="18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지식그래프 임베딩(Knowledge Graph Embedding)으로 ML 파이프라인과 통합</a:t>
            </a:r>
            <a:endParaRPr lang="en-US" sz="18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결함-원인-파라미터 관계를 명시적으로 추적 가능</a:t>
            </a:r>
            <a:endParaRPr lang="en-US" sz="18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arXiv, ISWC 2022 (국제 시맨틱 웹 컨퍼런스)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31 / 57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실제 사례: Bosch의 설비 유지보수 챗봇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1091672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MMO(Manufacturing Maintenance Ontology) 기반의 지식 구조</a:t>
            </a:r>
            <a:endParaRPr lang="en-US" sz="1700" dirty="0"/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규칙 기반 + 소형 AI + 대형 AI를 단계적으로 결합</a:t>
            </a:r>
            <a:pPr lvl="1" indent="0" marL="0">
              <a:lnSpc>
                <a:spcPct val="150000"/>
              </a:lnSpc>
              <a:spcAft>
                <a:spcPts val="600"/>
              </a:spcAft>
              <a:buNone/>
            </a:pPr>
            <a:r>
              <a:rPr lang="en-US" sz="17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단순 질의는 규칙으로, 복잡한 추론은 LLM으로 처리하는 하이브리드 구조</a:t>
            </a:r>
            <a:endParaRPr lang="en-US" sz="1700" dirty="0"/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교훈: "고품질 지식 구축에는 전문가 참여가 필수"</a:t>
            </a:r>
            <a:pPr lvl="1" indent="0" marL="0">
              <a:lnSpc>
                <a:spcPct val="150000"/>
              </a:lnSpc>
              <a:spcAft>
                <a:spcPts val="600"/>
              </a:spcAft>
              <a:buNone/>
            </a:pPr>
            <a:r>
              <a:rPr lang="en-US" sz="17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LLM이 지식 추출을 도울 수 있지만, 검증은 도메인 전문가의 몫</a:t>
            </a:r>
            <a:endParaRPr lang="en-US" sz="1700" dirty="0"/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CEUR-WS 2025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32 / 57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작은 AI + 지식그래프가 거대 AI를 이길 수 있다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1091672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ARKNESS: 3B 파라미터 Llama-3 + 지식그래프 조합</a:t>
            </a:r>
            <a:pPr lvl="1" indent="0" marL="0">
              <a:lnSpc>
                <a:spcPct val="150000"/>
              </a:lnSpc>
              <a:spcAft>
                <a:spcPts val="600"/>
              </a:spcAft>
              <a:buNone/>
            </a:pPr>
            <a:r>
              <a:rPr lang="en-US" sz="17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GPT-4o 수준의 정확도를 CNC 가공 공정 계획에서 달성</a:t>
            </a:r>
            <a:endParaRPr lang="en-US" sz="1700" dirty="0"/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수치 환각(Numerical Hallucination)을 22%p 감소시킴</a:t>
            </a:r>
            <a:pPr lvl="1" indent="0" marL="0">
              <a:lnSpc>
                <a:spcPct val="150000"/>
              </a:lnSpc>
              <a:spcAft>
                <a:spcPts val="600"/>
              </a:spcAft>
              <a:buNone/>
            </a:pPr>
            <a:r>
              <a:rPr lang="en-US" sz="17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지식그래프가 수치의 근거를 명시적으로 제공하기 때문</a:t>
            </a:r>
            <a:endParaRPr lang="en-US" sz="1700" dirty="0"/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완전한 온프레미스 운영이 가능하다</a:t>
            </a:r>
            <a:pPr lvl="1" indent="0" marL="0">
              <a:lnSpc>
                <a:spcPct val="150000"/>
              </a:lnSpc>
              <a:spcAft>
                <a:spcPts val="600"/>
              </a:spcAft>
              <a:buNone/>
            </a:pPr>
            <a:r>
              <a:rPr lang="en-US" sz="17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공정 노하우(영업비밀)를 외부에 보내지 않아도 된다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5486400"/>
            <a:ext cx="11091672" cy="457200"/>
          </a:xfrm>
          <a:prstGeom prst="roundRect">
            <a:avLst>
              <a:gd name="adj" fmla="val 16000"/>
            </a:avLst>
          </a:prstGeom>
          <a:solidFill>
            <a:srgbClr val="F5F7FA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548640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718096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출처: arXiv:2506.13026 (ARKNESS, 2025)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33 / 57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기술별 검증 수준 정리</a:t>
            </a:r>
            <a:endParaRPr lang="en-US" sz="2800" dirty="0"/>
          </a:p>
        </p:txBody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91672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1188720"/>
                <a:gridCol w="4416552"/>
                <a:gridCol w="228600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기술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확신도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근거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비고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지식그래프 기반 불량 추적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7AE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높음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FMEA 그래프 학습이 RAG 대비 F1 2배 향상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자동차 센서 도메인 검증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폐쇄 루프 AI (연속 공정)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7AE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높음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Imubit이 정유/화학에서 상용 운영 중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DCS 직접 제어 수준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AI 기반 온톨로지 자동 구축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B02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중간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ARKNESS zero-shot KG 구축 가능성 제시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산업 규모 검증 부족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멀티에이전트 제조 시스템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B02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중간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Bosch 현장 배포, 학술 연구 진행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레시피 자동 조정까지는 미도달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소형 LLM + KG 조합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B02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중간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3B 모델이 GPT-4o 수준 달성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현장 배포 사례 미확인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이산 제조 폐쇄 루프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6B6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낮음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연속 공정 대비 사례 부족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초기 연구 단계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34 / 57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873752" cy="685800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2286000"/>
            <a:ext cx="304495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00D4A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05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5486400" y="2286000"/>
            <a:ext cx="615391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모든 공장에</a:t>
            </a:r>
            <a:endParaRPr lang="en-US" sz="3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필요한 것은 아니다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0" y="3566160"/>
            <a:ext cx="61539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도메인별 적합도와 현실적 시작점을 점검한다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35 / 57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7개 산업별 적용 가능성 비교</a:t>
            </a:r>
            <a:endParaRPr lang="en-US" sz="2800" dirty="0"/>
          </a:p>
        </p:txBody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91672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645920"/>
                <a:gridCol w="7159752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도메인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적용 가능성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핵심 이유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반도체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7AE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높음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데이터 풍부, 변동성 큼, 기존 APC 위에 추가 용이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디스플레이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7AE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높음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반도체와 유사. 대면적 갈수록 균일성 제어 난도 증가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자동차 부품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B02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중간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공정은 단순하나 IATF 16949 인증이 자동 변경을 제한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화학/정유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B02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중~높음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연속 공정, MPC 기반. Imubit 등이 폐쇄 루프 상용화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제약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6B6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낮~중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FDA 21 CFR Part 11이 레시피 자동 변경에 매우 엄격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식품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6B6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낮음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비교적 단순한 공정. HACCP이 자동 변경에 제한적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표면처리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B02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중간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변수 간 상호작용 복잡하나, 소규모 사업장 데이터 부족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36 / 57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가장 유효한 시작점: 반도체/디스플레이 증착/식각 공정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1091672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수십 개 파라미터의 비선형 상호작용이 존재한다</a:t>
            </a:r>
            <a:endParaRPr lang="en-US" sz="18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비예측적 드리프트가 실재한다 (부산물 축적, 장비 노화)</a:t>
            </a:r>
            <a:endParaRPr lang="en-US" sz="18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풍부한 센서 데이터와 기존 APC 인프라가 이미 갖춰져 있다</a:t>
            </a:r>
            <a:endParaRPr lang="en-US" sz="18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불량 비용이 높아 ROI 입증이 상대적으로 쉽다</a:t>
            </a:r>
            <a:endParaRPr lang="en-US" sz="18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Tignis가 ML 기반 폐쇄 루프를 이미 상용 운영 중이다</a:t>
            </a:r>
            <a:pPr lvl="1" indent="0" marL="0">
              <a:lnSpc>
                <a:spcPct val="15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CSManTech 2023-2024에서 발표 (반도체 제조 기술 학회)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37 / 57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이미 작동 중인 유사 시스템들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14039" cy="3657600"/>
          </a:xfrm>
          <a:prstGeom prst="roundRect">
            <a:avLst>
              <a:gd name="adj" fmla="val 260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737360"/>
            <a:ext cx="3477463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920240"/>
            <a:ext cx="3148279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Tignis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2240280"/>
            <a:ext cx="3148279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반도체 증착 공정에서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ML 기반 R2R 제어기를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실제 팹에 배포.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드리프트 보정에서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기존 정적 APC 대비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우수한 성능 입증.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36999" y="1737360"/>
            <a:ext cx="3514039" cy="3657600"/>
          </a:xfrm>
          <a:prstGeom prst="roundRect">
            <a:avLst>
              <a:gd name="adj" fmla="val 260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355287" y="1737360"/>
            <a:ext cx="3477463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0" name="Text 8"/>
          <p:cNvSpPr/>
          <p:nvPr/>
        </p:nvSpPr>
        <p:spPr>
          <a:xfrm>
            <a:off x="4519879" y="1920240"/>
            <a:ext cx="3148279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Lam Research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19879" y="2240280"/>
            <a:ext cx="3148279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베이지안 최적화 + 인간 협업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방식으로 5회 반복만에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올바른 레시피 도출.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비교: 자체 방법 45회,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시니어 엔지니어 84회.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125358" y="1737360"/>
            <a:ext cx="3514039" cy="3657600"/>
          </a:xfrm>
          <a:prstGeom prst="roundRect">
            <a:avLst>
              <a:gd name="adj" fmla="val 260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143646" y="1737360"/>
            <a:ext cx="3477463" cy="54864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14" name="Text 12"/>
          <p:cNvSpPr/>
          <p:nvPr/>
        </p:nvSpPr>
        <p:spPr>
          <a:xfrm>
            <a:off x="8308238" y="1920240"/>
            <a:ext cx="3148279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Imubit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308238" y="2240280"/>
            <a:ext cx="3148279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정유/화학 공장에서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DCS에 직접 명령을 쓰는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폐쇄 루프 AI 최적화.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기존 주간/월간 업데이트를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수분 단위로 단축.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566928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6B6B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주의: 위 사례 모두 온톨로지/LLM이 아닌 전통 ML/베이지안 기반이다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38 / 57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완전한 폐쇄 루프를 AI+지식그래프로 돌리는 사례는 아직 없다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1091672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가장 가까운 것은 ML/RL 기반 시스템이다 (Tignis, Imubit)</a:t>
            </a:r>
            <a:endParaRPr lang="en-US" sz="1700" dirty="0"/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LLM은 보조 역할에 머물러 있다</a:t>
            </a:r>
            <a:pPr lvl="1" indent="0" marL="0">
              <a:lnSpc>
                <a:spcPct val="150000"/>
              </a:lnSpc>
              <a:spcAft>
                <a:spcPts val="600"/>
              </a:spcAft>
              <a:buNone/>
            </a:pPr>
            <a:r>
              <a:rPr lang="en-US" sz="17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문서 분석, 근본원인 추론 보조, 자연어 보고서 생성 수준</a:t>
            </a:r>
            <a:endParaRPr lang="en-US" sz="1700" dirty="0"/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삼성전자가 AI 에이전트 기반 스마트 팩토리를 발표했으나 아직 계획 단계</a:t>
            </a:r>
            <a:endParaRPr lang="en-US" sz="1700" dirty="0"/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OPC 레시피 생성에 LLM을 적용한 연구(arXiv 2024)가 가장 유사하나 연구 단계</a:t>
            </a:r>
            <a:endParaRPr lang="en-US" sz="1700" dirty="0"/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현실: 전체 루프를 LLM+KG로 돌린 사례는 없다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39 / 57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안정적 공정에서는 기존 방법이 충분하다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1091672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R2R(Run-to-Run) 제어가 95~98% 정확도를 유지하는 공정이 많다</a:t>
            </a:r>
            <a:endParaRPr lang="en-US" sz="18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이런 공정에 AI를 추가해도 개선 폭이 미미하다</a:t>
            </a:r>
            <a:endParaRPr lang="en-US" sz="18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오히려 불필요한 복잡성만 추가될 수 있다</a:t>
            </a:r>
            <a:endParaRPr lang="en-US" sz="18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첫 번째 질문: "우리 공정에 R2R로 못 잡는 변동성이 있는가?"</a:t>
            </a:r>
            <a:pPr lvl="1" indent="0" marL="0">
              <a:lnSpc>
                <a:spcPct val="15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없다면 AI 도입의 실익이 낮다. 있다면 구체적으로 무엇인지 정의해야 한다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40 / 57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873752" cy="685800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2286000"/>
            <a:ext cx="304495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00D4A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06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5486400" y="2286000"/>
            <a:ext cx="615391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왜 쉽지 않은가:</a:t>
            </a:r>
            <a:endParaRPr lang="en-US" sz="3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장벽과 위험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0" y="3566160"/>
            <a:ext cx="61539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기술적 가능성과 현실적 도입 사이의 간극을 직시한다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41 / 57</a:t>
            </a:r>
            <a:endParaRPr lang="en-US" sz="9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도입을 가로막는 6가지 벽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514039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645920"/>
            <a:ext cx="3477463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828800"/>
            <a:ext cx="3148279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1. 데이터 인프라 부재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2148840"/>
            <a:ext cx="3148279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센서 데이터가 MES에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통합되지 않은 공장이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대다수. AI 이전에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연결부터 필요.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36999" y="1645920"/>
            <a:ext cx="3514039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355287" y="1645920"/>
            <a:ext cx="3477463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0" name="Text 8"/>
          <p:cNvSpPr/>
          <p:nvPr/>
        </p:nvSpPr>
        <p:spPr>
          <a:xfrm>
            <a:off x="4519879" y="1828800"/>
            <a:ext cx="3148279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2. 유지보수 부담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19879" y="2148840"/>
            <a:ext cx="3148279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공정이 변경되면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온톨로지도 갱신해야 한다.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지속적 전문가 참여 없이는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지식이 노후화된다.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125358" y="1645920"/>
            <a:ext cx="3514039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143646" y="1645920"/>
            <a:ext cx="3477463" cy="54864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14" name="Text 12"/>
          <p:cNvSpPr/>
          <p:nvPr/>
        </p:nvSpPr>
        <p:spPr>
          <a:xfrm>
            <a:off x="8308238" y="1828800"/>
            <a:ext cx="3148279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3. 전문인력 부족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308238" y="2148840"/>
            <a:ext cx="3148279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온톨로지 + ML +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OPC UA + 제조 도메인을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모두 아는 인력 확보가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 자체로 과제.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160520"/>
            <a:ext cx="3514039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66928" y="4160520"/>
            <a:ext cx="3477463" cy="54864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4343400"/>
            <a:ext cx="3148279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4. 효과 불확실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31520" y="4663440"/>
            <a:ext cx="3148279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ROI를 사전에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증명하기 어렵다.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프로젝트의 87%가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PoC를 넘지 못한다.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336999" y="4160520"/>
            <a:ext cx="3514039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355287" y="4160520"/>
            <a:ext cx="3477463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2" name="Text 20"/>
          <p:cNvSpPr/>
          <p:nvPr/>
        </p:nvSpPr>
        <p:spPr>
          <a:xfrm>
            <a:off x="4519879" y="4343400"/>
            <a:ext cx="3148279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5. 안전 위험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519879" y="4663440"/>
            <a:ext cx="3148279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잘못된 레시피 제안은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장비 손상, 제품 불량,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심하면 인명 사고로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이어질 수 있다.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125358" y="4160520"/>
            <a:ext cx="3514039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143646" y="4160520"/>
            <a:ext cx="3477463" cy="5486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26" name="Text 24"/>
          <p:cNvSpPr/>
          <p:nvPr/>
        </p:nvSpPr>
        <p:spPr>
          <a:xfrm>
            <a:off x="8308238" y="4343400"/>
            <a:ext cx="3148279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6. 조직 저항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308238" y="4663440"/>
            <a:ext cx="3148279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"AI가 내 레시피를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바꾼다"는 불안감.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엔지니어의 저항은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합리적 우려이기도 하다.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42 / 57</a:t>
            </a:r>
            <a:endParaRPr lang="en-US" sz="9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가장 큰 위험: 과잉 설계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1091672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온톨로지 + LLM + 멀티에이전트 전체가 정말 필요한가?</a:t>
            </a:r>
            <a:endParaRPr lang="en-US" sz="18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많은 경우 전통 ML/RL만으로도 충분할 수 있다</a:t>
            </a:r>
            <a:pPr lvl="1" indent="0" marL="0">
              <a:lnSpc>
                <a:spcPct val="15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Tignis, Lam Research는 LLM 없이 실제 성과를 내고 있다</a:t>
            </a:r>
            <a:endParaRPr lang="en-US" sz="18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"기존 시스템이 못 잡는 문제가 구체적으로 무엇인가"를 먼저 정의해야 한다</a:t>
            </a:r>
            <a:endParaRPr lang="en-US" sz="18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문제 정의 없이 기술을 도입하면, 해결할 문제보다 유지할 시스템이 더 많아진다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43 / 57</a:t>
            </a:r>
            <a:endParaRPr lang="en-US" sz="9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AI의 환각이 공장에서는 더 위험하다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1091672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틀린 파라미터를 자신 있게 제시하는 것이 환각(Hallucination)이다</a:t>
            </a:r>
            <a:pPr lvl="1" indent="0" marL="0">
              <a:lnSpc>
                <a:spcPct val="150000"/>
              </a:lnSpc>
              <a:spcAft>
                <a:spcPts val="600"/>
              </a:spcAft>
              <a:buNone/>
            </a:pPr>
            <a:r>
              <a:rPr lang="en-US" sz="17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복잡한 태스크에서 LLM 정확도는 약 73% 수준</a:t>
            </a:r>
            <a:endParaRPr lang="en-US" sz="1700" dirty="0"/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승인 피로: 하루 50건 알림이 오면 형식적으로 승인하게 된다</a:t>
            </a:r>
            <a:pPr lvl="1" indent="0" marL="0">
              <a:lnSpc>
                <a:spcPct val="150000"/>
              </a:lnSpc>
              <a:spcAft>
                <a:spcPts val="600"/>
              </a:spcAft>
              <a:buNone/>
            </a:pPr>
            <a:r>
              <a:rPr lang="en-US" sz="17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사람 승인이 최후 방어선이지만, 피로로 무력화될 수 있다</a:t>
            </a:r>
            <a:endParaRPr lang="en-US" sz="1700" dirty="0"/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연쇄 오류 전파: 초기 단계의 잘못된 판단이 후속 공정에 파급된다</a:t>
            </a:r>
            <a:pPr lvl="1" indent="0" marL="0">
              <a:lnSpc>
                <a:spcPct val="150000"/>
              </a:lnSpc>
              <a:spcAft>
                <a:spcPts val="600"/>
              </a:spcAft>
              <a:buNone/>
            </a:pPr>
            <a:r>
              <a:rPr lang="en-US" sz="17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식각 파라미터 오류 → CMP 두께 이상 → 증착 불량의 연쇄 반응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44 / 57</a:t>
            </a:r>
            <a:endParaRPr lang="en-US" sz="9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규제가 자동 레시피 변경을 제한한다</a:t>
            </a:r>
            <a:endParaRPr lang="en-US" sz="2800" dirty="0"/>
          </a:p>
        </p:txBody>
      </p:sp>
      <p:graphicFrame>
        <p:nvGraphicFramePr>
          <p:cNvPr id="4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91672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3502152"/>
                <a:gridCol w="502920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규제/표준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핵심 요구사항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AI 레시피 변경에 대한 영향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ISO 9001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QMS 내 검증, 변경 문서화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모든 자동 변경에 문서화된 프로세스 필요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IATF 16949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자동차 고유 요건, 위험 기반 관리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레시피 변경에 사전 통제 필수. 자동 변경에 까다로움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FDA 21 CFR Part 11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전자 기록/서명, 감사 추적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자동 변경은 "변경 통제 이벤트"로 취급. 매우 엄격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EU Annex 22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결정론적 모델만 허용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LLM은 본질적으로 비결정론적. 고위험 공정 적용 불가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SEMI 표준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장비 통신 규격 (SECS/GEM)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레시피 전달 인터페이스 표준 준수 필요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45 / 57</a:t>
            </a:r>
            <a:endParaRPr lang="en-US" sz="9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AI가 제안하고 사람이 승인했는데 불량이 나면, 누구 책임인가?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1091672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질문에 대한 명확한 법적 프레임워크는 아직 없다</a:t>
            </a:r>
            <a:endParaRPr lang="en-US" sz="1700" dirty="0"/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현실적으로 AI 제안을 승인한 엔지니어에게 책임이 간다</a:t>
            </a:r>
            <a:endParaRPr lang="en-US" sz="1700" dirty="0"/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"AI가 근거를 제시했고, 판단 시간이 부족했다면?"이라는 반론이 가능하다</a:t>
            </a:r>
            <a:endParaRPr lang="en-US" sz="1700" dirty="0"/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회사 차원에서 AI 시스템의 검증 절차가 충분했는지가 쟁점이 된다</a:t>
            </a:r>
            <a:endParaRPr lang="en-US" sz="1700" dirty="0"/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EU Annex 22(2026 시행)는 고위험 공정에서 결정론적 모델만 허용한다</a:t>
            </a:r>
            <a:pPr lvl="1" indent="0" marL="0">
              <a:lnSpc>
                <a:spcPct val="150000"/>
              </a:lnSpc>
              <a:spcAft>
                <a:spcPts val="600"/>
              </a:spcAft>
              <a:buNone/>
            </a:pPr>
            <a:r>
              <a:rPr lang="en-US" sz="17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LLM은 같은 입력에 다른 출력이 가능하여 본질적으로 비결정론적이다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46 / 57</a:t>
            </a:r>
            <a:endParaRPr lang="en-US" sz="9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놓치기 쉬운 문제들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14039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737360"/>
            <a:ext cx="3477463" cy="54864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920240"/>
            <a:ext cx="3148279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KG 데이터 오염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2240280"/>
            <a:ext cx="3148279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LLM이 FMEA 문서에서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잘못된 관계를 추출하면,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지식 기반 자체가 오염된다.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잘못된 추출이 체계적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오분석으로 이어진다.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36999" y="1737360"/>
            <a:ext cx="3514039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355287" y="1737360"/>
            <a:ext cx="3477463" cy="54864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10" name="Text 8"/>
          <p:cNvSpPr/>
          <p:nvPr/>
        </p:nvSpPr>
        <p:spPr>
          <a:xfrm>
            <a:off x="4519879" y="1920240"/>
            <a:ext cx="3148279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데이터 보안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19879" y="2240280"/>
            <a:ext cx="3148279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공정 노하우는 영업비밀이다.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클라우드 LLM에 공정 데이터를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보내는 것 자체가 위험.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온프레미스 소형 모델이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현실적 대안.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125358" y="1737360"/>
            <a:ext cx="3514039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143646" y="1737360"/>
            <a:ext cx="3477463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4" name="Text 12"/>
          <p:cNvSpPr/>
          <p:nvPr/>
        </p:nvSpPr>
        <p:spPr>
          <a:xfrm>
            <a:off x="8308238" y="1920240"/>
            <a:ext cx="3148279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시스템 장애 시 폴백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308238" y="2240280"/>
            <a:ext cx="3148279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클라우드 LLM이 다운되면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공정 제어는 어떻게 되는가?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없이도 기존 APC/R2R로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돌아갈 수 있는 구조가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반드시 필요하다.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47 / 57</a:t>
            </a:r>
            <a:endParaRPr lang="en-US" sz="9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873752" cy="685800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2286000"/>
            <a:ext cx="304495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00D4A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07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5486400" y="2286000"/>
            <a:ext cx="615391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현실적 시작법:</a:t>
            </a:r>
            <a:endParaRPr lang="en-US" sz="3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4단계 접근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0" y="3566160"/>
            <a:ext cx="61539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진단에서 반자동 제어까지, 검증하며 올라간다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48 / 57</a:t>
            </a:r>
            <a:endParaRPr lang="en-US" sz="9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Phase 0~3: 진단에서 반자동 제어까지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4864" cy="4572000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5" name="Shape 3"/>
          <p:cNvSpPr/>
          <p:nvPr/>
        </p:nvSpPr>
        <p:spPr>
          <a:xfrm>
            <a:off x="470916" y="1755648"/>
            <a:ext cx="210312" cy="210312"/>
          </a:xfrm>
          <a:prstGeom prst="ellipse">
            <a:avLst/>
          </a:prstGeom>
          <a:solidFill>
            <a:srgbClr val="4A7BF7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6459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7BF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Phase 0: 진단 (1개월)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1965960"/>
            <a:ext cx="10725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"이 시스템이 정말 필요한가"를 확인한다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2286000"/>
            <a:ext cx="1072591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기존 APC/R2R baseline 측정, 데이터 인프라 성숙도 평가.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"AI 불필요"라는 결론도 가치 있는 결과다.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14400" y="2743200"/>
            <a:ext cx="10725912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0916" y="2898648"/>
            <a:ext cx="210312" cy="210312"/>
          </a:xfrm>
          <a:prstGeom prst="ellipse">
            <a:avLst/>
          </a:prstGeom>
          <a:solidFill>
            <a:srgbClr val="4A7BF7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27889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7BF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Phase 1: 읽기 전용 보조 (2~3개월)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14400" y="3108960"/>
            <a:ext cx="10725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AI가 분석만 하고, 레시피에는 손대지 않는다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14400" y="3429000"/>
            <a:ext cx="1072591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근본원인 가설 제시(변경 권한 없음).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엔지니어와 AI 판단을 비교하며 신뢰를 쌓는다.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914400" y="3886200"/>
            <a:ext cx="10725912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0916" y="4041648"/>
            <a:ext cx="210312" cy="210312"/>
          </a:xfrm>
          <a:prstGeom prst="ellipse">
            <a:avLst/>
          </a:prstGeom>
          <a:solidFill>
            <a:srgbClr val="4A7BF7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39319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7BF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Phase 2: 승인 기반 제안 (3~6개월)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14400" y="4251960"/>
            <a:ext cx="10725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AI가 제안하되, 사람이 반드시 승인한다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14400" y="4572000"/>
            <a:ext cx="1072591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안전 범위 하드코딩.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vs 엔지니어 vs 실제 결과 3자 비교 데이터를 축적한다.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914400" y="5029200"/>
            <a:ext cx="10725912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0916" y="5184648"/>
            <a:ext cx="210312" cy="210312"/>
          </a:xfrm>
          <a:prstGeom prst="ellipse">
            <a:avLst/>
          </a:prstGeom>
          <a:solidFill>
            <a:srgbClr val="4A7BF7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50749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7BF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Phase 3: 반자동 제어 (6~12개월)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14400" y="5394960"/>
            <a:ext cx="10725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검증된 범위 내에서 자동 조정을 허용한다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14400" y="5715000"/>
            <a:ext cx="1072591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범위 밖 조정은 여전히 사람 승인 필수.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이상 시 자동 롤백. OEE 개선 효과를 측정한다.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49 / 57</a:t>
            </a:r>
            <a:endParaRPr lang="en-US" sz="9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Phase 0: 먼저 "이 시스템이 정말 필요한가"를 확인한다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1091672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대상 공정의 기존 APC/R2R 성능 baseline을 측정한다</a:t>
            </a:r>
            <a:endParaRPr lang="en-US" sz="18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"기존 시스템이 못 잡는 변동성"이 실제로 존재하는지 확인한다</a:t>
            </a:r>
            <a:endParaRPr lang="en-US" sz="18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인프라 성숙도를 평가한다</a:t>
            </a:r>
            <a:pPr lvl="1" indent="0" marL="0">
              <a:lnSpc>
                <a:spcPct val="15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센서 → MES 연결 상태, 데이터 품질, 수집 주기 등</a:t>
            </a:r>
            <a:endParaRPr lang="en-US" sz="18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단계에서 "AI가 필요 없다"는 결론이 나올 수 있다</a:t>
            </a:r>
            <a:pPr lvl="1" indent="0" marL="0">
              <a:lnSpc>
                <a:spcPct val="15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그것도 가치 있는 결과다. 불필요한 투자를 막았기 때문이다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50 / 57</a:t>
            </a:r>
            <a:endParaRPr lang="en-US" sz="9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Phase 1: AI가 분석만 하고, 레시피에는 손대지 않는다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1091672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불량 데이터 분석 후 근본원인 가설을 제시한다 (레시피 변경 권한 없음)</a:t>
            </a:r>
            <a:endParaRPr lang="en-US" sz="18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엔지니어가 AI 제안과 자신의 판단을 비교한다</a:t>
            </a:r>
            <a:endParaRPr lang="en-US" sz="18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온톨로지 기반 지식 탐색이 실제로 유용한지 검증한다</a:t>
            </a:r>
            <a:endParaRPr lang="en-US" sz="18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지표 1: AI 가설의 정확도</a:t>
            </a:r>
            <a:endParaRPr lang="en-US" sz="18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지표 2: 엔지니어의 의사결정 시간 단축 여부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51 / 57</a:t>
            </a:r>
            <a:endParaRPr lang="en-US" sz="9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Phase 2: AI가 레시피를 제안하되, 사람이 반드시 승인한다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1091672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안전 범위(허용 파라미터 범위)를 하드코딩하여 위험한 제안을 차단한다</a:t>
            </a:r>
            <a:endParaRPr lang="en-US" sz="18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"AI 제안 vs 엔지니어 판단 vs 실제 결과" 3자 비교 데이터를 축적한다</a:t>
            </a:r>
            <a:endParaRPr lang="en-US" sz="18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지표 1: 승인된 제안의 불량률 개선 효과</a:t>
            </a:r>
            <a:endParaRPr lang="en-US" sz="18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지표 2: 거부된 제안의 사유 분석</a:t>
            </a:r>
            <a:pPr lvl="1" indent="0" marL="0">
              <a:lnSpc>
                <a:spcPct val="15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거부 패턴을 분석하면 시스템 개선 방향이 보인다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52 / 57</a:t>
            </a:r>
            <a:endParaRPr lang="en-US" sz="9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우리 상황에 맞는 길을 찾는 의사결정 가이드</a:t>
            </a:r>
            <a:endParaRPr lang="en-US" sz="2800" dirty="0"/>
          </a:p>
        </p:txBody>
      </p:sp>
      <p:graphicFrame>
        <p:nvGraphicFramePr>
          <p:cNvPr id="5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91672" cy="914400"/>
        </p:xfrm>
        <a:graphic>
          <a:graphicData uri="http://schemas.openxmlformats.org/drawingml/2006/table">
            <a:tbl>
              <a:tblPr/>
              <a:tblGrid>
                <a:gridCol w="4572000"/>
                <a:gridCol w="6519672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현재 상황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추천 접근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공장 간 데이터/레시피 호환이 안 된다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AAS(자산관리셸) 기반 표준화부터 도입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새 설비를 도입하는 시점이다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설비 전문 사전(온톨로지)을 먼저 개발하여 처음부터 구조화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AI가 공정 맥락을 이해하지 못한다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지식그래프 + 경량 도메인 사전 구축으로 맥락 제공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온톨로지/KG를 만들 인력이 부족하다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AI 반자동 구축(ARKNESS 접근) 후 전문가 검증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ROI를 먼저 증명해야 한다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가장 좁은 범위(1개 공정, 1개 파라미터)부터 시작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53 / 57</a:t>
            </a:r>
            <a:endParaRPr lang="en-US" sz="9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핵심 주장들의 근거는 얼마나 확실한가</a:t>
            </a:r>
            <a:endParaRPr lang="en-US" sz="2800" dirty="0"/>
          </a:p>
        </p:txBody>
      </p:sp>
      <p:graphicFrame>
        <p:nvGraphicFramePr>
          <p:cNvPr id="5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9167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1097280"/>
                <a:gridCol w="2743200"/>
                <a:gridCol w="4325112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핵심 주장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확신도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출처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비고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KG 기반 불량 추적이 효과적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B02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중-상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arXiv:2510.15428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자동차 도메인, 타 도메인 검증 필요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소형 LLM + KG 조합 가능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B02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중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arXiv:2506.13026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CNC 한정, 현장 배포 미확인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폐쇄 루프 AI (연속 공정)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7AE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높음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Imubit 상용 운영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이산 제조에서는 미검증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LLM 수치 추론 취약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7AE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높음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ACL 2025, arXiv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반증 미발견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온톨로지 자동 구축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B02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중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ARKNESS 등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산업 규모 검증 부족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멀티에이전트 제조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B02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중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Bosch, PHM 2025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레시피 자동 조정까지는 미도달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기존 APC/R2R 충분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7AE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높음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Tignis CSManTech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안정 공정에서 AI 추가 실익 미미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54 / 57</a:t>
            </a:r>
            <a:endParaRPr lang="en-US" sz="9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앞으로 탐색해야 할 네 가지 질문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408676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645920"/>
            <a:ext cx="537210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828800"/>
            <a:ext cx="50429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1. 기존 APC와의 통합 방법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2148840"/>
            <a:ext cx="5042916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기존 APC/R2R 시스템과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새로운 AI 보조 계층을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구체적으로 어떻게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연결하고 공존시킬 것인가?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31636" y="1645920"/>
            <a:ext cx="5408676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49924" y="1645920"/>
            <a:ext cx="5372100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0" name="Text 8"/>
          <p:cNvSpPr/>
          <p:nvPr/>
        </p:nvSpPr>
        <p:spPr>
          <a:xfrm>
            <a:off x="6414516" y="1828800"/>
            <a:ext cx="50429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2. 자동 vs 전문가 온톨로지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14516" y="2148840"/>
            <a:ext cx="5042916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LLM이 자동 생성한 온톨로지와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전문가가 수작업으로 구축한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온톨로지의 품질 차이를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정량적으로 비교해야 한다.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4160520"/>
            <a:ext cx="5408676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66928" y="4160520"/>
            <a:ext cx="5372100" cy="54864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4343400"/>
            <a:ext cx="50429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3. 승인 피로 방지 설계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31520" y="4663440"/>
            <a:ext cx="5042916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제안이 빈번할 때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엔지니어가 형식적으로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승인하는 문제를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어떻게 구조적으로 방지할 것인가?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31636" y="4160520"/>
            <a:ext cx="5408676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49924" y="4160520"/>
            <a:ext cx="5372100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8" name="Text 16"/>
          <p:cNvSpPr/>
          <p:nvPr/>
        </p:nvSpPr>
        <p:spPr>
          <a:xfrm>
            <a:off x="6414516" y="4343400"/>
            <a:ext cx="50429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4. 규제 환경의 인증 경로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14516" y="4663440"/>
            <a:ext cx="5042916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IATF, FDA, EU Annex 22 등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규제 환경에서 LLM 기반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공정 제어의 인증이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실제로 가능한 경로가 있는가?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55 / 57</a:t>
            </a:r>
            <a:endParaRPr lang="en-US" sz="9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3" name="Shape 1"/>
          <p:cNvSpPr/>
          <p:nvPr/>
        </p:nvSpPr>
        <p:spPr>
          <a:xfrm>
            <a:off x="5641848" y="1828800"/>
            <a:ext cx="91440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4" name="Text 2"/>
          <p:cNvSpPr/>
          <p:nvPr/>
        </p:nvSpPr>
        <p:spPr>
          <a:xfrm>
            <a:off x="1371600" y="2286000"/>
            <a:ext cx="9445752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2400" i="1" dirty="0">
                <a:solidFill>
                  <a:srgbClr val="1A1F36"/>
                </a:solidFill>
                <a:latin typeface="ChosunNm" pitchFamily="34" charset="0"/>
                <a:ea typeface="ChosunNm" pitchFamily="34" charset="-122"/>
                <a:cs typeface="ChosunNm" pitchFamily="34" charset="-120"/>
              </a:rPr>
              <a:t>“AI의 진짜 역할은 레시피를 만드는 것이 아니라,</a:t>
            </a:r>
            <a:endParaRPr lang="en-US" sz="24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2400" i="1" dirty="0">
                <a:solidFill>
                  <a:srgbClr val="1A1F36"/>
                </a:solidFill>
                <a:latin typeface="ChosunNm" pitchFamily="34" charset="0"/>
                <a:ea typeface="ChosunNm" pitchFamily="34" charset="-122"/>
                <a:cs typeface="ChosunNm" pitchFamily="34" charset="-120"/>
              </a:rPr>
              <a:t>엔지니어가 더 빠르게 판단하도록 돕는 것이다”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371600" y="4754880"/>
            <a:ext cx="9445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 3개 보고서 + Critic이 수렴한 핵심 결론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56 / 57</a:t>
            </a:r>
            <a:endParaRPr lang="en-US" sz="9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기존 시스템 위에, 한 단계씩, 검증하며 올라가라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783080"/>
            <a:ext cx="411480" cy="411480"/>
          </a:xfrm>
          <a:prstGeom prst="ellipse">
            <a:avLst/>
          </a:prstGeom>
          <a:solidFill>
            <a:srgbClr val="4A7BF7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7830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71600" y="1737360"/>
            <a:ext cx="102687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LLM은 수치 결정자가 아니라 지식 통역사다. 판단은 LLM이, 수치는 전통 ML이 맡는다.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2560320"/>
            <a:ext cx="411480" cy="411480"/>
          </a:xfrm>
          <a:prstGeom prst="ellipse">
            <a:avLst/>
          </a:prstGeom>
          <a:solidFill>
            <a:srgbClr val="4A7BF7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5603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71600" y="2514600"/>
            <a:ext cx="102687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기존 APC/R2R을 대체하는 것이 아니라 그 위에 보완하는 지능형 계층으로 올린다.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31520" y="3337560"/>
            <a:ext cx="411480" cy="411480"/>
          </a:xfrm>
          <a:prstGeom prst="ellipse">
            <a:avLst/>
          </a:prstGeom>
          <a:solidFill>
            <a:srgbClr val="4A7BF7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33375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371600" y="3291840"/>
            <a:ext cx="102687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0에서 "이 시스템이 정말 필요한가"부터 확인한다. "불필요"도 가치 있는 결론이다.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" y="4343400"/>
            <a:ext cx="11091672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461772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2026-03-20  |  제조 불량 분석-레시피 제어 시스템 리서치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57 / 57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57</Slides>
  <Notes>57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57</vt:i4>
      </vt:variant>
    </vt:vector>
  </HeadingPairs>
  <TitlesOfParts>
    <vt:vector size="6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2026-03-20T03:19:02Z</dcterms:created>
  <dcterms:modified xsi:type="dcterms:W3CDTF">2026-03-20T03:19:02Z</dcterms:modified>
</cp:coreProperties>
</file>