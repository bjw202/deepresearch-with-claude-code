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notesMasterIdLst>
    <p:notesMasterId r:id="rId1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48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기초 완전 가이드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절삭가공 엔지니어를 위한 레이저 소스 · 광학계 · 하드웨어 교육자료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669280"/>
            <a:ext cx="10360152" cy="2743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2026-03-24  |  레이저 가공 엔지니어링 교육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절삭가공 전문가가 레이저 전문인력과 대등하게 토론한다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소스의 종류와 선택 기준을 이해한다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4864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광학계의 핵심 파라미터와 설계 의사결정 논리를 파악한다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864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시스템 구성과 레이저-물질 상호작용을 연결한다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수강생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절삭가공 배경 엔지니어 — 물리적 직관은 있으나 레이저 전문용어가 약한 상태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85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절삭가공 엔지니어가 처음 레이저에서 부딪히는 5가지 혼란 (1/2)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공구 없이 재료 제거?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광자 에너지가 재료에 흡수 → 용융/기화로 제거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접촉 없이도 에너지 전달이 가능하다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73736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같은 출력인데 왜 결과가 다른가?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파장별 재료 흡수율이 극적으로 다름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구리는 IR에서 반사율 ~95%, 그린에서 ~40%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737360"/>
            <a:ext cx="35295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초점이 왜 이렇게 중요한가?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24028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DOF (심도)가 수십 μm~수 mm로 극도로 얕음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 오차가 스폿 크기를 수 배 이상 변화시킴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85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절삭가공 엔지니어가 처음 레이저에서 부딪히는 5가지 혼란 (2/2)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0" y="17373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9968" y="1737360"/>
            <a:ext cx="362102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파라미터가 왜 이렇게 많은가?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절삭가공: 이송속도, 회전수, 절삭깊이 등 3~4개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레이저: 출력, 속도, 반복률, 펄스폭, 스폿, 가스, 초점 등 10개 이상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362102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빔을 왜 키웠다가 모으는가?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D_beam을 키우면 발산각(빔 분산) 감소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집속 렌즈 통과 시 더 작은 스폿 달성 가능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확장기 → 집속 렌즈 조합이 표준 구성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85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익숙한 절삭가공 개념으로 레이저를 이해한다 (1/2)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38912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밀도 (플루언스, Fluence)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힘이 아닌 에너지로 재료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이송속도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스캔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높을수록 단위 면적 에너지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침투 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출력/속도/반복 횟수로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주축 RPM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 (Rep Rate)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입력 빈도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공구 지름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스폿 크기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작으면 정밀, 크면 고속 가공에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공구 마모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광학 오염/열화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저하로 직결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어시스트 가스 (Assist Gas)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용융물 제거 + 산화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85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익숙한 절삭가공 개념으로 레이저를 이해한다 (2/2)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840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 각도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입사각 / 편광 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흡수율에 직접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스핀들 모터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광자 에너지원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공구홀더 + 인서트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헤드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렌즈 + 노즐 + 보호 윈도우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CNC 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모션 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갈바노 스캐너는 관성 거의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 컨베이어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집진기 (Fume Extractor)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나노입자 분진 처리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조도 (Ra)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+ 버 + 리캐스트층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손상 추가 고려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85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교육 구성: 6개 파트로 레이저를 체계적으로 이해한다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17320" y="1691640"/>
            <a:ext cx="45720" cy="4572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64792"/>
            <a:ext cx="502920" cy="34747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17647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 레이저 물리 기초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0116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유도방출, 공진기, 편광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70432" y="2523744"/>
            <a:ext cx="502920" cy="34747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25237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450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 레이저 소스 가이드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27706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7종 소스, 선택 기준, 총소유비용(TCO)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70432" y="3282696"/>
            <a:ext cx="502920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32826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 광학계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35295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특성, 부품, 전달, 집속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70432" y="4041648"/>
            <a:ext cx="502920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4041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9684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 하드웨어 / 시스템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428853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모션, 제어, 냉각, 안전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70432" y="4800600"/>
            <a:ext cx="502920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4800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727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  레이저-물질 상호작용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504748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흡수, 가공 공정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70432" y="5559552"/>
            <a:ext cx="502920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1170432" y="55595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6  실무 가이드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58064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트러블슈팅, 의사결정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85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2D3A5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3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물리 기초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빛이 레이저가 되는 과정을 이해한다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LASER = 유도방출에 의한 빛의 증폭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 Amplification by Stimulated Emission of Radiation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1168" cy="20116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04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단색성 (Monochromaticity)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01168" cy="20116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07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코히런스 (Coherence)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01168" cy="20116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10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지향성 (Directionality)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 (절삭가공 관점)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광원 = 샌드블라스팅 (사방 분사)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= 수십 μm 초정밀 드릴 (집중 관통)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1208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광원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넓은 범위 (가시광 전체)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단일 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무작위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일치 (코히런스)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전방향 확산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퍼지지 않음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85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유도방출: 1개 광자가 들어가면 동일한 2개가 나온다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자연방출 (Spontaneous Emission)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들뜬 원자가 랜덤 타이밍/방향으로 광자 방출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방향, 위상, 파장이 모두 무작위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증폭 없음 → 레이저 불가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무작위로 떨어지는 빗방울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유도방출 (Stimulated Emission)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입사 광자가 들뜬 원자에서 동일 광자를 유도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같은 파장, 같은 위상, 같은 방향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1 → 2 → 4 → 8 ... 지수적 증폭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93192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069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도미노처럼 정렬된 연쇄 반응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85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유도방출은 레이저 증폭의 핵심 메커니즘이다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펌핑 에너지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 들뜸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(고에너지 준위)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광자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유도방출: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광자 2개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공진기 왕복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지수적 증폭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84048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31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각 유도방출은 입력 광자와 동일한 파장·위상·방향의 광자를 생성 → 공진기 내에서 반복하며 빛이 기하급수적으로 증폭됨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85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반전분포 없이는 흡수가 유도방출을 이긴다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1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상태 (No Lasing)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저에너지 준위 원자 수 &gt; 고에너지 준위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빛이 흡수됨 → 증폭 불가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반전분포 (Population Inversion)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고에너지 준위 원자 수 &gt; 저에너지 준위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유도방출 우세 → 증폭 가능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4712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반전분포를 만드는 방법 — 펌핑 (Pumping)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4617720"/>
            <a:ext cx="37124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광펌핑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플래시 램프 / 다이오드 레이저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617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7408" y="4617720"/>
            <a:ext cx="37124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전기 방전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레이저 등 기체 레이저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4617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4617720"/>
            <a:ext cx="37124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전류 주입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반도체(다이오드) 레이저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85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4준위 시스템이 산업용 레이저의 표준인 이유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6576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3준위 시스템 (예: Ruby)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4준위 시스템 (예: Nd:YAG)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반전분포 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원자의 50% 이상 펌핑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소량만 펌핑해도 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임계값 (Threshold)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연속파 동작 (CW)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어려움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Ruby, Er:glass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Nd:YAG, Yb:파이버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669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현장에서는 4준위 시스템이 표준 — Nd:YAG, Yb:파이버, Yb:YAG 디스크 레이저가 모두 4준위 기반이다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85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공진기: 두 미러 사이에서 빛을 왕복시켜 증폭한다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2860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32918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HR 미러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(반사율 99.9%)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이득 매질 (Gain Medium)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펌핑 에너지 흡수 → 원자 들뜸 → 유도방출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0" y="2468880"/>
            <a:ext cx="228600" cy="13716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 미러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(출력 커플러, 부분 반사 ~90%)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418320" y="28346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0" y="2834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빔 출력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953512"/>
            <a:ext cx="16002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BF7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953512"/>
            <a:ext cx="16002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BF7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3319272"/>
            <a:ext cx="32004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BF7"/>
                </a:solidFill>
              </a:rPr>
              <a:t>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953512"/>
            <a:ext cx="100584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빔 왕복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89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공진기 길이와 파장이 정수 관계인 빛만 살아남아 단색성·지향성을 부여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 비유: 절삭가공에서 공진 진동이 문제인 것과 달리, 레이저에서는 공진이 핵심 원리로 작동함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85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이득 매질이 레이저의 파장과 특성을 결정한다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84048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물질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고체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Nd:YAG, Yb:YAG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1064nm, 1030nm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고출력, Q-스위칭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광섬유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Yb-doped fiber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~1070nm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우수, 유지보수 최소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(CO₂+N₂+He 혼합)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비금속 흡수율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GaAs, InGaAs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780~1100nm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소형, 고효율, 펌핑용으로 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엑시머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ArF, KrF, XeCl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193~308nm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UV, 광화학 반응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7900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이득 매질 → 파장 결정 → 재료 흡수율 결정 → 가공 특성 결정: 이 인과 사슬이 소스 선택의 핵심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85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공간적 코히런스가 가공에서 가장 중요하다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69164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시간적 코히런스 (Temporal Coherence)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길이(전파) 방향의 위상 일관성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대역폭이 좁을수록 코히런스 길이↑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간섭계, 홀로그래피에 중요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가공에서는 직접 영향 제한적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E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69164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공간적 코히런스 (Spatial Coherence)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단면 내 위상 일관성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M² 팩터와 직결 → 집속 성능 결정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공간 코히런스↑ → 더 작은 스폿 가능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싱글모드 파이버 레이저가 이 값이 우수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고 코히런스가 항상 좋은 것은 아니다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스팩클(Speckle) 노이즈: 코히런스가 높은 빔이 거친 표면에 반사 시 간섭 패턴(얼룩) 발생 → 일부 측정 및 가공에서 문제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85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편광은 금속 절단에서 흡수율을 크게 변화시킨다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편광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P편광 (P-polarization)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방향 정렬 시 최고 흡수율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일방향 직선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S편광 (S-polarization)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P편광의 직각. 절단면 경사에서 반사↑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특수 용도 (일반적으로 불리)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원형 편광 (Circular)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 무관 균일 흡수율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3D 가공, 윤곽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방사형 편광 (Radial)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후판에서 1.5~2배 속도 향상 가능 (모델링 연구 기반)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후판 금속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937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방사형 편광 1.5~2배 속도 향상은 모델링/연구 결과 기반. 박판에서는 차이가 미미하며, 실제 적용 전 조건별 검증 필요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절삭가공에서 경사각(Rake Angle)이 칩 형성과 절삭력에 영향 주는 것처럼, 편광 방향은 레이저 에너지의 흡수율에 영향을 준다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85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레이저는 랜덤 편광이 기본이다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737360"/>
            <a:ext cx="55412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파이버 내부 랜덤 편광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내부에서 편광 상태가 무작위로 변화 → 출력 빔은 랜덤 편광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554126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원형 편광과 유사한 효과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 편광은 통계적으로 원형 편광과 유사 → 방향 무관 가공에 유리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3931920"/>
            <a:ext cx="55412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편광 유지 파이버(PM Fiber)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편광 방향을 고정할 수 있으나 비용↑. 간섭계·센서 응용에서 필요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931920"/>
            <a:ext cx="55412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14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CO₂ 레이저와 비교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레이저: 보통 직선 편광 출력 → 윤곽 절단 시 원형 편광 변환 필요 (λ/4 파장판 사용)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85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A3A3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3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소스 가이드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7종 소스의 특성을 비교하고 선택 기준을 세운다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산업용 레이저 소스 7종 핵심 특성 비교 (1/2)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6576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 (빔 품질)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벽면효율(WPE)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수십W ~ 수십kW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SM: 1.0~1.5  /  MM: 2~5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10~15%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(Yb)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~1070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수십kW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≤1.1 (싱글모드)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30~50%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디스크 (Yb:YAG)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~1030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수백W ~ 수십kW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1.0~1.2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50~80% (광-광)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1064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SM: 1.5~5  /  MM: 3~10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10~25%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 = 싱글모드 (Single-Mode),  MM = 멀티모드 (Multi-Mode),  WPE = 벽면효율 (Wall-Plug Efficiency)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85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산업용 레이저 소스 7종 핵심 특성 비교 (2/2)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7432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 (빔 품질)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벽면효율(WPE)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다이오드 (Diode)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780~1100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&gt;50% (칩 수준)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초단펄스 (fs/ps)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~1030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수백W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1.0~1.5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5~30%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엑시머 (Excimer)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193~351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수십~수백W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 = 싱글모드 (Single-Mode),  MM = 멀티모드 (Multi-Mode),  WPE = 벽면효율 (Wall-Plug Efficiency)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2578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레이저: WPE + M² 조합에서 최고 밸런스 → 범용 금속 가공 1순위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디스크: 광-광 효율 최고 수준이나 시스템 복잡도↑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엑시머/초단펄스: HAZ 극소 정밀 가공, 비용↑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85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CO₂ 레이저: 비금속 가공의 최강자, 후판 절단에서 여전히 경쟁력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 및 구성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 10.6 μm → 유기물/비금속에서 흡수율 &gt;90%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CO₂ + N₂ + He 혼합 가스 + 전기 방전 펌핑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빔 전달: 미러(자유공간) 또는 관절 암 사용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(광섬유로 전달 불가 — 적외선 영역 광섬유 손실 과다)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비금속 절단면 매우 깨끗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후판 절단면 품질 우수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기술 성숙도 높음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7033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1F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 및 트렌드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42062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WPE 10~15% → 전력비 높음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미러 정렬 유지보수 필요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가스 소모 비용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트렌드: 파이버 레이저에 시장 점유율 잠식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단, 비금속 및 일부 영역에서 대체 불가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85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레이저가 산업을 지배하는 이유: M²≤1.1 + 벽면효율(WPE) 50%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73736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품질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M²≤1.1 (싱글모드), BPP ~0.3~1.5 mm·mrad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회절 한계에 근접한 초미세 스폿 집속 가능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효율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벽면효율(WPE) 30~50%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CO₂ 대비 전력비 1/3~1/5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냉각 부하도 대폭 감소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411480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유지보수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밀봉 구조로 정렬 불필요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다이오드 펌프 수명 ~100,000시간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가동률 극대화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4114800"/>
            <a:ext cx="53583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전달 유연성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광섬유로 빔 전달 → 로봇 암 장착 유연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진동·온도 변화에 강인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다헤드(Multi-head) 구성 용이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85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레이저도 만능은 아니다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737360"/>
            <a:ext cx="554126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비금속 가공 부적합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CO₂(10.6μm) 대비 아크릴, 목재, 가죽 절단에서 흡수율 낮음 → 절단면 품질 열위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55412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고반사 재료 역반사 위험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구리, 알루미늄 가공 시 역반사(Back-Reflection) → 소스 손상 위험. 아이솔레이터(Isolator) 또는 반사 방지 코팅 필수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3657600"/>
            <a:ext cx="55412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후판 절단면 품질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탄소강 25mm 이상에서 CO₂가 여전히 절단면 품질 우위. 드로스(Dross) 발생↑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657600"/>
            <a:ext cx="55412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840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TMI (Transverse Mode Instability)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1605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고출력(수kW 이상)에서 횡모드 불안정성 발생 가능 → 빔 품질 급격 저하. 설계로 완화 가능하나 한계 존재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62356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5623560"/>
            <a:ext cx="112105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BPP는 광학 불변량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BPP가 최종 스폿 크기의 하한을 결정. 광학계로 스폿을 줄이면 DOF가 짧아짐 → 소스 자체의 한계가 최종 성능 결정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85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디스크 레이저: 열을 면 방향으로 빼서 고출력에서 빔 품질 유지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Yb:YAG 얇은 디스크(두께 ~200μm)를 이득 매질로 사용 → 열 구배가 빔 축과 수직 방향으로 형성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열렌즈 효과(Thermal Lensing) 최소화 → 고출력에서도 M² 안정 유지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3749040"/>
            <a:ext cx="37124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초단펄스 증폭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Regenerative Amplifier로 활용 가능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ps/fs 레이저의 에너지 증폭에 적합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749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3749040"/>
            <a:ext cx="371246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제품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TRUMPF TruDisk 시리즈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수kW~수십kW급 산업 응용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3749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3749040"/>
            <a:ext cx="37124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 대비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단가↑, 시스템 복잡도↑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품질 유사, 초고출력에서 강점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85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Nd:YAG는 레거시, 다이오드는 넓은 면적 가공에 강하다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69164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Nd:YAG 레이저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파장: 1064nm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Q-스위칭으로 고피크파워 펄스 생성 가능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램프 펌핑(Lamp-Pumped): WPE ~1~3% — 매우 비효율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DPSS (다이오드 펌핑 고체 레이저)로 전환 중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WPE 10~25%로 개선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레거시 장비에서 여전히 사용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파이버 레이저로의 교체가 ROI상 유리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69164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다이오드 레이저 (Diode Laser)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파장: 780~1100nm (소재별 다양)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칩 수준 WPE &gt;50% — 최고 효율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M² 5~30 → 정밀 집속 가공 부적합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넓은 스폿 활용 분야: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표면 열처리 / 경화 (Heat Treatment)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직접 금속 용접 (Wide-bead)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플라스틱 용접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파이버/디스크의 펌프 소스로도 사용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85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펄스가 열확산보다 빠르면 '냉간 가공'이 된다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펄스 (fs/ps) — 냉간 어블레이션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에너지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(fs/ps)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47345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3820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 여기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(재료 표면)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47345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3820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열확산 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어블레이션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247345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23820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극소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리캐스트 없음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펄스 (ns/μs) — 열 손상 발생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펄스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(ns/μs)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393649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8450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전자→격자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열전달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93649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38450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열확산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393649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32" name="Text 30"/>
          <p:cNvSpPr/>
          <p:nvPr/>
        </p:nvSpPr>
        <p:spPr>
          <a:xfrm>
            <a:off x="8915400" y="38450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크고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리캐스트층 형성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에너지 입력 시간 &lt; 열확산 시간 → Cold Ablation (냉간 어블레이션) — HAZ 극소화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55955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[이질 도메인: EDM (방전가공)]  동일 원리: 짧은 방전 → 정밀 가공, 긴 방전 → 열 손상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 입력 시간 제어가 정밀도를 결정한다는 구조가 레이저와 동일함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85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ns vs ps vs fs: 펄스폭이 짧을수록 정밀하지만 비용이 높다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영향부(HAZ)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가공면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ns (나노초)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크고 불규칙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버(Burr)/리캐스트층 존재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절단, 마킹, 천공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 (피코초)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깨끗한 절단면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마이크로 가공, 의료부품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(펨토초)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극소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깨끗, 거의 무손상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초정밀 의료/반도체/유리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FF7E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fs가 모든 가공에 최적은 아니다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반복률(Rep Rate)을 높이면 펄스 간 열이 누적 → HAZ가 다시 커짐. 실제 공정에서는 "평균 출력 × 스캔 속도 × 반복" 최적화가 필수.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제거율(MRR)도 ns 대비 낮아 생산성과 품질 사이의 트레이드오프 발생.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85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상황에 따른 레이저 소스 선택 가이드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4805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스테인리스/연강 3mm 이하 정밀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M²≤1.1, 낮은 운전비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아크릴 / 목재 / 가죽 / 직물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10.6μm 흡수율 탁월, 절단면 깨끗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탄소강 20mm 이상 후판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또는 고출력 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후판 절단면 품질, 드로스(Dross)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 / 알루미늄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그린(532nm) 또는 고피크파워 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IR 고반사율 회피, 안정적 흡수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패터닝 / 유리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엑시머 / fs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광화학/냉간 어블레이션, HAZ 극소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넓은 면적 열처리 / 표면 경화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다이오드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고효율(&gt;50%), 넓은 스폿 균일 조사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고속 마킹 / 소형 부품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+ 갈바노 스캐너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 우수 + 고속 스캔 조합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85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초기 투자비보다 운영비가 소스 선택을 결정한다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6576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총소유비용(TCO)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 (램프 펌핑)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투자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(구형 장비)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전력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(WPE 30~50%)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(WPE 10~15%)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 (WPE 1~3%)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소모품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 윈도우, 노즐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ZnSe 렌즈 (고가), 혼합 가스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플래시 램프, 렌즈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유지보수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밀봉 구조, 정렬 최소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미러 정렬, 가스 보충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램프 교체 주기적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다운타임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정렬 유지보수 시 중단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램프 교체 시 중단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6692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Nd:YAG 램프 펌핑 장비의 수명 종료 시 파이버 레이저로 전환하는 ROI 계산이 가능 — 일반적으로 2~3년 내 투자 회수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전력비 + 유지보수비 절감이 교체 비용을 초과하는 시나리오 검토 권장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85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48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기초 완전 가이드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절삭가공 엔지니어를 위한 레이저 소스 · 광학계 · 하드웨어 교육자료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669280"/>
            <a:ext cx="10360152" cy="2743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2026-03-24  |  레이저 가공 엔지니어링 교육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절삭가공 전문가가 레이저 전문인력과 대등하게 토론한다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소스의 종류와 선택 기준을 이해한다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4864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광학계의 핵심 파라미터와 설계 의사결정 논리를 파악한다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864" cy="4114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시스템 구성과 레이저-물질 상호작용을 연결한다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92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수강생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절삭가공 배경 엔지니어 — 물리적 직관은 있으나 레이저 전문용어가 약한 상태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85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절삭가공 엔지니어가 처음 레이저에서 부딪히는 5가지 혼란 (1/2)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공구 없이 재료 제거?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광자 에너지가 재료에 흡수 → 용융/기화로 제거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접촉 없이도 에너지 전달이 가능하다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73736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같은 출력인데 왜 결과가 다른가?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파장별 재료 흡수율이 극적으로 다름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구리는 IR에서 반사율 ~95%, 그린에서 ~40%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737360"/>
            <a:ext cx="35295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초점이 왜 이렇게 중요한가?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24028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DOF (심도)가 수십 μm~수 mm로 극도로 얕음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 오차가 스폿 크기를 수 배 이상 변화시킴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85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절삭가공 엔지니어가 처음 레이저에서 부딪히는 5가지 혼란 (2/2)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0" y="17373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9968" y="1737360"/>
            <a:ext cx="362102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파라미터가 왜 이렇게 많은가?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절삭가공: 이송속도, 회전수, 절삭깊이 등 3~4개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레이저: 출력, 속도, 반복률, 펄스폭, 스폿, 가스, 초점 등 10개 이상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362102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빔을 왜 키웠다가 모으는가?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D_beam을 키우면 발산각(빔 분산) 감소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집속 렌즈 통과 시 더 작은 스폿 달성 가능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확장기 → 집속 렌즈 조합이 표준 구성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85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익숙한 절삭가공 개념으로 레이저를 이해한다 (1/2)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38912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밀도 (플루언스, Fluence)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힘이 아닌 에너지로 재료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이송속도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스캔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높을수록 단위 면적 에너지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침투 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출력/속도/반복 횟수로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주축 RPM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 (Rep Rate)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입력 빈도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공구 지름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스폿 크기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작으면 정밀, 크면 고속 가공에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공구 마모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광학 오염/열화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저하로 직결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어시스트 가스 (Assist Gas)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용융물 제거 + 산화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85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익숙한 절삭가공 개념으로 레이저를 이해한다 (2/2)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840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절삭 각도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입사각 / 편광 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흡수율에 직접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스핀들 모터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광자 에너지원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공구홀더 + 인서트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헤드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렌즈 + 노즐 + 보호 윈도우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CNC 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모션 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갈바노 스캐너는 관성 거의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칩 컨베이어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집진기 (Fume Extractor)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나노입자 분진 처리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조도 (Ra)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+ 버 + 리캐스트층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손상 추가 고려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85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교육 구성: 6개 파트로 레이저를 체계적으로 이해한다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17320" y="1691640"/>
            <a:ext cx="45720" cy="4572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64792"/>
            <a:ext cx="502920" cy="34747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17647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 레이저 물리 기초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0116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유도방출, 공진기, 편광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70432" y="2523744"/>
            <a:ext cx="502920" cy="34747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252374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450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 레이저 소스 가이드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277063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7종 소스, 선택 기준, 총소유비용(TCO)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70432" y="3282696"/>
            <a:ext cx="502920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32826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 광학계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35295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특성, 부품, 전달, 집속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70432" y="4041648"/>
            <a:ext cx="502920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4041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9684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 하드웨어 / 시스템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428853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모션, 제어, 냉각, 안전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70432" y="4800600"/>
            <a:ext cx="502920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4800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727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  레이저-물질 상호작용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504748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흡수, 가공 공정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70432" y="5559552"/>
            <a:ext cx="502920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1170432" y="55595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6  실무 가이드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58064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트러블슈팅, 의사결정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85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2D3A5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3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물리 기초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빛이 레이저가 되는 과정을 이해한다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LASER = 유도방출에 의한 빛의 증폭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 Amplification by Stimulated Emission of Radiation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1168" cy="20116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04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단색성 (Monochromaticity)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01168" cy="20116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07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코히런스 (Coherence)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01168" cy="201168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10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지향성 (Directionality)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 (절삭가공 관점)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광원 = 샌드블라스팅 (사방 분사)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= 수십 μm 초정밀 드릴 (집중 관통)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1208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광원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넓은 범위 (가시광 전체)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단일 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무작위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일치 (코히런스)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전방향 확산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퍼지지 않음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85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유도방출: 1개 광자가 들어가면 동일한 2개가 나온다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자연방출 (Spontaneous Emission)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들뜬 원자가 랜덤 타이밍/방향으로 광자 방출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방향, 위상, 파장이 모두 무작위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증폭 없음 → 레이저 불가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무작위로 떨어지는 빗방울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유도방출 (Stimulated Emission)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입사 광자가 들뜬 원자에서 동일 광자를 유도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같은 파장, 같은 위상, 같은 방향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1 → 2 → 4 → 8 ... 지수적 증폭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93192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4069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도미노처럼 정렬된 연쇄 반응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85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유도방출은 레이저 증폭의 핵심 메커니즘이다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펌핑 에너지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 들뜸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(고에너지 준위)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광자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유도방출: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광자 2개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공진기 왕복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지수적 증폭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92640" y="2884932"/>
            <a:ext cx="2743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27934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25603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0" y="2560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840480"/>
            <a:ext cx="11430000" cy="822960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31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각 유도방출은 입력 광자와 동일한 파장·위상·방향의 광자를 생성 → 공진기 내에서 반복하며 빛이 기하급수적으로 증폭됨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85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반전분포 없이는 흡수가 유도방출을 이긴다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1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상태 (No Lasing)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저에너지 준위 원자 수 &gt; 고에너지 준위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빛이 흡수됨 → 증폭 불가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반전분포 (Population Inversion)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고에너지 준위 원자 수 &gt; 저에너지 준위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유도방출 우세 → 증폭 가능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4712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반전분포를 만드는 방법 — 펌핑 (Pumping)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4617720"/>
            <a:ext cx="37124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광펌핑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플래시 램프 / 다이오드 레이저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617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7408" y="4617720"/>
            <a:ext cx="37124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전기 방전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레이저 등 기체 레이저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461772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4617720"/>
            <a:ext cx="37124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800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전류 주입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5120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반도체(다이오드) 레이저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85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4준위 시스템이 산업용 레이저의 표준인 이유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6576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3준위 시스템 (예: Ruby)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4준위 시스템 (예: Nd:YAG)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반전분포 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원자의 50% 이상 펌핑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소량만 펌핑해도 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임계값 (Threshold)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연속파 동작 (CW)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어려움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Ruby, Er:glass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Nd:YAG, Yb:파이버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669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현장에서는 4준위 시스템이 표준 — Nd:YAG, Yb:파이버, Yb:YAG 디스크 레이저가 모두 4준위 기반이다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85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공진기: 두 미러 사이에서 빛을 왕복시켜 증폭한다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2860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32918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HR 미러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(반사율 99.9%)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이득 매질 (Gain Medium)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펌핑 에너지 흡수 → 원자 들뜸 → 유도방출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0" y="2468880"/>
            <a:ext cx="228600" cy="13716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 미러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(출력 커플러, 부분 반사 ~90%)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418320" y="283464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0" y="2834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빔 출력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953512"/>
            <a:ext cx="16002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BF7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953512"/>
            <a:ext cx="16002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BF7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3319272"/>
            <a:ext cx="32004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BF7"/>
                </a:solidFill>
              </a:rPr>
              <a:t>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953512"/>
            <a:ext cx="100584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2852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빔 왕복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89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공진기 길이와 파장이 정수 관계인 빛만 살아남아 단색성·지향성을 부여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 비유: 절삭가공에서 공진 진동이 문제인 것과 달리, 레이저에서는 공진이 핵심 원리로 작동함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85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이득 매질이 레이저의 파장과 특성을 결정한다</a:t>
            </a:r>
            <a:endParaRPr 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84048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물질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고체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Nd:YAG, Yb:YAG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1064nm, 1030nm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고출력, Q-스위칭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광섬유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Yb-doped fiber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~1070nm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우수, 유지보수 최소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(CO₂+N₂+He 혼합)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비금속 흡수율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GaAs, InGaAs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780~1100nm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소형, 고효율, 펌핑용으로 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엑시머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ArF, KrF, XeCl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193~308nm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UV, 광화학 반응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7900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이득 매질 → 파장 결정 → 재료 흡수율 결정 → 가공 특성 결정: 이 인과 사슬이 소스 선택의 핵심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85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공간적 코히런스가 가공에서 가장 중요하다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69164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시간적 코히런스 (Temporal Coherence)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길이(전파) 방향의 위상 일관성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대역폭이 좁을수록 코히런스 길이↑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간섭계, 홀로그래피에 중요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가공에서는 직접 영향 제한적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E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69164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공간적 코히런스 (Spatial Coherence)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단면 내 위상 일관성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M² 팩터와 직결 → 집속 성능 결정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공간 코히런스↑ → 더 작은 스폿 가능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싱글모드 파이버 레이저가 이 값이 우수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고 코히런스가 항상 좋은 것은 아니다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스팩클(Speckle) 노이즈: 코히런스가 높은 빔이 거친 표면에 반사 시 간섭 패턴(얼룩) 발생 → 일부 측정 및 가공에서 문제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85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편광은 금속 절단에서 흡수율을 크게 변화시킨다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편광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P편광 (P-polarization)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방향 정렬 시 최고 흡수율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일방향 직선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S편광 (S-polarization)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P편광의 직각. 절단면 경사에서 반사↑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특수 용도 (일반적으로 불리)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원형 편광 (Circular)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 무관 균일 흡수율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3D 가공, 윤곽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방사형 편광 (Radial)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후판에서 1.5~2배 속도 향상 가능 (모델링 연구 기반)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후판 금속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937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방사형 편광 1.5~2배 속도 향상은 모델링/연구 결과 기반. 박판에서는 차이가 미미하며, 실제 적용 전 조건별 검증 필요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7607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절삭가공에서 경사각(Rake Angle)이 칩 형성과 절삭력에 영향 주는 것처럼, 편광 방향은 레이저 에너지의 흡수율에 영향을 준다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85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레이저는 랜덤 편광이 기본이다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737360"/>
            <a:ext cx="55412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파이버 내부 랜덤 편광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내부에서 편광 상태가 무작위로 변화 → 출력 빔은 랜덤 편광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554126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원형 편광과 유사한 효과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 편광은 통계적으로 원형 편광과 유사 → 방향 무관 가공에 유리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3931920"/>
            <a:ext cx="55412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편광 유지 파이버(PM Fiber)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편광 방향을 고정할 수 있으나 비용↑. 간섭계·센서 응용에서 필요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931920"/>
            <a:ext cx="55412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14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CO₂ 레이저와 비교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레이저: 보통 직선 편광 출력 → 윤곽 절단 시 원형 편광 변환 필요 (λ/4 파장판 사용)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85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A3A3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3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소스 가이드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7종 소스의 특성을 비교하고 선택 기준을 세운다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산업용 레이저 소스 7종 핵심 특성 비교 (1/2)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6576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 (빔 품질)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벽면효율(WPE)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수십W ~ 수십kW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SM: 1.0~1.5  /  MM: 2~5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10~15%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(Yb)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~1070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수십kW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≤1.1 (싱글모드)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30~50%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디스크 (Yb:YAG)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~1030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수백W ~ 수십kW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1.0~1.2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50~80% (광-광)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1064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SM: 1.5~5  /  MM: 3~10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10~25%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 = 싱글모드 (Single-Mode),  MM = 멀티모드 (Multi-Mode),  WPE = 벽면효율 (Wall-Plug Efficiency)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85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산업용 레이저 소스 7종 핵심 특성 비교 (2/2)</a:t>
            </a:r>
            <a:endParaRPr lang="en-US" sz="2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7432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 (빔 품질)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벽면효율(WPE)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다이오드 (Diode)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780~1100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&gt;50% (칩 수준)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초단펄스 (fs/ps)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~1030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수W ~ 수백W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1.0~1.5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5~30%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엑시머 (Excimer)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193~351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수십~수백W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 = 싱글모드 (Single-Mode),  MM = 멀티모드 (Multi-Mode),  WPE = 벽면효율 (Wall-Plug Efficiency)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2578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레이저: WPE + M² 조합에서 최고 밸런스 → 범용 금속 가공 1순위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디스크: 광-광 효율 최고 수준이나 시스템 복잡도↑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엑시머/초단펄스: HAZ 극소 정밀 가공, 비용↑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85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CO₂ 레이저: 비금속 가공의 최강자, 후판 절단에서 여전히 경쟁력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 및 구성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 10.6 μm → 유기물/비금속에서 흡수율 &gt;90%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CO₂ + N₂ + He 혼합 가스 + 전기 방전 펌핑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빔 전달: 미러(자유공간) 또는 관절 암 사용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(광섬유로 전달 불가 — 적외선 영역 광섬유 손실 과다)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비금속 절단면 매우 깨끗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후판 절단면 품질 우수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기술 성숙도 높음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7033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1F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 및 트렌드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42062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WPE 10~15% → 전력비 높음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미러 정렬 유지보수 필요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가스 소모 비용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트렌드: 파이버 레이저에 시장 점유율 잠식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단, 비금속 및 일부 영역에서 대체 불가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85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레이저가 산업을 지배하는 이유: M²≤1.1 + 벽면효율(WPE) 50%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73736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품질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M²≤1.1 (싱글모드), BPP ~0.3~1.5 mm·mrad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회절 한계에 근접한 초미세 스폿 집속 가능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효율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벽면효율(WPE) 30~50%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CO₂ 대비 전력비 1/3~1/5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냉각 부하도 대폭 감소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411480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유지보수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밀봉 구조로 정렬 불필요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다이오드 펌프 수명 ~100,000시간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가동률 극대화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4114800"/>
            <a:ext cx="53583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전달 유연성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광섬유로 빔 전달 → 로봇 암 장착 유연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진동·온도 변화에 강인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다헤드(Multi-head) 구성 용이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85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레이저도 만능은 아니다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737360"/>
            <a:ext cx="554126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비금속 가공 부적합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CO₂(10.6μm) 대비 아크릴, 목재, 가죽 절단에서 흡수율 낮음 → 절단면 품질 열위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7648" y="1737360"/>
            <a:ext cx="55412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고반사 재료 역반사 위험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구리, 알루미늄 가공 시 역반사(Back-Reflection) → 소스 손상 위험. 아이솔레이터(Isolator) 또는 반사 방지 코팅 필수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3657600"/>
            <a:ext cx="55412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후판 절단면 품질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탄소강 25mm 이상에서 CO₂가 여전히 절단면 품질 우위. 드로스(Dross) 발생↑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5778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657600"/>
            <a:ext cx="55412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840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TMI (Transverse Mode Instability)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1605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고출력(수kW 이상)에서 횡모드 불안정성 발생 가능 → 빔 품질 급격 저하. 설계로 완화 가능하나 한계 존재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62356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5623560"/>
            <a:ext cx="112105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BPP는 광학 불변량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BPP가 최종 스폿 크기의 하한을 결정. 광학계로 스폿을 줄이면 DOF가 짧아짐 → 소스 자체의 한계가 최종 성능 결정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85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디스크 레이저: 열을 면 방향으로 빼서 고출력에서 빔 품질 유지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Yb:YAG 얇은 디스크(두께 ~200μm)를 이득 매질로 사용 → 열 구배가 빔 축과 수직 방향으로 형성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열렌즈 효과(Thermal Lensing) 최소화 → 고출력에서도 M² 안정 유지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3749040"/>
            <a:ext cx="371246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초단펄스 증폭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Regenerative Amplifier로 활용 가능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ps/fs 레이저의 에너지 증폭에 적합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3749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3749040"/>
            <a:ext cx="371246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제품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TRUMPF TruDisk 시리즈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수kW~수십kW급 산업 응용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3749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3749040"/>
            <a:ext cx="371246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파이버 레이저 대비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425196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단가↑, 시스템 복잡도↑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품질 유사, 초고출력에서 강점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85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Nd:YAG는 레거시, 다이오드는 넓은 면적 가공에 강하다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69164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Nd:YAG 레이저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파장: 1064nm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Q-스위칭으로 고피크파워 펄스 생성 가능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램프 펌핑(Lamp-Pumped): WPE ~1~3% — 매우 비효율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DPSS (다이오드 펌핑 고체 레이저)로 전환 중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WPE 10~25%로 개선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레거시 장비에서 여전히 사용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파이버 레이저로의 교체가 ROI상 유리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69164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다이오드 레이저 (Diode Laser)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파장: 780~1100nm (소재별 다양)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칩 수준 WPE &gt;50% — 최고 효율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M² 5~30 → 정밀 집속 가공 부적합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넓은 스폿 활용 분야: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표면 열처리 / 경화 (Heat Treatment)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직접 금속 용접 (Wide-bead)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플라스틱 용접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파이버/디스크의 펌프 소스로도 사용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85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펄스가 열확산보다 빠르면 '냉간 가공'이 된다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펄스 (fs/ps) — 냉간 어블레이션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에너지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(fs/ps)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47345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23820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 여기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(재료 표면)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47345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3820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열확산 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어블레이션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247345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23820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52560" y="214884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극소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리캐스트 없음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펄스 (ns/μs) — 열 손상 발생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펄스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(ns/μs)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393649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8450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전자→격자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열전달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93649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38450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열확산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393649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32" name="Text 30"/>
          <p:cNvSpPr/>
          <p:nvPr/>
        </p:nvSpPr>
        <p:spPr>
          <a:xfrm>
            <a:off x="8915400" y="38450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3611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크고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리캐스트층 형성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에너지 입력 시간 &lt; 열확산 시간 → Cold Ablation (냉간 어블레이션) — HAZ 극소화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55955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[이질 도메인: EDM (방전가공)]  동일 원리: 짧은 방전 → 정밀 가공, 긴 방전 → 열 손상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 입력 시간 제어가 정밀도를 결정한다는 구조가 레이저와 동일함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85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ns vs ps vs fs: 펄스폭이 짧을수록 정밀하지만 비용이 높다</a:t>
            </a:r>
            <a:endParaRPr lang="en-US" sz="2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영향부(HAZ)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가공면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ns (나노초)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크고 불규칙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버(Burr)/리캐스트층 존재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절단, 마킹, 천공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 (피코초)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깨끗한 절단면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마이크로 가공, 의료부품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(펨토초)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극소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깨끗, 거의 무손상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초정밀 의료/반도체/유리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FF7E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fs가 모든 가공에 최적은 아니다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반복률(Rep Rate)을 높이면 펄스 간 열이 누적 → HAZ가 다시 커짐. 실제 공정에서는 "평균 출력 × 스캔 속도 × 반복" 최적화가 필수.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제거율(MRR)도 ns 대비 낮아 생산성과 품질 사이의 트레이드오프 발생.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85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상황에 따른 레이저 소스 선택 가이드</a:t>
            </a:r>
            <a:endParaRPr lang="en-US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4805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600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스테인리스/연강 3mm 이하 정밀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M²≤1.1, 낮은 운전비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아크릴 / 목재 / 가죽 / 직물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10.6μm 흡수율 탁월, 절단면 깨끗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탄소강 20mm 이상 후판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또는 고출력 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후판 절단면 품질, 드로스(Dross)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 / 알루미늄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그린(532nm) 또는 고피크파워 파이버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IR 고반사율 회피, 안정적 흡수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패터닝 / 유리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엑시머 / fs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광화학/냉간 어블레이션, HAZ 극소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넓은 면적 열처리 / 표면 경화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다이오드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고효율(&gt;50%), 넓은 스폿 균일 조사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고속 마킹 / 소형 부품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+ 갈바노 스캐너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 우수 + 고속 스캔 조합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85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초기 투자비보다 운영비가 소스 선택을 결정한다</a:t>
            </a:r>
            <a:endParaRPr lang="en-US" sz="2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6576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총소유비용(TCO)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Nd:YAG (램프 펌핑)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투자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(구형 장비)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전력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(WPE 30~50%)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(WPE 10~15%)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 (WPE 1~3%)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소모품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 윈도우, 노즐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ZnSe 렌즈 (고가), 혼합 가스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플래시 램프, 렌즈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유지보수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밀봉 구조, 정렬 최소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미러 정렬, 가스 보충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램프 교체 주기적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다운타임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정렬 유지보수 시 중단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램프 교체 시 중단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6692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Nd:YAG 램프 펌핑 장비의 수명 종료 시 파이버 레이저로 전환하는 ROI 계산이 가능 — 일반적으로 2~3년 내 투자 회수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전력비 + 유지보수비 절감이 교체 비용을 초과하는 시나리오 검토 권장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85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요구사항에서 소스 선택까지의 의사결정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FFB020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32004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FFB020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32004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정밀도?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475488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FFB020"/>
          </a:solidFill>
          <a:ln w="12700">
            <a:solidFill>
              <a:srgbClr val="E0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4754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고반사?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371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레이저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29260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초단펄스 (fs/ps)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4572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4572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그린/블루 레이저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54864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5486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레이저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1970532"/>
            <a:ext cx="109728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18790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2953512"/>
            <a:ext cx="155448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286207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433572"/>
            <a:ext cx="155448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33421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76672" y="4114800"/>
            <a:ext cx="36576" cy="64008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461772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5033772"/>
            <a:ext cx="155448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49423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5719572"/>
            <a:ext cx="237744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56281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비금속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μm급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572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5486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85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2 핵심: 소스 선택은 파장-재료 매칭이 출발점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8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파장이 재료 흡수율을 결정한다 — 소스 선택의 1차 기준</a:t>
            </a:r>
            <a:endParaRPr lang="en-US" sz="2000" dirty="0"/>
          </a:p>
          <a:p>
            <a:pPr marL="342900" indent="-342900">
              <a:lnSpc>
                <a:spcPct val="18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품질(M²/BPP)은 광학 불변량 — 소스에서 결정되면 렌즈로 개선 불가</a:t>
            </a:r>
            <a:endParaRPr lang="en-US" sz="2000" dirty="0"/>
          </a:p>
          <a:p>
            <a:pPr marL="342900" indent="-342900">
              <a:lnSpc>
                <a:spcPct val="18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TCO 관점: WPE 차이가 장기 운영비를 지배한다</a:t>
            </a:r>
            <a:endParaRPr lang="en-US" sz="2000" dirty="0"/>
          </a:p>
          <a:p>
            <a:pPr marL="342900" indent="-342900">
              <a:lnSpc>
                <a:spcPct val="18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트렌드: 파이버 레이저가 대부분의 금속 가공 시장을 지배 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85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광학계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빔의 형태와 전달, 집속의 원리를 이해한다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빔을 기술하는 4가지 핵심 지표</a:t>
            </a:r>
            <a:endParaRPr lang="en-US" sz="2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좋은 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이상적 가우시안 대비 빔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M²×2 → 스폿×2 → 에너지밀도 1/4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낮을수록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BPP (mm·mrad)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w₀ × θ, 광학 불변량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작을수록 같은 광학계로 작은 스폿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낮을수록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프로파일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단면 에너지 분포 형태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가우시안:최소스폿, 탑햇:균일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공정별 상이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DOF (초점심도)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웨이스트 전후 유효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짧으면 정밀, 길면 후판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공정별 상이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85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가우시안 빔: 중심이 가장 강하고 가장자리로 감소한다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1/e² 정의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반지름 = 중심 세기의 13.5% 지점까지의 거리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범위 안에 전체 에너지의 86.5% 포함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직경 d = 2w (카탈로그 기본 수치)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19088" y="1645920"/>
            <a:ext cx="517550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절삭가공 비유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846320" cy="2514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드릴 직경 = 유효 가공 범위와 유사.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차이: 레이저는 경계가 부드러움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가장자리 에너지가 점진적 감소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불균일 가공의 원인 가능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85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웨이스트 = 초점, 레일리 길이 = 유효 초점 범위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웨이스트 (Beam Waist)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w₀: 빔 반지름 최소 위치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피가공물 표면 = 빔 웨이스트에 배치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w₀ 작을수록 정밀 가공 가능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레일리 길이 (Rayleigh Length)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0" y="210312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z_R: 빔 단면적이 2배 되는 거리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z_R = π·w₀² / (M²·λ)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DOF ≈ 2·z_R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w₀↓ → z_R↓ (정밀 vs DOF 트레이드오프)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85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BPP는 광학 불변량 — 렌즈로는 줄일 수 없다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발산각 θ: 원거리에서 빔이 퍼지는 각도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 = w₀ × θ [mm·mrad]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 = M² × λ / π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BPP는 보존량. w₀↓ → θ↑ (역도 성립)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커플링: 코어에 입사 가능한 BPP 상한 존재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64592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7888" y="1645920"/>
            <a:ext cx="334670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인사이트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214884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선택에서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M²/BPP가 결정적인 이유: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아무리 좋은 렌즈를 써도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자체의 BPP를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개선할 수 없다.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85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3가지 공식만 알면 빔 파라미터를 추론할 수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스폿 직경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d_s = 4·M²·λ·f / (π·D_beam)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파장↓ → 작은 스폿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M²↓ → 작은 스폿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직경↑ → 작은 스폿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초점거리↓ → 작은 스폿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64592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초점심도 (DOF)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DOF = 2π·w₀² / (M²·λ)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스폿 = 얕은 DOF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(필연적 트레이드오프)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두꺼운 재료 → 긴 FL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큰 스폿 감수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164592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BPP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14884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 = M²·λ / 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광학 불변량.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결정, 변경 불가.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파이버: ~0.3~1.5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CO₂: ~2~6 mm·mrad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85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프로파일이 가공 품질을 직접 결정한다</a:t>
            </a:r>
            <a:endParaRPr lang="en-US" sz="28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가우시안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 모양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중심 최대, 가장자리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절단, 마킹, 드릴링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탑햇 (Top-hat)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 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열처리, 균일 용융, 박막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링 (Ring/Donut)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도넛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중심 저, 가장자리 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키홀 용접 안정화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불규칙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불균일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저비용 범용 (정밀도↓)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트렌드: 링+코어 빔 성형으로 용접 기공률 90% 감소 사례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85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6가지 광학 부품의 역할과 선택 기준</a:t>
            </a:r>
            <a:endParaRPr lang="en-US" sz="28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선택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집속 렌즈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빔을 스폿으로 모음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재질(파장 적합), FL(스폿 vs DOF)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콜리메이터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발산 빔 → 평행 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콜리/집속 FL 비율 = 배율 레버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익스팬더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직경 확대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작은 스폿, 손상 방지, 발산↓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 윈도우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광학계 보호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 중요한 소모품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방향 변경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유전체(고LIDT) vs 금속(광대역)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아이솔레이터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역반사 차단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고반사 재료 가공 시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85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잘못된 렌즈 재질 = 즉시 손상</a:t>
            </a:r>
            <a:endParaRPr lang="en-US" sz="2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투과 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Fused Silica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200nm~3.5μm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파이버, Nd:YAG, UV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사용 금지(흡수→파손)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ZnSe (황화아연)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0.6~20μm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(10.6μm) 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독성 물질, 취급 주의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CaF₂ (불화칼슘)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UV~8μm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엑시머, UV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고습도에 약함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인서트 재질(초경/CBN/다이아)을 재료에 맞춰 선택하는 것과 같은 원리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85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콜리메이터는 평행화, 빔 익스팬더는 확대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콜리메이터: 파이버 출사 → 발산 빔 → 평행 빔. 콜리/집속 FL 비율 = 스폿 크기 레버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익스팬더 — "왜 빔을 키우는가?"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92608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 발산각 감소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키우면 θ↓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장거리 전달 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퍼짐 최소화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9260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292608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 작은 스폿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42900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d_s ∝ 1/D_beam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D_beam↑ = d_s↓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에너지 밀도↑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9260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292608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3. 광학 보호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342900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면적↑ → 단위면적 에너지↓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LIDT 안전 마진 확보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고출력에서 필수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85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보호 윈도우 관리가 가공 안정성의 핵심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26694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보호 윈도우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37760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헤드 최하단, 스패터/흄 차단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 연쇄: 투과율↓ → 열흡수↑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열렌즈 강화 → 초점 이동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가공 드리프트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예방적 교체가 가장 경제적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645920"/>
            <a:ext cx="53583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아이솔레이터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029200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고반사 재료(Cu, Al) 가공 시 필수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역반사 빔 → 소스 영구 손상 위험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(파이버 레이저 특히 취약)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패러데이 아이솔레이터가 일반적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편광 회전으로 역방향 차단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85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전달 방식은 파장과 유연성 요구에 따라 결정</a:t>
            </a:r>
            <a:endParaRPr lang="en-US" sz="28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광섬유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파이버, Nd:YAG (1μm대)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유연, 정렬 불필요, 로봇 장착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자유공간 (미러)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CO₂, 고출력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고파워 전달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정렬 민감, 진동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관절 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(다축 필요)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다축 자유도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유지보수, 손실 누적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광섬유 전달의 편의성이 파이버 레이저 시장 지배의 핵심 이유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85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헤드 = 공구홀더 + 인서트에 해당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구성: 콜리메이터 → (빔 익스팬더) → 집속 렌즈 → 보호 윈도우 → 노즐</a:t>
            </a:r>
            <a:endParaRPr lang="en-US" sz="16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헤드 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포인트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헤드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동축 가스 노즐, 얇은 스폿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압력/노즐 직경 = 품질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용접 헤드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차폐 가스, 넓은 DOF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초점 위치 제어 = 용입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클래딩 헤드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파우더/와이어 피더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 공급-빔 동기화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85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초점거리는 스폿 크기와 DOF의 트레이드오프</a:t>
            </a:r>
            <a:endParaRPr lang="en-US" sz="28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 두께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FL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밀도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6mm (박판)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100~200 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얕음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6~25 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200~300 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 25mm (후판)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300~450 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깊음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(보상 필요)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FL = 작은 공구 반경 + 짧은 돌출 = 정밀하지만 접근성 제한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85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확대 후 집속 = 더 작은 스폿 + 안전한 광학계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1. 작은 스폿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d_s ∝ λ·f / D_beam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D_beam 2배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스폿 1/2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에너지밀도 4배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64592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 발산 감소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 = w₀ × θ (불변)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키우면 θ↓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장거리 전달 유리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164592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3. 광학 보호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14884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2배 → 면적 4배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단위면적 에너지 1/4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LIDT 여유 확보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85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성형으로 가공 품질을 능동적으로 제어한다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DOE (회절 광학 소자)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분할, 패턴 생성.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멀티빔 병렬 가공 가능.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빔 호모지나이저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가우시안 → 탑햇 변환.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균일 열처리에 필수.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링+코어 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코어: 키홀 유지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링: 용융풀 안정화.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기공률 90% 감소 사례.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적응 광학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변형 미러 실시간 제어.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 드리프트 보상.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고비용, 고성능.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85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갈바노 스캐너: 빔을 수~수십 m/s로 조향한다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갈바노 스캐너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미러(X/Y) + 모터로 빔 방향 제어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관성 극소 → 극고속 위치 변경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영역: 100×100 ~ 500×500 mm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마킹, 미세가공, SLM 핵심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f-theta 렌즈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0" y="210312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미러 각도 θ → 위치 f·θ 선형 변환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평면 초점 유지 (일반 렌즈는 구면)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 × 스캔 각도 = 작업 범위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85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고출력에서 초점이 움직이는 열렌즈 효과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원인: 광학부품 에너지 흡수 → 온도↑ → 굴절률 변화 + 열팽창 → 초점거리 변화</a:t>
            </a:r>
            <a:endParaRPr lang="en-US" sz="16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예열 루틴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가동 전 일정 시간 운전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평형에서 시작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수냉 광학계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렌즈/미러에 수냉 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온도 상승 억제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저흡수 코팅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LIDT 높은 유전체 코팅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흡수 최소화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보호윈도우 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오염 시 주기적 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열렌즈 강화 차단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적응 광학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변형 미러 실시간 보정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초점 보상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85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예방적 광학 관리 = 가장 경제적인 품질 유지</a:t>
            </a:r>
            <a:endParaRPr lang="en-US" sz="28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 주기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교체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 윈도우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매일~매주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투과율 5%↓, 흐림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클리너 + 무진 와이프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집속 렌즈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1회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투과율↓, 열렌즈 징후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클리너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커넥터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탈착 시마다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오염/손상 즉시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현미경 + 클리닝 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미러 코팅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분기 1회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코팅 박리, 반사율↓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 클리닝/교체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콜리메이터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반기 1회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모니터링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제조사 지침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85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3 핵심: BPP는 불변, 광학은 트레이드오프의 연속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 = 광학 불변량. 소스가 결정, 렌즈로 불가</a:t>
            </a:r>
            <a:endParaRPr lang="en-US" sz="20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스폿↓ ↔ DOF↓ = 필연적 트레이드오프</a:t>
            </a:r>
            <a:endParaRPr lang="en-US" sz="20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 윈도우 관리 = 열렌즈 억제 = 가공 안정성 핵심</a:t>
            </a:r>
            <a:endParaRPr lang="en-US" sz="20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성형으로 공정별 최적 프로파일 설계 가능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85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하드웨어/시스템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시스템의 전체 구성과 주변 장치를 이해한다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시스템 = 소스 + 빔 전달 + 가공 헤드 + 모션 + 제어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 공급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217627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20848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소스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17627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20848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8288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전달 광학계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217627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20848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헤드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4080" y="2176272"/>
            <a:ext cx="4572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9" name="Text 17"/>
          <p:cNvSpPr/>
          <p:nvPr/>
        </p:nvSpPr>
        <p:spPr>
          <a:xfrm>
            <a:off x="10104120" y="208483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241280" y="182880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피가공물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30175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718096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냉각기 (Chiller)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05072" y="2560320"/>
            <a:ext cx="36576" cy="4572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5" name="Text 23"/>
          <p:cNvSpPr/>
          <p:nvPr/>
        </p:nvSpPr>
        <p:spPr>
          <a:xfrm>
            <a:off x="3886200" y="288036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301752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71809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017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 시스템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114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제어기 (CNC/PLC)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(인터록)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718096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집진기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 대응: 소스=스핀들, 빔전달=주축→공구홀더, 가공헤드=인서트, 모션=CNC축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85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모션 시스템: 정밀도/속도/유연성 트레이드오프</a:t>
            </a:r>
            <a:endParaRPr lang="en-US" sz="28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갠트리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갈바노 스캐너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5축 로봇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±0.02~0.05mm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±수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±0.1~0.5mm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~120 m/min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수~수십 m/s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수백mm~수m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100~500mm²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반경 내 전방향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대면적 평판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마킹, 미세가공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 3D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볼스크류/선형모터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전류→미러 각도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서보+감속기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PSO: 코너 감속에서도 균일한 가공 보장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26694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문제: 시간 기반 제어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시간 간격 레이저 발사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코너 감속 시: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거리↓ + 에너지 동일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단위 길이당 에너지↑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코너 번인(Burn)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불균일 가공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64592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해결: PSO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02920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기반: x mm마다 레이저 발사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속도 무관 균일 가공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EtherCAT 실시간 통신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μs 수준 위치 피드백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mm당 칩 로드 일정 유지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 / 85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제어: 게이팅, 변조, 아날로그의 조합</a:t>
            </a:r>
            <a:endParaRPr lang="en-US" sz="28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게이팅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ON/OFF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발사/정지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 기본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PWM 변조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펄스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듀티 사이클 출력 조절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빠른 변경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0~10V / 4~20mA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비례 출력 제어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연속 조절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인터페이스: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RS232(레거시) | EtherCAT(산업 표준, PSO 적합) | 아날로그(단순 출력)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 / 85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냉각수 관리 실수가 레이저 고장의 주요 원인</a:t>
            </a:r>
            <a:endParaRPr lang="en-US" sz="28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냉각수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탈이온수 (DI)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증류수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전도도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&lt;1~5 μS/cm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&lt;10 μS/cm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교체 주기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배관 세정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15~25°C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15~25°C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349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수돗물 사용 금지 → 이온 오염 → 전기 단락/부식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53035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FFFF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5349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 과저 → 결로(Condensation) → 광학계 오염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 / 85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어시스트 가스: 용융물 제거 + 산화 제어</a:t>
            </a:r>
            <a:endParaRPr lang="en-US" sz="28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압력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연강, 탄소강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발열 산화 반응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3~10 bar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SUS, 알루미늄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비반응, 블로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15~30 bar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압축 공기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박판 ≤6mm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N₂+O₂ 혼합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3~8 bar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티타늄, 특수합금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완전 불활성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2~5 bar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압력은 Linde 기준. 노즐/장비/두께별로 차이 큼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 / 85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흄은 나노입자 — 집진 필수 + 안전 등급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집진: 프리필터 → HEPA → 활성탄 3단 구성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안전 등급 (IEC 60825)</a:t>
            </a:r>
            <a:endParaRPr lang="en-US" sz="16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03120"/>
          <a:ext cx="5394960" cy="914400"/>
        </p:xfrm>
        <a:graphic>
          <a:graphicData uri="http://schemas.openxmlformats.org/drawingml/2006/table">
            <a:tbl>
              <a:tblPr/>
              <a:tblGrid>
                <a:gridCol w="1798320"/>
                <a:gridCol w="1798320"/>
                <a:gridCol w="1798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 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 (인클로저 내장)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눈 보호 (가시광)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 고글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인클로저+인터록+고글+교육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산업용 가공 레이저 = 대부분 Class 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 / 85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394960" y="2194560"/>
            <a:ext cx="6245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레이저-물질 상호작용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94960" y="3063240"/>
            <a:ext cx="6245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레이저가 재료에 닿았을 때 일어나는 현상을 이해한다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입사 빔의 에너지는 흡수 + 반사 + 투과로 분배된다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빔 (Incident Beam)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2011680"/>
            <a:ext cx="7315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192024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표면 (Surface)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87952" y="1005840"/>
            <a:ext cx="36576" cy="73152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96012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4114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411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반사 (Reflection): 돌아감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2011680"/>
            <a:ext cx="7315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192024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73736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흡수 (Absorption): 열/전자 여기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2011680"/>
            <a:ext cx="73152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192024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35440" y="173736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737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에너지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87952" y="2331720"/>
            <a:ext cx="36576" cy="68580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3" name="Text 21"/>
          <p:cNvSpPr/>
          <p:nvPr/>
        </p:nvSpPr>
        <p:spPr>
          <a:xfrm>
            <a:off x="4069080" y="288036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718096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투과 (Transmission): 통과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(금속에서는 거의 없음)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50208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에너지 보존: 흡수 + 반사 + 투과 = 1 (A + R + T = 1)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금속에서 침투 깊이 = 10~100 nm (표면에 집중) — 대부분의 에너지가 극표면에서 소멸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 / 85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파장-재료 매칭이 가공 가능 여부를 결정한다 (1/2)</a:t>
            </a:r>
            <a:endParaRPr lang="en-US" sz="28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(10.6 μm)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(~1 μm)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그린 (532 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(355 nm↓)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5~15 %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30~40 %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55~60 %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60~65 %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SUS (스테인리스)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5~15 %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35~45 %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~70 %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알루미늄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~2 %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5~15 %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15~20 %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 (Copper)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~5 %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40~50 %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40~60 %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값은 상온·평탄 표면 기준. 가공 조건(온도↑·거칠기↑)에서 흡수율이 크게 상승한다.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파장이 짧을수록 금속 흡수율이 전반적으로 높다 (전자 밴드 구조).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 / 85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파장-재료 매칭이 가공 가능 여부를 결정한다 (2/2)</a:t>
            </a:r>
            <a:endParaRPr lang="en-US" sz="28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(10.6 μm)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(~1 μm)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그린 (532 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(355 nm↓)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유리/아크릴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&gt;90 %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(투과)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폴리머/목재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0040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값은 상온/평탄 표면 기준. 가공 조건에서 흡수율 급상승</a:t>
            </a:r>
            <a:endParaRPr lang="en-US" sz="1500" dirty="0"/>
          </a:p>
          <a:p>
            <a:pPr marL="342900" indent="-342900">
              <a:lnSpc>
                <a:spcPct val="15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알루미늄: 상온 ~8-15 % → 가열 시 15~25 %로 상승</a:t>
            </a:r>
            <a:endParaRPr lang="en-US" sz="1500" dirty="0"/>
          </a:p>
          <a:p>
            <a:pPr marL="342900" indent="-342900">
              <a:lnSpc>
                <a:spcPct val="15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구리: 상온 IR(적외선) 흡수율 극저. 임계 온도 이상에서 비선형 급증 — 초기 가공 시작이 어려운 이유</a:t>
            </a:r>
            <a:endParaRPr lang="en-US" sz="1500" dirty="0"/>
          </a:p>
          <a:p>
            <a:pPr marL="342900" indent="-342900">
              <a:lnSpc>
                <a:spcPct val="15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산화막·거칠기↑ → 다중 반사로 실효 흡수율↑ (Effective Absorptivity 증가)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 / 85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강도가 올라갈수록 재료 반응이 단계적으로 변한다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7180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강도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(Low Intensity)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313432"/>
            <a:ext cx="32004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2219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7373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(Heating)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313432"/>
            <a:ext cx="32004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219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7373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(Melting)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313432"/>
            <a:ext cx="32004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2219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7373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(Vaporization)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32520" y="2313432"/>
            <a:ext cx="32004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0" y="222199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17373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플라즈마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(Plasma)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이온화</a:t>
            </a:r>
            <a:endParaRPr lang="en-US" sz="110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파워 밀도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마킹 (Marking)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10³~10⁴ W/cm²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 제거 없음. 표면 변색·산화로 식별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전도 용접 (Conduction Welding)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10⁴~10⁶ W/cm²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얕고 넓은 비드. 열전도로 용융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절단/키홀 용접 (Keyhole Welding)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10⁶~10⁷ W/cm²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키홀(증기 채널) 형성. 깊고 좁은 용입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드릴링/어블레이션 (Ablation)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&gt;10⁷ W/cm²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 기화 제거. 초단펄스 영역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 / 85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절단 메커니즘은 가스와 강도 조합으로 결정된다</a:t>
            </a:r>
            <a:endParaRPr lang="en-US" sz="28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용융 절단 (Melt Cutting)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승화 절단 (Sublimation Cutting)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산화 절단 (Flame Cutting)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용융 + 가스로 용융물 배출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기화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+ O₂ 발열 반응 (재료 연소)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어시스트 가스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 (질소)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 또는 Ar (아르곤)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O₂ (산소)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절단면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산화 없음, 깨끗한 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깨끗한 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산화막 발생, 열영향↑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느림 (에너지 집약)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빠름 (발열 보조)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적용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SUS, 알루미늄 정밀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유기물, 세라믹, 반도체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연강·탄소강 두꺼운 판재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 / 85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키홀 용접은 깊은 용입을 만들지만 불안정성 위험이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691640"/>
            <a:ext cx="52669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전도 용접 (Conduction Mode)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937760" cy="2423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파워 밀도 &lt; 10⁶ W/cm²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열전도로 용융 → 얕고 넓은 비드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안정적, 기공(Porosity) 적음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단점: 느림, 얕은 용입, 낮은 어스펙트비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박판, 정밀 기기, 의료 부품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691640"/>
            <a:ext cx="526694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키홀 용접 (Keyhole Mode)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937760" cy="2423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파워 밀도 &gt; 10⁶ W/cm²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증기압으로 키홀(Keyhole) 형성 → 깊고 좁은 용입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빠름, 깊은 용입, 높은 어스펙트비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단점: 키홀 불안정 → 기공(Porosity), 스패터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적용: 두꺼운 구조재, 배터리 탭, 자동차 바디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47488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링+코어 빔(Ring+Core Beam) 프로파일로 키홀 안정화 → 기공률 90% 감소 사례 보고 (IPG, nLIGHT)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 / 85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용접 결함을 알면 파라미터 조정 방향을 잡을 수 있다</a:t>
            </a:r>
            <a:endParaRPr lang="en-US" sz="2800" dirty="0"/>
          </a:p>
        </p:txBody>
      </p:sp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기공 (Porosity)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키홀 붕괴, 가스 포획, 이물질 증발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 조정, 빔 셰이핑(링+코어), 차폐가스 강화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크랙 (Crack)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급속 열응력, 재료 취성, 합금 성분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예열, 후열처리, 용접 순서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스패터 (Spatter)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키홀 불안정, 과도한 증기압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출력/속도 조정, 빔 프로파일 개선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불완전 용입 (Lack of Fusion)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부족, 초점 이탈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출력↑, 속도↓, 초점 위치 재조정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언더컷 (Undercut)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가장자리 용융 과다, 속도 불균형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 조정, 초점 위치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 / 85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레이저는 하나의 도구로 다양한 공정을 수행한다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645920"/>
            <a:ext cx="52669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마킹 (Marking)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산화, 어닐링, 어블레이션, 색변화를 이용한 식별 표시.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+ 갈바노 스캐너로 고속 처리 가능.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645920"/>
            <a:ext cx="52669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클래딩/DED (Directed Energy Deposition)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파우더·와이어 공급 + 레이저 용융으로 표면 보수 또는 적층.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피딩(Feeding) 시스템 필요.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3794760"/>
            <a:ext cx="52669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드릴링 (Drilling)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타공(Percussion): 정점에서 반복 펄스로 홀 성형.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트레파닝(Trepanning): 원형 경로를 따라 절단.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깊은 소구경 홀에는 Percussion 방식이 유리.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79476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794760"/>
            <a:ext cx="526694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표면처리 (Surface Treatment)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29768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열처리(경화), 텍스처링(미세 패턴), 세정(오염 제거).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비접촉 + 선택적 처리로 복잡한 형상에도 적용 가능.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69 / 85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에너지 입력 시간 &lt; 열확산 시간 = Cold Ablation (냉간 가공)</a:t>
            </a:r>
            <a:endParaRPr lang="en-US" sz="28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열영향부 (HAZ)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가공면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나노초 (ns)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크고 불규칙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버(Burr)·리캐스트 많음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열적 (Thermal)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절단·마킹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피코초 (ps)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깨끗한 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혼합 (Mixed)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가공·의료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펨토초 (fs)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극소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깨끗한 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비열적 (쿨롱 폭발, Coulomb Explosion)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초정밀·반도체·바이오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1188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FFF5F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주의 — 반증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397764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반복률↑ → 펄스간 열 누적 → HAZ가 다시 커진다. 또한 fs 장비 비용이 극히 높아 ps가 현실적 선택인 경우가 많다.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7548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78231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[이질 도메인: EDM (방전가공)] 방전가공의 펄스 폭 최적화와 동일 원리 — "에너지 입력 시간 &lt; 열확산 시간"으로 정밀도를 높이는 구조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 / 85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스펙 항목이 가공에 무엇을 의미하는지 연결한다 (1/2)</a:t>
            </a:r>
            <a:endParaRPr lang="en-US" sz="28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스펙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정격 출력 (Rated Power)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 / kW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가공 가능 두께, 속도 상한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 (Wavelength)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nm / 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재료별 흡수율 결정. 광학계 호환성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무차원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M²×2 → 스폿 지름×√2 → 에너지밀도 1/4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BPP (빔 파라미터 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mm·mrad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작을수록 더 작은 스폿 가능 (광학 불변량)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 코어 지름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μm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작을수록 정밀 (고 BPP 요구). 100~200 μm 범용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 에너지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 / mJ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어블레이션 임계값(Fluence Threshold)과 직접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 / 85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스펙 항목이 가공에 무엇을 의미하는지 연결한다 (2/2)</a:t>
            </a:r>
            <a:endParaRPr lang="en-US" sz="28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스펙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가공 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 (Pulse Width)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ns / ps / 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짧을수록 HAZ↓, 피크파워↑. 공정 특성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 (Repetition Rate)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Hz / kHz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높으면 가공속도↑, 단위 펄스 에너지↓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냉각수 요구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L/min, °C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칠러(Chiller) 사양에 직접 입력. 부족하면 열렌즈 악화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전력 소비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kW / kVA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설치 전기 용량 확인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인터페이스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EtherCAT → PSO 연동 가능. ModBus → 기능 제한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11274552" cy="1508760"/>
          </a:xfrm>
          <a:prstGeom prst="roundRect">
            <a:avLst>
              <a:gd name="adj" fmla="val 6061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4544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읽기 예시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4873752"/>
            <a:ext cx="108173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 kW 파이버: 출력 3000 W / 파장 1070 nm / M²&lt;1.1 / BPP&lt;0.4 mm·mrad / 코어 100 μm / QBH / 10 L/min"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M²&lt;1.1 = 우수한 빔 품질, QBH = 산업 표준 커넥터 (Precitec·Trumpf 헤드 호환)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 / 85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3044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394960" y="2194560"/>
            <a:ext cx="6245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실무 가이드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94960" y="3063240"/>
            <a:ext cx="6245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트러블슈팅과 의사결정을 위한 실전 참고 자료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불량 증상에서 원인과 조치를 역추적한다 (1/2)</a:t>
            </a:r>
            <a:endParaRPr lang="en-US" sz="280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안 됨 (No Cut-Through)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플루언스 &lt; 임계값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출력↑ 또는 속도↓ 또는 초점 위치 재조정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(열영향부)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입력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속도↑, 출력↓, 펄스폭↓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버(Burr)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용융물 미제거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압력↑, 노즐 거리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고속 드로스 (침상형)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 과다 — 용융물 응고 불완전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속도↓ 또는 출력↑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저속 드로스 (둥근형)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과열 — 용융물 과다 축적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 / 85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불량 증상에서 원인과 조치를 역추적한다 (2/2)</a:t>
            </a:r>
            <a:endParaRPr lang="en-US" sz="28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절단면 산화·황변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O₂ 혼입 또는 N₂ 순도↓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N₂/Ar으로 교체, 순도 99.95%↑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스트리에이션 (줄무늬)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속도/파워 불균형, 가스 유동 불안정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 밸런스 재조정, 가스·노즐 점검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마킹 불균일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갈바노 정렬 이탈, f-theta 렌즈 오염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교정 패턴(Cal. Pattern) 테스트, 렌즈 클리닝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코너 과가공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PSO 미사용 — 코너에서 속도 감속 중 출력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PSO 활성화, 코너 게이팅(Gate) 설정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 / 85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문제의 빠른 진단과 조치</a:t>
            </a:r>
            <a:endParaRPr lang="en-US" sz="2800" dirty="0"/>
          </a:p>
        </p:txBody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진단 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저하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광학 오염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렌즈·미러 육안/UV 검사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클리닝 또는 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저하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정렬 이탈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프로파일러·번 페이퍼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재정렬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변동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열렌즈 (Thermal Lensing)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vs 정상상태 품질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예열 루틴, 수냉 확인, 보호윈도우 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품질 갑작스런 저하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TMI (모드 불안정성)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진동 패턴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제조사 상담, 출력 제한 운영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역반사 손상 경고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역반사 (Back Reflection)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파워 모니터 역류 신호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아이솔레이터 확인·교체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흄 누출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집진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기류(Air Flow) 테스트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필터 교체, 덕트 밀봉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 / 85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이런 결과가 나오면 → 이 파라미터를 조정한다 (1/2)</a:t>
            </a:r>
            <a:endParaRPr lang="en-US" sz="2800" dirty="0"/>
          </a:p>
        </p:txBody>
      </p:sp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 (결과)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조정 대상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미관통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/ 속도 / 초점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출력↑, 속도↓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플루언스(Fluence)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HAZ 넓음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 /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펄스폭↓, 속도↑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열확산 시간 줄임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버(Burr) 많음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압력 / 노즐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가스↑, 노즐 거리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용융물 제거 불충분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절단면 산화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O₂ → N₂/Ar으로 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산화 억제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스폿 예상보다 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광학계 / 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보호윈도우 교체, 빔 프로파일러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오염·열렌즈·정렬 이탈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77 / 85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이런 결과가 나오면 → 이 파라미터를 조정한다 (2/2)</a:t>
            </a:r>
            <a:endParaRPr lang="en-US" sz="2800" dirty="0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 (결과)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조정 대상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vs 수시간 후 품질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열렌즈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예열 루틴 도입, 수냉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평형 미도달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고반사 재료 가공 시작 불가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 / 피크파워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그린(532 nm) 검토, 피크파워↑, 표면 산화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흡수율 극저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용접 기공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프로파일 /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링+코어 빔 채택, 속도 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키홀(Keyhole) 불안정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 누적 문제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반복률↓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펄스간 냉각 시간 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유지보수 비용 과다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소스 종류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파이버(Fiber) 레이저로 전환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월등한 WPE, 밀봉 구조, 정렬 불필요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 / 85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가공 과제를 받았을 때의 체계적 접근 흐름 (1/2)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가공 요구사항 정의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+ 두께 + 표면 품질 + 처리 속도 + 비용 목표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25312" y="2560320"/>
            <a:ext cx="36576" cy="32004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274320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803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레이저 소스 선택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 → 흡수율 매칭 / CW vs 펄스 선택 / 출력 산정 / TCO 비교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25312" y="4069080"/>
            <a:ext cx="36576" cy="32004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425196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690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광학계 설계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초점거리 선택 / 스폿 크기 목표 / DOF 확인 / 빔 프로파일(Ring vs Gaussian) 결정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계속: Slide 80 (하드웨어 구성~시험 가공)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79 / 85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하드웨어 구성에서 시험 가공까지 (2/2)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하드웨어 구성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모션 시스템(갠트리/갈바노/로봇) / 어시스트 가스 &amp; 노즐 / 냉각 / 안전 인터록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25312" y="2514600"/>
            <a:ext cx="36576" cy="27432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265176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초기 파라미터 설정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70~90% / 속도 / 초점 위치 / 가스 압력 / PSO 활성화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25312" y="3886200"/>
            <a:ext cx="36576" cy="27432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4023360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886200"/>
            <a:ext cx="10058400" cy="822960"/>
          </a:xfrm>
          <a:prstGeom prst="roundRect">
            <a:avLst>
              <a:gd name="adj" fmla="val 8889"/>
            </a:avLst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86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시험 가공 + 검증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절단면/비드 검사 / HAZ·버·드로스 측정 / 파라미터 최적화 반복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5312" y="4983480"/>
            <a:ext cx="36576" cy="25603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510235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5239512"/>
            <a:ext cx="10058400" cy="502920"/>
          </a:xfrm>
          <a:prstGeom prst="roundRect">
            <a:avLst>
              <a:gd name="adj" fmla="val 12727"/>
            </a:avLst>
          </a:prstGeom>
          <a:solidFill>
            <a:srgbClr val="F5F7F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2578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피드백 루프: 문제 발생 시 → 트러블슈팅 참조 (Slide 74~78) → 파라미터 재조정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"소스 선택은 공구 선택이 아니라 공정 설계다"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 / 85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리서치에서 발견된 5가지 비직관적 사실 (1/3)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69164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후판(&gt;25 mm)에서 CO₂가 아직 살아있다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레이저의 짧은 파장(~1 μm)은 두꺼운 금속에서 키홀(Keyhole)이 불안정해진다.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CO₂(10.6 μm)는 오히려 후판 절단에서 더 안정적인 키홀을 형성하여 경쟁력이 유지된다.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9976" y="169164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BPP는 광학계로 줄일 수 없다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194560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 = 빔 허리 반경 × 발산각. 이는 광학 불변량(Optical Invariant)이다.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렌즈·미러로 초점을 바꿔도 BPP는 변하지 않는다.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BPP는 소스 선택 단계에서 결정된다.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48472" y="169164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69164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531352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보호 윈도우 오염이 열렌즈를 증폭한다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31352" y="2194560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 윈도우에 이물질이 붙으면 투과율↓ + 흡수↑ → 렌즈 자체가 뜨거워져 열렌즈 발생.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초점 위치 드리프트 → 가공 품질 점진적 저하.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교체가 핵심 예방책.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 / 85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리서치에서 발견된 5가지 비직관적 사실 (2/3 → 4·5)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691640"/>
            <a:ext cx="526694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EDM과 fs 레이저는 같은 원리다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937760" cy="2971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[이질 도메인: EDM (방전가공)]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공정 모두 "에너지 입력 시간 &lt; 열확산 시간"이라는 동일 원리로 정밀도를 확보한다.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EDM: μs~ns 방전 펄스로 열영향 최소화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레이저: &lt;10⁻¹³ 초 펄스로 쿨롱 폭발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EDM에서 축적된 펄스 최적화 노하우를 레이저 도메인에 직접 차용할 수 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691640"/>
            <a:ext cx="526694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다이오드 효율 &gt;50%의 함정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937760" cy="2971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다이오드 레이저 칩 수준 전기-광 변환 효율은 50% 이상 가능.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시스템 수준(전원·냉각·빔 정형 포함)에서는 40~50%로 낮아진다.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큰 문제: M² 5~30의 낮은 빔 품질.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실제 가공에 집중할 수 있는 유효 출력이 크게 줄어든다.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"효율 숫자만 보고 소스를 선택하면 안 된다."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 / 85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교육에서 다루지 않았지만 다음에 학습해야 할 주제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파라미터 결정 트리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2167128"/>
            <a:ext cx="10314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재료·두께에 대해 시행착오 없이 초기 파라미터를 설정하는 체계적 방법론. 재료별 임계 플루언스(Threshold Fluence) 데이터베이스와 연계하면 효과적.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인라인 프로세스 모니터링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34440" y="3630168"/>
            <a:ext cx="10314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플라즈마 발광(OES), 음향 방출(AE), OCT(광간섭단층촬영) 모니터링 + 피드백 제어. 품질의 실시간 확인과 가공 중 파라미터 자동 조정 가능.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4617720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TMI (모드 불안정성) 임계값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34440" y="5093208"/>
            <a:ext cx="103144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고출력 파이버 레이저에서 갑작스럽게 나타나는 빔 품질 불안정. 소스 선택 시 흔히 간과되는 숨은 변수. 출력 예비율 설계에 직결.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 / 85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6개 파트의 핵심을 한 문장씩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 (Physics)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645920"/>
            <a:ext cx="7982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유도방출 + 반전분포 + 공진기 = 레이저의 3대 조건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14016"/>
            <a:ext cx="73152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1401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4140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소스 (Source)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414016"/>
            <a:ext cx="7982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파장-재료 매칭이 소스 선택의 출발점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82112"/>
            <a:ext cx="73152" cy="65836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821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821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광학 (Optics)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3182112"/>
            <a:ext cx="7982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BPP는 불변, 스폿↓ ↔ DOF↓ 트레이드오프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50208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5020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95020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하드웨어 (Hardware)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3950208"/>
            <a:ext cx="7982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PSO와 냉각수 관리가 가공 안정성의 핵심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718304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718304"/>
            <a:ext cx="73152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71830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7183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상호작용 (Interaction)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4718304"/>
            <a:ext cx="7982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강도 단계 이해가 공정 설계의 기초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548640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486400"/>
            <a:ext cx="73152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4864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4864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실무 (Practice)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5486400"/>
            <a:ext cx="79827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트러블슈팅은 역방향 — 결과에서 원인으로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 / 85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965960"/>
            <a:ext cx="182880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148840"/>
            <a:ext cx="9445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기초 완전 가이드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2461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절삭가공 엔지니어를 위한 레이저 소스 · 광학계 · 하드웨어 교육자료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4023360"/>
            <a:ext cx="5788152" cy="182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51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문의: 레이저 가공 엔지니어링  |  2026-03-24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85장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 / 85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115</Slides>
  <Notes>115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2026-03-24T08:18:26Z</dcterms:created>
  <dcterms:modified xsi:type="dcterms:W3CDTF">2026-03-24T08:18:26Z</dcterms:modified>
</cp:coreProperties>
</file>