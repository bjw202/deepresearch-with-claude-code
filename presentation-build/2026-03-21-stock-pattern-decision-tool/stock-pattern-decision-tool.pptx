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</p:sldIdLst>
  <p:notesMasterIdLst>
    <p:notesMasterId r:id="rId5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notesMaster" Target="notesMasters/notesMaster1.xml"/><Relationship Id="rId58" Type="http://schemas.openxmlformats.org/officeDocument/2006/relationships/presProps" Target="presProps.xml"/><Relationship Id="rId59" Type="http://schemas.openxmlformats.org/officeDocument/2006/relationships/viewProps" Target="viewProps.xml"/><Relationship Id="rId60" Type="http://schemas.openxmlformats.org/officeDocument/2006/relationships/theme" Target="theme/theme1.xml"/><Relationship Id="rId6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1371600" y="2103120"/>
            <a:ext cx="13716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2286000"/>
            <a:ext cx="94457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내 매매를 도와줄</a:t>
            </a:r>
            <a:endParaRPr lang="en-US" sz="4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패턴 인식 보조 시스템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371600" y="3840480"/>
            <a:ext cx="94457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>
                    <a:alpha val="7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스윙 트레이딩 고확률 피봇 포인트 탐지 &amp; 유사 패턴 매칭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5486400"/>
            <a:ext cx="9445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>
                    <a:alpha val="50000"/>
                  </a:srgbClr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2026-03-21  |  Deep Research with Claude Code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 시스템이 해주는 것과 하지 않는 것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 / 55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362956" cy="4389120"/>
          </a:xfrm>
          <a:prstGeom prst="roundRect">
            <a:avLst>
              <a:gd name="adj" fmla="val 2083"/>
            </a:avLst>
          </a:prstGeom>
          <a:solidFill>
            <a:srgbClr val="F0FFF4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49971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7AE6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✓ 해주는 것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31520" y="2194560"/>
            <a:ext cx="4997196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패턴(VCP, CWH 등)을 자동으로 탐지해서 알려준다</a:t>
            </a:r>
            <a:endParaRPr lang="en-US" sz="1500" dirty="0"/>
          </a:p>
          <a:p>
            <a:pPr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패턴이 성공할 확률을 숫자로 보여준다</a:t>
            </a:r>
            <a:endParaRPr lang="en-US" sz="1500" dirty="0"/>
          </a:p>
          <a:p>
            <a:pPr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비슷한 차트가 어떻게 됐는지 찾아준다</a:t>
            </a:r>
            <a:endParaRPr lang="en-US" sz="1500" dirty="0"/>
          </a:p>
          <a:p>
            <a:pPr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성공/실패 사례를 모은 차트북을 자동 생성한다</a:t>
            </a:r>
            <a:endParaRPr lang="en-US" sz="1500" dirty="0"/>
          </a:p>
          <a:p>
            <a:pPr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상황(강세/약세)에 따라 확률을 보정한다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77356" y="1645920"/>
            <a:ext cx="5362956" cy="4389120"/>
          </a:xfrm>
          <a:prstGeom prst="roundRect">
            <a:avLst>
              <a:gd name="adj" fmla="val 2083"/>
            </a:avLst>
          </a:prstGeom>
          <a:solidFill>
            <a:srgbClr val="FFF5F5"/>
          </a:solidFill>
          <a:ln/>
        </p:spPr>
      </p:sp>
      <p:sp>
        <p:nvSpPr>
          <p:cNvPr id="9" name="Text 7"/>
          <p:cNvSpPr/>
          <p:nvPr/>
        </p:nvSpPr>
        <p:spPr>
          <a:xfrm>
            <a:off x="6460236" y="1737360"/>
            <a:ext cx="499719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6B6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✗ 하지 않는 것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60236" y="2194560"/>
            <a:ext cx="4997196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자동으로 매수/매도 주문을 넣지 않는다</a:t>
            </a:r>
            <a:endParaRPr lang="en-US" sz="1500" dirty="0"/>
          </a:p>
          <a:p>
            <a:pPr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포지션 크기를 자동 결정하지 않는다</a:t>
            </a:r>
            <a:endParaRPr lang="en-US" sz="1500" dirty="0"/>
          </a:p>
          <a:p>
            <a:pPr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손절/익절을 자동 실행하지 않는다</a:t>
            </a:r>
            <a:endParaRPr lang="en-US" sz="1500" dirty="0"/>
          </a:p>
          <a:p>
            <a:pPr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종목을 대신 골라주지 않는다</a:t>
            </a:r>
            <a:endParaRPr lang="en-US" sz="1500" dirty="0"/>
          </a:p>
          <a:p>
            <a:pPr marL="342900" indent="-342900">
              <a:lnSpc>
                <a:spcPct val="160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매매 판단은 항상 내가 한다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시스템이 보여주는 화면은 이렇게 생겼다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325880"/>
            <a:ext cx="11091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의사결정 보조 카드 예시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 / 55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371600" y="1645920"/>
            <a:ext cx="9445752" cy="4572000"/>
          </a:xfrm>
          <a:prstGeom prst="roundRect">
            <a:avLst>
              <a:gd name="adj" fmla="val 2400"/>
            </a:avLst>
          </a:prstGeom>
          <a:solidFill>
            <a:srgbClr val="F5F7FA"/>
          </a:solidFill>
          <a:ln/>
          <a:effectLst>
            <a:outerShdw sx="100000" sy="100000" kx="0" ky="0" algn="bl" rotWithShape="0" blurRad="101600" dist="38100" dir="162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389888" y="1645920"/>
            <a:ext cx="9409176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8" name="Text 6"/>
          <p:cNvSpPr/>
          <p:nvPr/>
        </p:nvSpPr>
        <p:spPr>
          <a:xfrm>
            <a:off x="1645920" y="1828800"/>
            <a:ext cx="8897112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[삼성전기 009150]  2026-03-21</a:t>
            </a: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패턴: VCP (3차 수축, 품질 82/100)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수축 깊이: 18% → 9% → 4%  |  볼륨 위축: -62%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피봇 가격: 142,500원</a:t>
            </a: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r>
              <a:rPr lang="en-US" sz="1500" b="1" dirty="0">
                <a:solidFill>
                  <a:srgbClr val="4A7B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 확률:  P(+30%/10일)=19%  |  P(+20%/10일)=34%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E[최대이익]: +14.8%   |   E[최대손실]: -5.3%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7AE6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시장: 강세확산 → 보정 확률: P(+30%)=24%</a:t>
            </a: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사례:  한미반도체 25.07 [성공+42%]  |  에코프로 25.03 [실패-8%]  |  리노공업 25.11 [성공+35%]</a:t>
            </a:r>
            <a:pPr indent="0" marL="0">
              <a:lnSpc>
                <a:spcPct val="130000"/>
              </a:lnSpc>
              <a:buNone/>
            </a:pP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B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 이 패턴 유형의 역사적 base rate = 15%  |  유사 5건 중 2건만 +30% 성공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73752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286000"/>
            <a:ext cx="30449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0D4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5486400" y="2286000"/>
            <a:ext cx="6153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왜 만드는가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0" y="3200400"/>
            <a:ext cx="6153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눈으로 보는 패턴의 한계, 그리고 데이터로 보완하는 방법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눈으로 보는 패턴은 편향이 크고, 기억은 불완전하다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 / 55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성공한 매매는 선명하게 기억하고, 실패한 매매는 빠르게 잊는다 (확인 편향)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"이건 VCP 같은데..." — 같은 차트를 보고도 날마다 판단이 달라진다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과거에 비슷한 차트가 있었는지 기억에 의존해야 한다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시장이 강세인지 약세인지에 따라 같은 패턴의 의미가 달라지는데, 감으로 판단한다</a:t>
            </a:r>
            <a:endParaRPr lang="en-US" sz="17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2,500개 종목을 매일 눈으로 훑기엔 물리적 한계가 있다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사람의 눈 vs 시스템의 눈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 / 55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사람의 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시스템의 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 탐지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경험과 직관에 의존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 기준으로 일관되게 탐지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과거 사례 검색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기억에 의존 (편향)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 종목 DB에서 유사 사례 즉시 검색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확률 판단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"느낌적으로 괜찮다"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"역사적으로 이 조건에서 성공률 24%"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시장 상황 반영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뉴스/분위기에 좌우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시장 지표로 정량 보정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 속도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하루 50~100종목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2,500종목 수 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일관성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컨디션에 따라 변동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항상 같은 기준 적용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9231"/>
            </a:avLst>
          </a:prstGeom>
          <a:solidFill>
            <a:srgbClr val="EBF0FF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566928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B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시스템은 트레이더를 대체하는 것이 아니라, 트레이더가 놓치는 것을 보여주는 것이다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과거 비슷한 차트가 어떻게 됐는지 바로 보고 싶다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 / 55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"지금 이 차트... 예전에 한미반도체에서 본 것 같은데?"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시스템이 즉시 비슷한 과거 사례 5~10개를 찾아서 보여준다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각 사례가 돌파 후 어떻게 됐는지 (성공/실패) 결과도 함께 표시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"비슷한 10개 사례 중 3개만 시원하게 뚫렸다" 같은 통계도 제공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이것은 의료 영상 AI와 같은 구조다: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의사가 CT를 보면, AI가 유사한 과거 사례를 찾아서 "이런 경우 악성 확률 73%"라고 보조한다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우리 시스템도 차트를 보면, 유사 사례 + 확률로 판단을 보조한다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" name="Shape 1"/>
          <p:cNvSpPr/>
          <p:nvPr/>
        </p:nvSpPr>
        <p:spPr>
          <a:xfrm>
            <a:off x="5641848" y="1828800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4" name="Text 2"/>
          <p:cNvSpPr/>
          <p:nvPr/>
        </p:nvSpPr>
        <p:spPr>
          <a:xfrm>
            <a:off x="1371600" y="2286000"/>
            <a:ext cx="9445752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2400" i="1" dirty="0">
                <a:solidFill>
                  <a:srgbClr val="1A1F36"/>
                </a:solidFill>
                <a:latin typeface="ChosunNm" pitchFamily="34" charset="0"/>
                <a:ea typeface="ChosunNm" pitchFamily="34" charset="-122"/>
                <a:cs typeface="ChosunNm" pitchFamily="34" charset="-120"/>
              </a:rPr>
              <a:t>“같은 VCP라도 첫 번째 베이스와</a:t>
            </a:r>
            <a:endParaRPr lang="en-US" sz="24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2400" i="1" dirty="0">
                <a:solidFill>
                  <a:srgbClr val="1A1F36"/>
                </a:solidFill>
                <a:latin typeface="ChosunNm" pitchFamily="34" charset="0"/>
                <a:ea typeface="ChosunNm" pitchFamily="34" charset="-122"/>
                <a:cs typeface="ChosunNm" pitchFamily="34" charset="-120"/>
              </a:rPr>
              <a:t>세 번째 베이스는 완전히 다른 매매다”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371600" y="4754880"/>
            <a:ext cx="9445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Mark Minervini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/ 55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73752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286000"/>
            <a:ext cx="30449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0D4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5486400" y="2286000"/>
            <a:ext cx="6153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어떤 패턴을 찾는가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0" y="3200400"/>
            <a:ext cx="6153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O'Neil, Minervini, 쿨라메기가 말하는 6가지 고확률 돌파 패턴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모든 패턴의 전제: Stage 2 상승 추세 종목만 대상으로 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/ 55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Minervini의 Trend Template — 이 조건을 만족하는 종목에서만 패턴을 찾는다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현재가가 50일/150일/200일 이동평균선 위에 있어야 한다 (정배열)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200일선이 최소 1개월 이상 상승 중이어야 한다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52주 최저가 대비 +30% 이상 올라와 있어야 한다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52주 최고가 대비 -25% 이내에 있어야 한다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상대강도(RS Rating)가 상위 30% 안에 들어야 한다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9231"/>
            </a:avLst>
          </a:prstGeom>
          <a:solidFill>
            <a:srgbClr val="EBF0FF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566928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B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 이 기준은 미국 시장에서 만들어졌다. 한국 시장에서 수치를 검증하고 조정해야 한다.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Minervini Trend Template 8가지 조건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55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#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 기준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현재가 &gt; 150일선 그리고 &gt; 200일선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150일선 &gt; 200일선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200일선이 1개월+ 상승 중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기울기 &gt; 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50일선 &gt; 150일선 &gt; 200일선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정배열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현재가 &gt; 50일선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현재가 &gt;= 52주 최저가 + 30%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(가격-저점)/저점 &gt;= 0.30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현재가 &gt;= 52주 최고가 - 25%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(고점-가격)/고점 &lt;= 0.25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RS Rating 70 이상 (이상적 80+)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자체 상대강도 계산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6가지 핵심 돌파 패턴 한눈에 보기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/ 55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514039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645920"/>
            <a:ext cx="3477463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83080"/>
            <a:ext cx="3148279" cy="3200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VCP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103120"/>
            <a:ext cx="3148279" cy="16459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변동폭이 점점 줄어들며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에너지가 압축되는 패턴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(Minervini)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36999" y="1645920"/>
            <a:ext cx="3514039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55287" y="1645920"/>
            <a:ext cx="3477463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4519879" y="1783080"/>
            <a:ext cx="3148279" cy="3200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Cup-with-Handle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19879" y="2103120"/>
            <a:ext cx="3148279" cy="16459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U자형 바닥 후 짧은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손잡이 구간에서 돌파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(O'Neil)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25358" y="1645920"/>
            <a:ext cx="3514039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143646" y="1645920"/>
            <a:ext cx="3477463" cy="548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5" name="Text 13"/>
          <p:cNvSpPr/>
          <p:nvPr/>
        </p:nvSpPr>
        <p:spPr>
          <a:xfrm>
            <a:off x="8308238" y="1783080"/>
            <a:ext cx="3148279" cy="3200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HTF (깃발형)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08238" y="2103120"/>
            <a:ext cx="3148279" cy="16459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급등 후 좁은 횡보 구간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(깃발)에서 재돌파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(O'Neil/쿨라메기)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160520"/>
            <a:ext cx="3514039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66928" y="4160520"/>
            <a:ext cx="3477463" cy="54864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297680"/>
            <a:ext cx="3148279" cy="3200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W패턴 (이중 바닥)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31520" y="4617720"/>
            <a:ext cx="3148279" cy="16459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두 번 바닥을 찍고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중간 고점을 돌파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(O'Neil)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336999" y="4160520"/>
            <a:ext cx="3514039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55287" y="4160520"/>
            <a:ext cx="3477463" cy="5486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3" name="Text 21"/>
          <p:cNvSpPr/>
          <p:nvPr/>
        </p:nvSpPr>
        <p:spPr>
          <a:xfrm>
            <a:off x="4519879" y="4297680"/>
            <a:ext cx="3148279" cy="3200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Low Cheat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519879" y="4617720"/>
            <a:ext cx="3148279" cy="16459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피봇 이전에 조기 진입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거래량 극도 위축 구간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(쿨라메기/Minervini)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125358" y="4160520"/>
            <a:ext cx="3514039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143646" y="4160520"/>
            <a:ext cx="3477463" cy="54864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27" name="Text 25"/>
          <p:cNvSpPr/>
          <p:nvPr/>
        </p:nvSpPr>
        <p:spPr>
          <a:xfrm>
            <a:off x="8308238" y="4297680"/>
            <a:ext cx="3148279" cy="3200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Episodic Pivot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8308238" y="4617720"/>
            <a:ext cx="3148279" cy="16459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실적/뉴스로 갭업 후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눌림목에서 재돌파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(쿨라메기)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VCP: 변동폭이 점점 줄어들며 에너지가 압축된다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55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 물량(팔려는 사람)이 점점 소진되면서 가격 흔들림이 줄어든다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수축이 2~6번 반복되며, 각 수축의 깊이가 이전보다 얕아진다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예시: 첫 수축 -15% → 두번째 -10% → 세번째 -5%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거래량도 수축과 함께 줄어들어 "거래 정지 수준"까지 말라야 한다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수축 구간의 고점이 피봇(돌파 가격)이 된다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돌파 시 거래량이 평소의 1.5배 이상으로 급증해야 진짜 돌파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9231"/>
            </a:avLst>
          </a:prstGeom>
          <a:solidFill>
            <a:srgbClr val="EBF0FF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566928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B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핵심: 스프링이 압축되듯 에너지가 쌓이고, 마지막에 터진다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VCP를 숫자로 정의하면 이렇다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55</a:t>
            </a:r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수축 횟수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2~6회 (이상적 3회+)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Minervini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수축 깊이 감소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각 수축이 이전 대비 20~30% 작아야 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Minervini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첫 수축 최대 깊이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강세장 ≤25%, 약세장 ≤35%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Minervini, TraderLion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 기간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최소 2~3주, 보통 4~12주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Minervini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수축 중 거래량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50일 평균의 40~60%까지 감소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Minervini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거래량 드라이업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3~5일 연속 극도 낮은 거래량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Minervini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돌파 시 거래량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50일 평균의 1.5배 이상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Minervini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9231"/>
            </a:avLst>
          </a:prstGeom>
          <a:solidFill>
            <a:srgbClr val="EBF0FF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566928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B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 모든 수치가 미국 시장 경험치. 한국 데이터로 범위를 재확인해야 한다.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Cup-with-Handle: U자 바닥 후 손잡이에서 돌파한다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 / 55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주가가 U자형으로 바닥을 만든다 (V자형 급반등은 해당 안 됨)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컵의 깊이는 12~33%가 이상적 (너무 깊으면 약한 종목)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컵 완성 후 짧은 하락 구간(핸들)이 1~4주 형성된다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핸들의 깊이는 컵 깊이의 절반 이하여야 한다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핸들 구간에서 거래량이 줄어들어야 한다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컵 좌측 고점(lip) 근처가 피봇 — 여기를 거래량과 함께 돌파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CWH를 숫자로 정의하면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 / 55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출처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컵 깊이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12~33% (약세장에서 최대 50%)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O'Neil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컵 기간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7~65주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O'Neil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핸들 깊이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컵 깊이의 50% 이하 (이상적 8~12%)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O'Neil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핸들 기간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1~4주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O'Neil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핸들 거래량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감소 추세 (드라이업)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O'Neil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좌우 Lip 차이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±5% 이내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O'Neil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컵 바닥 형태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U자형 (V자형 제외)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O'Neil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HTF: 급등 후 깃발처럼 좁은 횡보에서 재돌파한다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 / 55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짧은 기간(8주 이내)에 30% 이상 급등한 종목이 대상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급등 후 5~25일간 좁은 범위에서 횡보한다 (깃발 모양)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횡보 기간의 변동성이 급등 기간의 30% 이하여야 한다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횡보 구간에서 거래량이 줄어들어야 한다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깃발 상단을 돌파하면 재상승 시작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O'Neil 원래 기준은 "8주 내 100% 상승"이지만, 쿨라메기는 30%+로 완화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이 시스템에서는 쿨라메기 기준(30%+)을 사용한다</a:t>
            </a:r>
            <a:endParaRPr lang="en-US" sz="1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W패턴, Low Cheat, Episodic Pivot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 / 55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핵심 특징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피봇 위치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W패턴 (이중 바닥)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두 저점 차이 5% 이내, 간격 2~7주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중간 반등 10~20%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중간 고점 돌파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Low Cheat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VCP/CWH 안에서 피봇 이전에 조기 진입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거래량이 극도로 말라붙은 구간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수축 저점 근처에서 진입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Episodic Pivot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실적 발표/뉴스로 갭업 +5% 이상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거래량 평소 3배+, 이후 눌림목 형성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갭업일 고가 또는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5일 내 고점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패턴이 겹칠 때: VCP인가 CWH인가?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19 / 55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VCP와 CWH는 자주 겹친다 — 컵의 우측이 수축하면 둘 다에 해당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구분 기준: CWH는 U자형 바닥이 필수, VCP는 수축 깊이 감소가 필수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실무적 해법: 둘 다 해당하면 둘 다 라벨링 (다중 라벨 허용)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 분류는 "후보 제시"까지가 목표이다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판단은 차트를 보고 내가 직접 하는 것이 품질을 보장한다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주의: 모든 수치 기준은 미국 시장에서 나왔다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 / 55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Minervini, O'Neil, 쿨라메기 — 전부 미국 나스닥/NYSE 기반 경험칙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한국 시장과의 차이점: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상한가/하한가 ±30% (미국엔 없음)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개인투자자 비중 70~80% (미국보다 훨씬 높음)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매도 시 증권거래세 0.15% + 수수료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공매도 제도 변화 (2020~2025 금지 → 재개)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Phase 0에서 한국 데이터로 각 수치의 분포를 확인하고 조정해야 한다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미국 기준 그대로 쓰면 패턴을 너무 많이/적게 잡을 수 있다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73752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286000"/>
            <a:ext cx="30449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0D4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5486400" y="2286000"/>
            <a:ext cx="6153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성공이란 무엇인가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0" y="3200400"/>
            <a:ext cx="6153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"시원하게 뚫리는가"를 기준으로 성공과 실패를 나눈다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성공 = 피봇 돌파 후 10일 내 +30%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 / 55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474720" cy="2286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8308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27AE60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+30%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10일 내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2004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시원한 돌파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1645920"/>
            <a:ext cx="3474720" cy="2286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178308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B020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+10~30%</a:t>
            </a:r>
            <a:endParaRPr lang="en-US" sz="4800" dirty="0"/>
          </a:p>
        </p:txBody>
      </p:sp>
      <p:sp>
        <p:nvSpPr>
          <p:cNvPr id="11" name="Text 9"/>
          <p:cNvSpPr/>
          <p:nvPr/>
        </p:nvSpPr>
        <p:spPr>
          <a:xfrm>
            <a:off x="4297680" y="2697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10일 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32004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보통 돌파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8046720" y="1645920"/>
            <a:ext cx="3474720" cy="2286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0" y="178308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6B6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-7~8%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8046720" y="26974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손절선 도달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046720" y="32004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실패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4206240"/>
            <a:ext cx="1109167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600" b="1" dirty="0">
                <a:solidFill>
                  <a:srgbClr val="1A1F36"/>
                </a:solidFill>
              </a:rPr>
              <a:t>왜 +30%인가?</a:t>
            </a:r>
            <a:pPr indent="0" marL="0">
              <a:lnSpc>
                <a:spcPct val="140000"/>
              </a:lnSpc>
              <a:buNone/>
            </a:pP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A5568"/>
                </a:solidFill>
              </a:rPr>
              <a:t>브레이크아웃 매매의 핵심은 "시원하게 뚫리는가". 소폭 상승(+5~10%)은 관심 대상이 아니다.</a:t>
            </a:r>
            <a:endParaRPr lang="en-US" sz="16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4A5568"/>
                </a:solidFill>
              </a:rPr>
              <a:t>한국 상한가가 +30%이므로, 상한가 1회에 해당하는 강한 움직임을 성공으로 본다.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하나의 확률이 아니라 계층적 확률로 풍부하게 보여준다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23 / 55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+30% 성공만 보면 양성 사례가 너무 적어서 예측이 불안정할 수 있다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그래서 세 단계 확률을 동시에 보여준다: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P(+10% / 10일) = "가볍게 올라갈 확률"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P(+20% / 10일) = "꽤 괜찮게 올라갈 확률"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P(+30% / 10일) = "시원하게 뚫릴 확률"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예: "시원한 돌파 확률은 19%로 낮지만, 꽤 괜찮은 돌파 확률은 34%"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이 정보를 보고 진입할지, 포지션을 얼마로 할지 내가 결정한다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9231"/>
            </a:avLst>
          </a:prstGeom>
          <a:solidFill>
            <a:srgbClr val="EBF0FF"/>
          </a:solidFill>
          <a:ln/>
        </p:spPr>
      </p:sp>
      <p:sp>
        <p:nvSpPr>
          <p:cNvPr id="7" name="Text 5"/>
          <p:cNvSpPr/>
          <p:nvPr/>
        </p:nvSpPr>
        <p:spPr>
          <a:xfrm>
            <a:off x="685800" y="566928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B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⚠ +30%/10일 양성 사례가 500건 미만이면 기준을 완화해야 한다 — Phase 0에서 확인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73752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286000"/>
            <a:ext cx="30449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0D4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5486400" y="2286000"/>
            <a:ext cx="6153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시스템 구조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0" y="3200400"/>
            <a:ext cx="6153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4개의 층으로 이루어진 의사결정 보조 파이프라인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시스템은 4개의 층으로 이루어져 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25 / 55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" cy="457200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6" name="Shape 4"/>
          <p:cNvSpPr/>
          <p:nvPr/>
        </p:nvSpPr>
        <p:spPr>
          <a:xfrm>
            <a:off x="470916" y="1755648"/>
            <a:ext cx="210312" cy="210312"/>
          </a:xfrm>
          <a:prstGeom prst="ellipse">
            <a:avLst/>
          </a:prstGeom>
          <a:solidFill>
            <a:srgbClr val="4A7BF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459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B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Layer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920240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패턴 탐지 &amp; 분류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24028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기반으로 VCP/CWH 등을 자동 탐지하고 품질 점수를 매긴다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2697480"/>
            <a:ext cx="1072591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" y="2898648"/>
            <a:ext cx="210312" cy="210312"/>
          </a:xfrm>
          <a:prstGeom prst="ellipse">
            <a:avLst/>
          </a:prstGeom>
          <a:solidFill>
            <a:srgbClr val="4A7BF7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889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B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Layer 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3063240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성공 확률 추정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14400" y="338328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패턴이 시원하게 뚫릴 확률을 숫자로 계산한다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3840480"/>
            <a:ext cx="1072591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0916" y="4041648"/>
            <a:ext cx="210312" cy="210312"/>
          </a:xfrm>
          <a:prstGeom prst="ellipse">
            <a:avLst/>
          </a:prstGeom>
          <a:solidFill>
            <a:srgbClr val="4A7BF7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9319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B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Layer 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4206240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유사 사례 검색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" y="452628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과거에 이것과 비슷했던 차트를 찾아서 결과를 보여준다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1072591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0916" y="5184648"/>
            <a:ext cx="210312" cy="210312"/>
          </a:xfrm>
          <a:prstGeom prst="ellipse">
            <a:avLst/>
          </a:prstGeom>
          <a:solidFill>
            <a:srgbClr val="4A7BF7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50749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B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Layer 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14400" y="5349240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시장 상황 보정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4400" y="566928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지금이 강세장인지 약세장인지에 따라 확률을 조정한다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Layer 1: 규칙 기반으로 패턴을 자동 탐지한다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26 / 55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Minervini/O'Neil의 패턴 정의를 코드로 번역한다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2,500종목을 매일 스캔해서 "이 종목에 VCP가 형성 중입니다"를 알려준다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패턴에 품질 점수(0~100점)를 매긴다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수축이 교과서적으로 깔끔한가?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거래량이 제대로 말라붙었는가?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이동평균선 배열이 깨끗한가?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규칙이 주(primary), 머신러닝은 보조(secondary)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규칙이 명확하지 않은 경계 사례만 보조적으로 분류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Layer 2: 이 패턴이 성공할 확률을 숫자로 보여준다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 / 55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과거 데이터를 학습해서 "이 조건에서 시원한 돌파가 일어날 확률"을 계산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입력하는 정보: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패턴 자체: 수축 깊이, 횟수, 거래량 패턴, 품질 점수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맥락: 직전 상승폭, 몇 번째 베이스인지, 상대강도(RS)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시장: 코스피 추세, 업종 강도, 시장 폭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확률은 반드시 "보정(calibration)"을 거친다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시스템이 "20% 확률"이라고 하면, 실제로 100번 중 20번이 맞아야 한다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보정 안 된 확률은 거짓말이나 마찬가지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Layer 3: 과거에 비슷했던 차트를 찾아온다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28 / 55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종목의 패턴을 숫자 벡터로 변환한다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→ 수축 깊이, 거래량 변화, 패턴 기간, RS 순위 등 ~20개 특성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DB에 저장된 17,500개 과거 패턴과 비교해서 가장 비슷한 것을 찾는다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검색 시간: 1밀리초 미만 (거의 즉시)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찾은 결과물: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유사 사례 차트 이미지 (캔들차트)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각 사례가 돌파 후 어떻게 됐는지 (10일 후 수익률)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성공/실패 통계: "비슷한 10개 중 3개가 +30% 달성"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Layer 4: 시장이 강세인지 약세인지에 따라 확률을 보정한다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29 / 55</a:t>
            </a:r>
            <a:endParaRPr lang="en-US" sz="9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시장 상태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판별 조건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 성공률에 미치는 영향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강세 확산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코스피 &gt; 200일선, 상승종목 &gt; 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성공률 높음 → 확률 상향 보정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강세 수렴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코스피 &gt; 200일선, 상승종목 &lt; 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주의 필요 → 약간 하향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중립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코스피 &lt; 200일선, 상승종목 &gt; 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선별적 → 보수적 보정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코스피 &lt; 200일선, 상승종목 &lt; 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성공률 낮음 → 큰 폭 하향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572000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VCP라도 강세 확산장에서의 성공률과 약세장에서의 성공률은 완전히 다르다.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상황을 무시한 확률은 의미가 없다.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73752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286000"/>
            <a:ext cx="30449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0D4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5486400" y="2103120"/>
            <a:ext cx="61539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1A1F3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종목 간 비교를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1A1F3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가능하게 만든다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0" y="3383280"/>
            <a:ext cx="6153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가격, 거래량, 맥락을 정규화하는 전처리 방법론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삼성전자 7만원대와 소형주 1천원대의 VCP를 어떻게 비교하는가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31 / 55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절대 가격으로는 비교가 불가능하다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해결: "피봇 가격 대비 비율"로 변환하면 모든 종목이 같은 눈금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예: 삼성전자 피봇 70,000원 → 현재 63,000원 = 피봇 대비 0.90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예: 소형주 피봇 1,000원 → 현재 900원 = 피봇 대비 0.90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→ 둘 다 "피봇 대비 -10% 위치"로 동일하게 표현된다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하나의 방법만 쓰면 정보가 빠진다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여러 방법을 동시에 쓰고, 모델이 어떤 방법이 유용한지 스스로 판단하게 한다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가격 정규화는 4가지 채널을 동시에 쓴다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32 / 55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645920"/>
            <a:ext cx="53721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8308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피봇 대비 비율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103120"/>
            <a:ext cx="5042916" cy="16459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피봇 가격을 1.0으로 놓고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현재가의 상대 위치를 표현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피봇에서 얼마나 떨어져 있나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31636" y="16459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49924" y="1645920"/>
            <a:ext cx="5372100" cy="54864"/>
          </a:xfrm>
          <a:prstGeom prst="rect">
            <a:avLst/>
          </a:prstGeom>
          <a:solidFill>
            <a:srgbClr val="00D4AA"/>
          </a:solidFill>
          <a:ln/>
        </p:spPr>
      </p:sp>
      <p:sp>
        <p:nvSpPr>
          <p:cNvPr id="11" name="Text 9"/>
          <p:cNvSpPr/>
          <p:nvPr/>
        </p:nvSpPr>
        <p:spPr>
          <a:xfrm>
            <a:off x="6414516" y="178308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로그 수익률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14516" y="2103120"/>
            <a:ext cx="5042916" cy="16459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매일의 변동률을 계산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+10%와 -10%가 대칭적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일별 움직임의 패턴 포착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1605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66928" y="4160520"/>
            <a:ext cx="5372100" cy="54864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29768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통계적 위치 (Z점수)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4617720"/>
            <a:ext cx="5042916" cy="16459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60일 평균 대비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얼마나 벗어났는지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"평소 대비 비정상적 움직임" 감지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31636" y="41605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49924" y="4160520"/>
            <a:ext cx="5372100" cy="54864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9" name="Text 17"/>
          <p:cNvSpPr/>
          <p:nvPr/>
        </p:nvSpPr>
        <p:spPr>
          <a:xfrm>
            <a:off x="6414516" y="429768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범위 내 위치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14516" y="4617720"/>
            <a:ext cx="5042916" cy="16459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고점-저점 사이에서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현재 어디에 있는지 (0~1)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고점 근처인지 저점 근처인지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거래량 100만주와 1만주에서 "급증"의 의미가 다르다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33 / 55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절대 거래량으로는 종목 간 비교 불가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"평소 대비 몇 배"로 바꾸면 비교 가능 (상대 거래량, RVOL)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VCP에서 거래량의 의미: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수축 중: RVOL &lt; 0.5 (평소의 절반 이하) = "거래량 건조"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돌파 시: RVOL &gt; 2.0 (평소의 2배 이상) = "거래량 폭발"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거래량도 두 가지 척도를 동시에 쓴다: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1. 로그 RVOL: "평소 대비 배수" (극단값 압축)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2. 백분위 순위: "최근 60일 중 오늘이 상위 몇%?"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거래량 정규화도 여러 채널을 함께 쓴다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34 / 55</a:t>
            </a:r>
            <a:endParaRPr lang="en-US" sz="9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채널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계산 방법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알 수 있는 것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 RVOL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오늘 거래량 ÷ 20일 평균 (로그 변환)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평소 대비 몇 배인지 (극단값 안정화)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백분위 순위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최근 60일 중 오늘의 순위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최근 흐름에서의 상대적 위치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거래량 추세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5일 평균 ÷ 20일 평균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수축→확장 전환 감지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114800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거래량 수축(건조) → 거래량 확장(폭발)의 전환이 VCP 돌파의 핵심 시그널이다.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전환을 놓치지 않으려면 "추세" 채널이 필수적이다.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같은 VCP라도 맥락이 다르면 결과도 다르다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35 / 55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"직전 3개월 200% 상승 후 VCP"와 "30% 상승 후 VCP"는 전혀 다르다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"첫 번째 베이스의 VCP"와 "세 번째 베이스의 VCP"는 성공률이 다르다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"강세장에서의 VCP"와 "약세장에서의 VCP"도 다르다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패턴의 형태만 보면 안 된다. 맥락(context)을 반드시 함께 봐야 한다</a:t>
            </a:r>
            <a:endParaRPr lang="en-US" sz="16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Minervini와 쿨라메기도 "맥락이 패턴 형태보다 중요할 수 있다"고 강조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맥락을 숫자로 바꾸는 6가지 지표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36 / 55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의미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왜 중요한가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사전 상승폭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 전까지 얼마나 올랐나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너무 많이 오른 종목은 돌파해도 탄력 약함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베이스 카운트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몇 번째 베이스인가 (1st, 2nd, 3rd)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1st 베이스가 가장 강력, 3rd+ 약화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추세 지속 기간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200일선 위 연속일 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추세가 너무 오래되면 성숙/노화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52주 고점 근접도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고점 대비 현재가 위치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고점에 가까울수록 돌파 가능성 높음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상대강도 (RS)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종목 대비 강도 순위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RS 상위 20%가 리더주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시장 추세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코스피 50일선 vs 200일선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시장이 상승 중인지 하락 중인지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패턴 길이가 다를 때: 멀티스케일로 동시에 본다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37 / 55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VCP는 30~180일, HTF는 14~28일 — 길이가 완전히 다르다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해결: 같은 패턴을 3가지 다른 배율로 동시에 변환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30일 스케일: 세부 구조 (마지막 수축의 형태)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60일 스케일: 중간 구조 (전체 패턴의 윤곽)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120일 스케일: 전체 구조 (패턴 + 사전 상승)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추가로, 패턴을 의미 단위로 잘라서 요약하는 "세그먼트 분할"도 사용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→ "수축1: 깊이-15%, 기간 8일" / "수축2: 깊이-8%, 기간 5일" ...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핵심 원칙: 하나만 고르지 말고, 여러 방법을 채널로 묶어라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38 / 55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1091672" cy="1828800"/>
          </a:xfrm>
          <a:prstGeom prst="roundRect">
            <a:avLst>
              <a:gd name="adj" fmla="val 5000"/>
            </a:avLst>
          </a:prstGeom>
          <a:solidFill>
            <a:srgbClr val="EBF0FF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10725912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4A7BF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"최적의 정규화 방법을 하나 고르는 것"이 아니라</a:t>
            </a:r>
            <a:endParaRPr lang="en-US" sz="18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4A7BF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"여러 정규화를 채널로 묶어서 모델이 스스로 선택하게 하는 것"이 핵심이다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365760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정규화 방법은 서로 다른 정보를 보존한다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피봇 비율 → 피봇 대비 위치 / 로그 수익률 → 일별 패턴 / Z점수 → 이상치 감지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모델이 어떤 정보가 가장 유용한지 스스로 학습하게 한다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이것은 TV 채널처럼 — 채널마다 다른 각도로 같은 사건을 보여준다</a:t>
            </a:r>
            <a:endParaRPr lang="en-US" sz="15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73752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286000"/>
            <a:ext cx="30449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0D4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5486400" y="2103120"/>
            <a:ext cx="61539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1A1F3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차트북과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1A1F3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유사 패턴 검색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0" y="3383280"/>
            <a:ext cx="615391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나만의 사례집을 자동으로 만들고, 비슷한 과거를 즉시 찾는다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차트북은 성공/실패 사례를 모아놓은 나만의 교과서다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 / 55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시스템이 탐지한 모든 패턴을 자동으로 기록한다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사례에 돌파 후 실제 결과(성공/실패)를 자동 태깅한다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차트 이미지 + 수치 요약 + 시장 상황 + 결과를 한 페이지로 정리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목적: 패턴 인식 능력을 체계적으로 기른다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"교과서적 VCP가 실패한 사례"를 보면서 실패 조건을 학습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"형태는 별로인데 성공한 사례"를 보면서 핵심 변수를 파악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수백 개의 사례를 축적하면 "감"이 아닌 "경험 데이터"가 된다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차트북 한 페이지에 담기는 정보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41 / 55</a:t>
            </a:r>
            <a:endParaRPr lang="en-US" sz="9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카테고리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왜 필요한가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차트 이미지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캔들차트 (돌파 전 60일 + 후 20일)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한눈에 패턴 형태를 파악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 요약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수축 횟수/깊이, RS 순위, 품질 점수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패턴을 숫자로 비교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거래량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돌파일 거래량 / 50일 평균 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돌파의 "진짜"인지 판별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시장 상황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코스피 추세, 업종 강도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돌파 환경 기록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결과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10일/20일 후 수익률, 최대 이익/손실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성공/실패 판정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 유형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VCP / CWH / HTF / W / ...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유형별 통계 집계용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전형적 성공보다 "교과서적인데 실패한 사례"가 더 교훈적이다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42 / 55</a:t>
            </a:r>
            <a:endParaRPr lang="en-US" sz="9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3697224"/>
                <a:gridCol w="3697224"/>
                <a:gridCol w="3697224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전형적 성공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품질 점수 상위 25% + 성공(+30%)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이상적인 패턴이 어떤 모습인지 학습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전형적 실패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품질 점수 상위 25% + 실패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왜 교과서적 패턴도 실패하는지 학습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→ 가장 교훈적인 사례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경계선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품질 점수 중간 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판단이 어려운 상황에서의 참고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389120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실패 사례를 의도적으로 포함해야 한다.</a:t>
            </a:r>
            <a:endParaRPr lang="en-US" sz="16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600" b="1" dirty="0">
                <a:solidFill>
                  <a:srgbClr val="FF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"VCP처럼 보였지만 실패한 사례"가 없으면 확인 편향에 빠진다.</a:t>
            </a:r>
            <a:endParaRPr lang="en-US" sz="16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비슷한 차트를 찾는 3가지 방법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43 / 55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2218334"/>
                <a:gridCol w="2218334"/>
                <a:gridCol w="2218334"/>
                <a:gridCol w="2218334"/>
                <a:gridCol w="2218334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방법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원리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장점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 시기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 기반 피처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수축 깊이, 거래량 등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~20개 특성으로 비교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빠름, 해석 가능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도메인 지식 반영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미묘한 형태 차이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놓칠 수 있음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초기 (Phase 1)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DTW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시간축을 늘리고 줄여서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형태를 직접 비교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길이 다른 패턴 비교 가능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형태에 충실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느림 (대규모 비효율)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정밀 비교 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임베딩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패턴을 벡터로 압축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벡터 간 거리로 비교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범용적, 확장성 좋음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대규모에 적합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학습 필요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해석 어려움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고도화 (Phase 2)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5669280"/>
            <a:ext cx="11091672" cy="594360"/>
          </a:xfrm>
          <a:prstGeom prst="roundRect">
            <a:avLst>
              <a:gd name="adj" fmla="val 9231"/>
            </a:avLst>
          </a:prstGeom>
          <a:solidFill>
            <a:srgbClr val="EBF0FF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5669280"/>
            <a:ext cx="10817352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B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초기에는 규칙 기반 피처 벡터로 시작하고, 데이터가 쌓이면 임베딩으로 업그레이드한다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비슷한 패턴이 비슷한 결과를 낳는가? — 반은 맞고 반은 아니다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44 / 55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362956" cy="4114800"/>
          </a:xfrm>
          <a:prstGeom prst="roundRect">
            <a:avLst>
              <a:gd name="adj" fmla="val 2222"/>
            </a:avLst>
          </a:prstGeom>
          <a:solidFill>
            <a:srgbClr val="F0FFF4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49971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긍정적 증거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2194560"/>
            <a:ext cx="4997196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특정 패턴(H&amp;S)이 5~7% 초과수익 예측 (Savin 2007)</a:t>
            </a:r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DTW 기반 매칭으로 방향 예측 79% (Yao 2017)</a:t>
            </a:r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패턴 클러스터링으로 벤치마크 대비 60%+ 초과 (Nakagawa 2019)</a:t>
            </a:r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FFB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단, 이 연구들은 미국/중국/일본 시장 기반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77356" y="1645920"/>
            <a:ext cx="5362956" cy="4114800"/>
          </a:xfrm>
          <a:prstGeom prst="roundRect">
            <a:avLst>
              <a:gd name="adj" fmla="val 2222"/>
            </a:avLst>
          </a:prstGeom>
          <a:solidFill>
            <a:srgbClr val="FFF5F5"/>
          </a:solidFill>
          <a:ln/>
        </p:spPr>
      </p:sp>
      <p:sp>
        <p:nvSpPr>
          <p:cNvPr id="9" name="Text 7"/>
          <p:cNvSpPr/>
          <p:nvPr/>
        </p:nvSpPr>
        <p:spPr>
          <a:xfrm>
            <a:off x="6460236" y="1737360"/>
            <a:ext cx="49971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6B6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부정적 증거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60236" y="2194560"/>
            <a:ext cx="4997196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범용 클러스터링 = 수익 차이 없음 (JP Morgan)</a:t>
            </a:r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패턴은 랜덤 발생 가능 (Nature 2025)</a:t>
            </a:r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• 거래비용 반영 시 엣지 소멸 가능 (Lo 2000)</a:t>
            </a:r>
            <a:pPr indent="0" marL="0">
              <a:lnSpc>
                <a:spcPct val="160000"/>
              </a:lnSpc>
              <a:buNone/>
            </a:pPr>
            <a:r>
              <a:rPr lang="en-US" sz="1300" b="1" dirty="0">
                <a:solidFill>
                  <a:srgbClr val="4A7B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핵심: "어떤 피처로 유사도를 측정하는가"가 예측력을 결정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의료 영상 AI에서 배운다: 확률 + 유사 사례 = 전문가 판단 보조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 / 55</a:t>
            </a:r>
            <a:endParaRPr lang="en-US" sz="900" dirty="0"/>
          </a:p>
        </p:txBody>
      </p:sp>
      <p:graphicFrame>
        <p:nvGraphicFramePr>
          <p:cNvPr id="4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의료 영상 AI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우리 시스템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CT 스캔 입력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차트 데이터 입력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병변 패턴 인식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돌파 패턴 탐지 (VCP/CWH)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"악성 확률 73%"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"시원한 돌파 확률 24%"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유사 과거 사례 이미지 검색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유사 과거 차트 검색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의사가 최종 진단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트레이더가 최종 매매 판단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75488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b="1" dirty="0">
                <a:solidFill>
                  <a:srgbClr val="4A7B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구조가 동일하다. 핵심은 "AI가 판단을 대체하는 것이 아니라, 전문가가 놓치는 것을 보여주는 것"이다.</a:t>
            </a:r>
            <a:endParaRPr lang="en-US" sz="15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73752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286000"/>
            <a:ext cx="30449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0D4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5486400" y="2103120"/>
            <a:ext cx="615391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1A1F3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무엇을 먼저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1A1F3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만들 것인가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0" y="3383280"/>
            <a:ext cx="6153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0 → 1a → 1b → 2 단계별 로드맵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전체 로드맵: 약 4.5~6.5개월 (이전 9~13개월에서 단축)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 / 55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" cy="457200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6" name="Shape 4"/>
          <p:cNvSpPr/>
          <p:nvPr/>
        </p:nvSpPr>
        <p:spPr>
          <a:xfrm>
            <a:off x="470916" y="1755648"/>
            <a:ext cx="210312" cy="210312"/>
          </a:xfrm>
          <a:prstGeom prst="ellipse">
            <a:avLst/>
          </a:prstGeom>
          <a:solidFill>
            <a:srgbClr val="4A7BF7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1645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BF7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1920240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전제 검증 + 패턴 정량화 (4-6주)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14400" y="224028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+30% 사례 수 확인, 규칙 탐지기 구현, 차트북 v0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914400" y="2697480"/>
            <a:ext cx="1072591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" y="2898648"/>
            <a:ext cx="210312" cy="210312"/>
          </a:xfrm>
          <a:prstGeom prst="ellipse">
            <a:avLst/>
          </a:prstGeom>
          <a:solidFill>
            <a:srgbClr val="00D4AA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788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D4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3063240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VCP 단독으로 MVP 구축 (3-4주)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14400" y="338328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VCP 확률 추정 + 유사 검색 + 의사결정 카드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14400" y="3840480"/>
            <a:ext cx="1072591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0916" y="4041648"/>
            <a:ext cx="210312" cy="210312"/>
          </a:xfrm>
          <a:prstGeom prst="ellipse">
            <a:avLst/>
          </a:prstGeom>
          <a:solidFill>
            <a:srgbClr val="FFB020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3931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2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1b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14400" y="4206240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나머지 5개 패턴 추가 (4-5주)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" y="452628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CWH/HTF/W/Low Cheat/EP 탐지 + 전체 차트북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914400" y="4983480"/>
            <a:ext cx="1072591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0916" y="5184648"/>
            <a:ext cx="210312" cy="210312"/>
          </a:xfrm>
          <a:prstGeom prst="ellipse">
            <a:avLst/>
          </a:prstGeom>
          <a:solidFill>
            <a:srgbClr val="FF6B6B"/>
          </a:solidFill>
          <a:ln/>
        </p:spPr>
      </p:sp>
      <p:sp>
        <p:nvSpPr>
          <p:cNvPr id="22" name="Text 20"/>
          <p:cNvSpPr/>
          <p:nvPr/>
        </p:nvSpPr>
        <p:spPr>
          <a:xfrm>
            <a:off x="914400" y="50749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14400" y="5349240"/>
            <a:ext cx="1072591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고도화 (8-12주, 선택)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914400" y="5669280"/>
            <a:ext cx="10725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임베딩 검색 + 시장 보정 + 멀티스케일 유사도</a:t>
            </a:r>
            <a:endParaRPr lang="en-US" sz="14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Phase 0: 먼저 확인한다 — 이 프로젝트가 의미 있는가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48 / 55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코드를 쓰기 전에 데이터로 확인해야 할 것들: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+30%/10일 달성 사례가 얼마나 있는가?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→ 500건 미만이면 기준을 +20%/10일 또는 +30%/20일로 완화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규칙 기반 패턴 탐지가 실제로 맞는가?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→ 50건을 직접 눈으로 확인해서 60% 이상 동의하는지 체크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패턴 이벤트가 충분한가?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→ 최소 5,000건 이상이어야 통계적으로 의미 있음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Phase가 전체 프로젝트의 성패를 결정한다</a:t>
            </a:r>
            <a:endParaRPr lang="en-US" sz="15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Phase 0의 Go/No-Go 기준 3가지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49 / 55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474720" cy="2560320"/>
          </a:xfrm>
          <a:prstGeom prst="roundRect">
            <a:avLst>
              <a:gd name="adj" fmla="val 3571"/>
            </a:avLst>
          </a:prstGeom>
          <a:solidFill>
            <a:srgbClr val="F5F7FA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92024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A7BF7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≥ 5,000건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48640" y="29260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패턴 이벤트 수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474720" cy="2560320"/>
          </a:xfrm>
          <a:prstGeom prst="roundRect">
            <a:avLst>
              <a:gd name="adj" fmla="val 3571"/>
            </a:avLst>
          </a:prstGeom>
          <a:solidFill>
            <a:srgbClr val="F5F7FA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192024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D4AA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≥ 500건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297680" y="29260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+30% 양성 사례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046720" y="1737360"/>
            <a:ext cx="3474720" cy="2560320"/>
          </a:xfrm>
          <a:prstGeom prst="roundRect">
            <a:avLst>
              <a:gd name="adj" fmla="val 3571"/>
            </a:avLst>
          </a:prstGeom>
          <a:solidFill>
            <a:srgbClr val="F5F7FA"/>
          </a:solidFill>
          <a:ln/>
        </p:spPr>
      </p:sp>
      <p:sp>
        <p:nvSpPr>
          <p:cNvPr id="12" name="Text 10"/>
          <p:cNvSpPr/>
          <p:nvPr/>
        </p:nvSpPr>
        <p:spPr>
          <a:xfrm>
            <a:off x="8046720" y="1920240"/>
            <a:ext cx="3474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B020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≥ 60%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046720" y="292608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수동 검토 일치율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" y="4754880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조건을 모두 만족하면 Phase 1으로 진행한다.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하나라도 미달이면 기준을 조정하거나 접근 방식을 전환한다.</a:t>
            </a:r>
            <a:endParaRPr lang="en-US" sz="16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Phase 1a: VCP 하나만으로 시작한다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 / 55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48640" y="1645920"/>
            <a:ext cx="1109167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6개 패턴을 한번에 만들지 않는다. VCP 하나만 먼저 끝낸다.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산출물: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VCP 규칙 탐지기 (코드)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VCP 성공 확률 예측기 (LightGBM)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VCP 유사 사례 검색 (피처 벡터 + 코사인 유사도)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VCP 차트북 (성공/실패 사례집)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• 의사결정 카드 생성기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VCP 하나로 전체 파이프라인이 작동하는 것을 확인한 후</a:t>
            </a:r>
            <a:endParaRPr lang="en-US" sz="1500" dirty="0"/>
          </a:p>
          <a:p>
            <a:pPr marL="342900" indent="-342900">
              <a:lnSpc>
                <a:spcPct val="150000"/>
              </a:lnSpc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나머지 5개 패턴을 Phase 1b에서 추가한다</a:t>
            </a:r>
            <a:endParaRPr lang="en-US" sz="15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Phase 1b → Phase 2: 확장과 고도화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 / 55</a:t>
            </a:r>
            <a:endParaRPr lang="en-US" sz="900" dirty="0"/>
          </a:p>
        </p:txBody>
      </p:sp>
      <p:graphicFrame>
        <p:nvGraphicFramePr>
          <p:cNvPr id="5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2772918"/>
                <a:gridCol w="2772918"/>
                <a:gridCol w="2772918"/>
                <a:gridCol w="2772918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Phase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추가되는 것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사용 기술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1b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4-5주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CWH, HTF, W, Low Cheat, EP 탐지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전체 차트북 + 패턴별 통계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 엔진 확장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mplfinance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8-12주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임베딩 기반 유사 검색 업그레이드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시장 regime 보정 모듈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멀티스케일 유사도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TS2Vec (자기지도학습)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FAISS (벡터 검색)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CPCV (과적합 검증)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48640" y="4114800"/>
            <a:ext cx="1109167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2는 Phase 1이 실용적 가치를 보여준 후에만 진행한다.</a:t>
            </a:r>
            <a:endParaRPr lang="en-US" sz="15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VCP 단독으로도 충분한 가치가 있으면 Phase 2는 보류할 수 있다.</a:t>
            </a:r>
            <a:endParaRPr lang="en-US" sz="15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873752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2286000"/>
            <a:ext cx="3044952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00D4A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5486400" y="2286000"/>
            <a:ext cx="6153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F3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주의사항과 리스크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486400" y="3200400"/>
            <a:ext cx="61539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알아야 할 한계와 방향 전환 기준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 시스템의 4가지 핵심 리스크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53 / 55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66928" y="1645920"/>
            <a:ext cx="5372100" cy="54864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78308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+30% 사례 부족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31520" y="2103120"/>
            <a:ext cx="5042916" cy="16459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양성 사례가 300건 미만이면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의미있는 학습이 불가능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기준 완화 또는 기간 확장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31636" y="16459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49924" y="1645920"/>
            <a:ext cx="5372100" cy="54864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1" name="Text 9"/>
          <p:cNvSpPr/>
          <p:nvPr/>
        </p:nvSpPr>
        <p:spPr>
          <a:xfrm>
            <a:off x="6414516" y="178308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미국 파라미터 부적합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14516" y="2103120"/>
            <a:ext cx="5042916" cy="16459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한국 시장 구조가 달라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패턴을 너무 많이/적게 잡을 수 있음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Phase 0에서 교정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1605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66928" y="4160520"/>
            <a:ext cx="5372100" cy="54864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29768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유사도의 예측력 한계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31520" y="4617720"/>
            <a:ext cx="5042916" cy="16459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비슷하게 생겼다고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결과도 비슷하다는 보장 없음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Phase 2에서 통계 검증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31636" y="4160520"/>
            <a:ext cx="5408676" cy="224028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49924" y="4160520"/>
            <a:ext cx="5372100" cy="54864"/>
          </a:xfrm>
          <a:prstGeom prst="rect">
            <a:avLst/>
          </a:prstGeom>
          <a:solidFill>
            <a:srgbClr val="FF6B6B"/>
          </a:solidFill>
          <a:ln/>
        </p:spPr>
      </p:sp>
      <p:sp>
        <p:nvSpPr>
          <p:cNvPr id="19" name="Text 17"/>
          <p:cNvSpPr/>
          <p:nvPr/>
        </p:nvSpPr>
        <p:spPr>
          <a:xfrm>
            <a:off x="6414516" y="4297680"/>
            <a:ext cx="5042916" cy="32004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시장 환경 변화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14516" y="4617720"/>
            <a:ext cx="5042916" cy="16459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2020~2025 공매도 금지 기간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데이터가 향후와 다를 수 있음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Regime 보정으로 대응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이런 결과가 나오면 방향을 전환한다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54 / 55</a:t>
            </a:r>
            <a:endParaRPr lang="en-US" sz="900" dirty="0"/>
          </a:p>
        </p:txBody>
      </p:sp>
      <p:graphicFrame>
        <p:nvGraphicFramePr>
          <p:cNvPr id="5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914400"/>
        </p:xfrm>
        <a:graphic>
          <a:graphicData uri="http://schemas.openxmlformats.org/drawingml/2006/table">
            <a:tbl>
              <a:tblPr/>
              <a:tblGrid>
                <a:gridCol w="5545836"/>
                <a:gridCol w="5545836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관찰 결과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전환 방향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+30%/10일 양성 사례 300건 미만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기준을 +20%/10일 또는 +30%/20일로 완화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+30%/10일 양성 사례 100건 미만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 정의 자체를 재검토, 기간 확장 고려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규칙 탐지와 내 판단 일치율 50% 미만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파라미터를 한국 데이터 분포에서 재설정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유사 사례의 성과가 전체 평균과 동일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피처 유사도 폐기, 임베딩 실험 착수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특정 시장 상황에서만 성과가 나옴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시장 상황별 모델을 분리해서 운영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VCP 단독 Phase 1a에서 가치 없음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패턴 기반 접근 자체를 factor 기반으로 전환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109728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94360"/>
            <a:ext cx="11091672" cy="82296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Phase 0에서 데이터로 확인하는 것이 첫걸음이다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55 / 55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731520" y="1874520"/>
            <a:ext cx="411480" cy="411480"/>
          </a:xfrm>
          <a:prstGeom prst="ellipse">
            <a:avLst/>
          </a:prstGeom>
          <a:solidFill>
            <a:srgbClr val="4A7BF7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8745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1828800"/>
            <a:ext cx="102687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규칙 기반 패턴 탐지 + 확률 추정 + 유사 사례 검색이 현실적 MVP 조합이다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31520" y="2651760"/>
            <a:ext cx="411480" cy="411480"/>
          </a:xfrm>
          <a:prstGeom prst="ellipse">
            <a:avLst/>
          </a:prstGeom>
          <a:solidFill>
            <a:srgbClr val="4A7BF7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6517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371600" y="2606040"/>
            <a:ext cx="102687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전처리는 하나만 고르지 말고, 여러 방법을 채널로 묶어 모델에게 맡긴다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3429000"/>
            <a:ext cx="411480" cy="411480"/>
          </a:xfrm>
          <a:prstGeom prst="ellipse">
            <a:avLst/>
          </a:prstGeom>
          <a:solidFill>
            <a:srgbClr val="4A7BF7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4290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371600" y="3383280"/>
            <a:ext cx="102687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F3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+30%/10일 사례 수와 미국 파라미터의 한국 적합성을 Phase 0에서 먼저 확인한다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4389120"/>
            <a:ext cx="11091672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663440"/>
            <a:ext cx="1109167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4A7BF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 시스템은 트레이더를 대체하는 것이 아니라,</a:t>
            </a:r>
            <a:endParaRPr lang="en-US" sz="18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800" b="1" dirty="0">
                <a:solidFill>
                  <a:srgbClr val="4A7BF7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트레이더가 놓치는 것을 보여주는 도구이다.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55</Slides>
  <Notes>55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5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2026-03-21T13:00:18Z</dcterms:created>
  <dcterms:modified xsi:type="dcterms:W3CDTF">2026-03-21T13:00:18Z</dcterms:modified>
</cp:coreProperties>
</file>