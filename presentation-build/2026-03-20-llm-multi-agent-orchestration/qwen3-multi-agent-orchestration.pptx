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SWE-bench Pro Score</c:v>
                </c:pt>
              </c:strCache>
            </c:strRef>
          </c:tx>
          <c:spPr>
            <a:solidFill>
              <a:srgbClr val="4A7BF7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Claude Opus 4.5</c:v>
                </c:pt>
                <c:pt idx="1">
                  <c:v>Claude Sonnet 4</c:v>
                </c:pt>
                <c:pt idx="2">
                  <c:v>Qwen3 Coder 480B</c:v>
                </c:pt>
                <c:pt idx="3">
                  <c:v>Qwen3 235B</c:v>
                </c:pt>
                <c:pt idx="4">
                  <c:v>DeepSeek V3p2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45.9</c:v>
                </c:pt>
                <c:pt idx="1">
                  <c:v>42.7</c:v>
                </c:pt>
                <c:pt idx="2">
                  <c:v>38.700000000000003</c:v>
                </c:pt>
                <c:pt idx="3">
                  <c:v>21.4</c:v>
                </c:pt>
                <c:pt idx="4">
                  <c:v>15.6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6A-4548-B009-DDB0CC957B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18096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18096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블렌드 비용 ($/1M tok)</c:v>
                </c:pt>
              </c:strCache>
            </c:strRef>
          </c:tx>
          <c:spPr>
            <a:solidFill>
              <a:srgbClr val="4A7BF7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Qwen3 (SiliconFlow)</c:v>
                </c:pt>
                <c:pt idx="1">
                  <c:v>Qwen3 (Together AI)</c:v>
                </c:pt>
                <c:pt idx="2">
                  <c:v>Qwen3 (OpenRouter)</c:v>
                </c:pt>
                <c:pt idx="3">
                  <c:v>Claude Sonnet 4</c:v>
                </c:pt>
                <c:pt idx="4">
                  <c:v>GPT-4o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0.31</c:v>
                </c:pt>
                <c:pt idx="1">
                  <c:v>0.3</c:v>
                </c:pt>
                <c:pt idx="2">
                  <c:v>1.23</c:v>
                </c:pt>
                <c:pt idx="3">
                  <c:v>6</c:v>
                </c:pt>
                <c:pt idx="4">
                  <c:v>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6C-DB47-A3AA-B0F1F38BD4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18096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18096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3283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371600" y="2103120"/>
            <a:ext cx="13716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94457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000" b="1" kern="0" spc="-5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자체 호스팅 LLM을</a:t>
            </a:r>
            <a:endParaRPr lang="en-US" sz="4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4000" b="1" kern="0" spc="-5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멀티에이전트 시스템으로 확장할 수 있다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384048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Qwen3-235B-A22B 기반 멀티에이전트 오케스트레이션 아키텍처 리서치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548640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2026-03-20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/ 52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프레젠테이션은 6개 섹션으로 구성되어 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배경 및 문제 정의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45920" y="2057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멀티에이전트가 필요한가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45920" y="2423160"/>
            <a:ext cx="9601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2514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모델 성능 분석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2834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Qwen3-235B-A22B의 강점과 약점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45920" y="3200400"/>
            <a:ext cx="9601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02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4592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프레임워크 비교 분석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5920" y="3611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 프레임워크의 아키텍처와 호환성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645920" y="3977640"/>
            <a:ext cx="9601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31520" y="40690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아키텍처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4389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MVP부터 프로덕션까지의 설계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645920" y="4754880"/>
            <a:ext cx="9601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31520" y="48463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45920" y="4846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리스크 및 검증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45920" y="5166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상충점, 실패 모드, 검증 전략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645920" y="5532120"/>
            <a:ext cx="9601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31520" y="56235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645920" y="5623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액션 플랜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45920" y="5943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→ MVP → 확장의 3단계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52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 및 문제 정의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LLM API를 넘어 멀티에이전트 오케스트레이션으로 확장하기 위한 질문과 전제를 정의한다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52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단순 LLM API를 넘어 멀티에이전트 오케스트레이션이 필요하다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회사가 Qwen3-235B-A22B를 자체 서빙하여 OpenAI-compatible API로 제공 중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현재는 단일 요청-응답 패턴의 단순 API 접속 방식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태스크는 단일 LLM 호출로 품질 한계가 명확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서브에이전트 병렬 실행 + 결과 통합으로 품질 향상 가능성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질문: 이 모델로 멀티에이전트 시스템을 구축할 수 있는가?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52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39" y="594360"/>
            <a:ext cx="1050367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Claude Code는 서브에이전트 병렬 실행으로 복잡한 태스크를 처리한다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Orchestrator-Worker 패턴: 메인 에이전트가 서브에이전트를 spawn하고 관리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서브에이전트는 독립된 200K 토큰 컨텍스트 윈도우 보유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격리된 git worktree에서 서브에이전트 실행 (충돌 방지)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깊이 1 제한: 서브에이전트는 추가 서브에이전트를 생성하지 않음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병렬 실행(background) + 결과 수집 + 메인 통합의 3단계 흐름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52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질문은 구현 가능성과 모델 능력의 교차점에 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질문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36295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Qwen3의 tool use/IF 능력이 에이전트에 충분한가?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프레임워크/아키텍처가 적합한가?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API로 서브에이전트 spawn이 가능한가?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77356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인접 질문 / 반대 시나리오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77356" y="2148840"/>
            <a:ext cx="536295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 비용/지연시간 폭발을 어떻게 관리하는가?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Qwen3 패밀리 내 역할 분리(235B vs Coder-480B)가 유효한가?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반대 시나리오: 모델 능력 부족으로 오케스트레이션 실패 전파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52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"바로 구현"보다 "먼저 검증"이 올바른 순서다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모델의 function calling 안정성이 프로덕션에서 미검증 상태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IFBench 36.6%로 복잡한 시스템 프롬프트 준수에 리스크 존재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대규모 멀티에이전트 배포 사례가 공개 자료에 없음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없는 아키텍처 결정은 추정 위에 건물을 세우는 것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따라서: Step 1(검증) → Step 2(MVP) → Step 3(확장 판단)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52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성능 분석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Qwen3-235B-A22B의 벤치마크 성능, 도구 사용 능력, 비용 효율을 분석한다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52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Qwen3-235B-A22B는 235B 중 22B만 활성화하는 효율적 구조다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전체 파라미터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235B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Mixture of Experts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활성 파라미터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22B (토큰당)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128개 중 8개 전문가 활성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컨텍스트 윈도우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131K ~ 262K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Instruct-2507은 262K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추론 모드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Thinking + Non-Thinking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동적 전환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개발사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Alibaba Cloud (Qwen 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2025년 4월 출시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라이선스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Apache 2.0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상업적 사용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52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코딩, 수학, 추론에서 오픈소스 최상위권 성능을 보인다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LiveCodeBench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Pass@1 65.9%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오픈소스 13위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Sonnet 4(47.1%) 대비 우세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MATH-500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90.2%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수학 문제 해결에서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오픈소스 최상위 수준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SWE-bench Pro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21.4%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SW 엔지니어링에서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Claude(42.7%) 대비 절반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IFBench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36.6%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Instruction Following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중위권 — 에이전트 핵심 리스크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52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LiveCodeBench에서 Claude Sonnet 4를 10pp 이상 앞선다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1848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8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8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8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86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86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Pass@1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Easy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Medium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O4-Mini (High)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80.2%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99.1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89.4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63.5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DeepSeek-R1-0528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73.1%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98.7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85.2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50.7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Qwen3-235B-A22B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65.9%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99.1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80.1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37.9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Claude Sonnet 4 (Thinking)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55.9%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97.3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66.0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26.6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GPT-4o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29.5%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82.5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26.0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3.3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LiveCodeBench Leaderboard (2026-03)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52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SWE-bench Pro에서는 Claude 대비 절반 수준의 격차가 있다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6656832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79792" y="1645920"/>
            <a:ext cx="4160520" cy="4480560"/>
          </a:xfrm>
          <a:prstGeom prst="roundRect">
            <a:avLst>
              <a:gd name="adj" fmla="val 1758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662672" y="182880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6B6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21.4%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62672" y="246888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Qwen3-235B의 SWE-bench Pro 점수. Claude Opus 4.5(45.9%)의 절반 수준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62672" y="3200400"/>
            <a:ext cx="3794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7662672" y="33832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시사점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62672" y="3749040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알고리즘 코딩에서는 강하지만, 실제 소프트웨어 엔지니어링(코드 수정, 디버깅)에서는 상용 모델에 큰 격차. 코딩 에이전트로 사용 시 한계 인식 필요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52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알고리즘 코딩 강점과 실전 엔지니어링 약점이 공존한다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강점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362956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LiveCodeBench 65.9% (오픈소스 최상위)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MATH-500 90.2%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효율: MoE 22B active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Thinking/Non-Thinking 하이브리드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119개 언어 지원 (한국어 포함)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77356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약점 (에이전트 관점)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77356" y="2148840"/>
            <a:ext cx="5362956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IFBench 36.6% — IF 능력 중위권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SWE-bench Pro 21.4% — 실전 격차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Function calling 프로덕션 안정성 미검증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멀티에이전트 배포 사례 없음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VRAM ~470GB (FP16) 필요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52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Function Calling, Structured Output, MCP를 공식 지원한다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Function Calling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OpenAI 호환 tools 파라미터, 병렬 도구 호출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Structured Output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JSON mode, Pydantic BaseModel 스키마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MCP 통합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Qwen-Agent 프레임워크 경유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Thinking + Tool Use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두 모드 모두 도구 사용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코드 인터프리터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Qwen-Agent 빌트인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4632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493776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주의: "지원됨"과 "프로덕션에서 안정적"은 다르다. 프로덕션 안정성 데이터가 부재하므로 자체 벤치마크가 필수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52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Thinking과 Non-Thinking 모드를 태스크별로 전환할 수 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Thinking 모드 (/think): 복잡한 추론, 태스크 분해에 적합. CoT 토큰 추가 생성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Non-Thinking 모드 (/no_think): 단순 실행, 빠른 응답에 적합. 비용 최소화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소프트 스위치: 멀티턴 대화 중 /think, /no_think 태그로 동적 전환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전략: 메인(Thinking) + 서브(Non-Thinking)로 비용/품질 최적화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Thinking Budget: 할당된 연산 예산에 비례하여 성능 스케일링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52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MoE 아키텍처로 비용 효율이 극대화된다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4344" cy="164592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32400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22B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3240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활성 파라미터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3240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235B 중 9.4%만 연산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37304" y="1645920"/>
            <a:ext cx="3514344" cy="164592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474464" y="1691640"/>
            <a:ext cx="32400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~$0.30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474464" y="2560320"/>
            <a:ext cx="3240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블렌드 비용/1M tok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74464" y="2926080"/>
            <a:ext cx="3240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vs Claude $6.00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25968" y="1645920"/>
            <a:ext cx="3514344" cy="164592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263128" y="1691640"/>
            <a:ext cx="32400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~51 tok/s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63128" y="2560320"/>
            <a:ext cx="3240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 속도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63128" y="2926080"/>
            <a:ext cx="3240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Alibaba API 기준</a:t>
            </a:r>
            <a:endParaRPr lang="en-US" sz="11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48640" y="3566160"/>
          <a:ext cx="11091672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52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서드파티 API 가격은 Claude 대비 최대 20배 저렴하다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모델 / 제공자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 ($/1M)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 ($/1M)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블렌드 (3:1)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Qwen3 (SiliconFlow)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$0.18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$0.68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$0.31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Qwen3 (Together AI FP8)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$0.20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$0.60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$0.30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Qwen3 (OpenRouter)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$0.70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$2.80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$1.23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Claude Sonnet 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$3.00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$15.00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$6.00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GPT-4o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$5.00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$15.00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$7.50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52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자체 호스팅 시 GPU 인프라 비용이 진정한 TCO를 결정한다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 비용 비교는 서드파티 API 가격 기준 — 자체 호스팅과 다름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Qwen3-235B-A22B FP16 서빙에 ~470GB GPU 메모리 필요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8xA100 80GB 렌탈: 월 $15,000~40,000 (클라우드별 상이)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GPU 인프라를 이미 보유 중이라면 추가 비용 미미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 확보해야 한다면 Claude API 직접 사용이 더 경제적일 수 있음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52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역할별 적합도는 조건부 추천에서 주의 필요까지 분포한다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3477463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Researcher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조건부 추천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효율적, 도구 의존도 낮음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IF 능력 검증 후 확대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6999" y="16459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355287" y="1645920"/>
            <a:ext cx="3477463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19879" y="18288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Synthesizer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19879" y="21488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조건부 추천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 컨텍스트, 다국어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 품질 벤치마크 필요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5358" y="16459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143646" y="1645920"/>
            <a:ext cx="3477463" cy="54864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308238" y="18288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Code Generator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08238" y="21488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제한적 추천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LiveCodeBench 우수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SWE-bench Pro 약점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66928" y="4160520"/>
            <a:ext cx="3477463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31520" y="43434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Orchestrator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6634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 필요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IF 36.6%로 복잡한 분배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지시 준수 불확실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36999" y="41605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355287" y="4160520"/>
            <a:ext cx="3477463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19879" y="43434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Critic / Verifier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19879" y="46634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 필요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Thinking 모드로 보강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편향 데이터 없음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25358" y="41605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143646" y="4160520"/>
            <a:ext cx="3477463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308238" y="43434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Instruct-2507 권장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08238" y="46634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최적 버전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262K 컨텍스트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강화된 IF + Tool Use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/ 52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Instruct-2507 버전이 에이전트 용도로 가장 적합하다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버전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컨텍스트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변경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원본 (2025-04)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2025-04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131K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기본. Thinking/Non-Thinking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Instruct-2507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2025-07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262K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IF 강화, 도구 사용 개선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Coder-480B-A35B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2025-07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256K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SWE-bench 38.7% (코딩 특화)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VL-235B (Vision)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2025-10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비전-언어 통합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466344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코딩 전담 에이전트에는 Coder-480B를, 범용 에이전트에는 Instruct-2507을 권장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/ 52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프레임워크 비교 분석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 주요 프레임워크의 아키텍처, 호환성, 장단점을 비교한다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 / 52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6개 주요 프레임워크 모두 OpenAI-compatible API를 지원한다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LangGraph, CrewAI, AutoGen, OpenAI Agents SDK, Mastra, smolagents 모두 호환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Qwen3의 function calling + structured output과 연동 확인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호환성은 차별화 요인이 아님 — 결정은 아키텍처 적합성에 의존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Qwen3 고유 고려: Thinking 모드 토큰 오버헤드가 프레임워크 비용에 영향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vLLM/SGLang 서빙 시 OpenAI-compatible 엔드포인트 자동 제공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 / 52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프레임워크별 아키텍처 패턴과 특성이 크게 다르다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8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8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8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83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프레임워크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패턴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언어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강점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약점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LangGraph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그래프 상태 머신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Python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정밀 제어, 체크포인팅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학습 곡선 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CrewAI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 기반 Crew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Python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빠른 프로토타이핑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세밀한 제어 부족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AutoGen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대화 기반 GroupChat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Python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에이전트 토론 패턴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토큰 비용 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Agents SDK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핸드오프 경량 에이전트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Python/JS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최소 보일러플레이트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병렬 실행 제한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Mastra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워크플로우+에이전트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TypeScript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TS 네이티브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프로덕션 사례 부족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smolagents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코드 중심 최소 루프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Python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호출 최소화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관측성 부족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 / 52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LangGraph는 그래프 상태 머신으로 가장 정밀한 제어를 제공한다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아키텍처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방향성 그래프 상태 머신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노드(단계) + 엣지(전이)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순환 그래프로 재방문 가능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강점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체크포인팅으로 장애 복구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조건부 분기, 병렬, 루프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LangSmith 관측성 통합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프로덕션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프레임워크 중 최고 수준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체크포인팅 내장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Human-in-the-loop 지원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주의점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곡선이 높음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LangChain 의존성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작업에 과도한 보일러플레이트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/ 52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CrewAI는 역할 기반으로 가장 빠른 프로토타이핑이 가능하다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아키텍처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Crew 컨테이너 안에 에이전트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역할(role) + 목표(goal)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태스크 출력 기반 통신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강점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20줄 미만 멀티에이전트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직관적 역할 기반 설계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LiteLLM 100+ 모델 지원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프로덕션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수준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체크포인팅 미지원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CrewAI→LangGraph 패턴 흔함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적합 시나리오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빠른 PoC 구축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명확한 팀 작업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리서치+작성+검토 파이프라인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/ 52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AutoGen은 대화 기반이지만 토큰 비용이 가장 높다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강점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36295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토론/비평 패턴에 최적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Docker 코드 실행 샌드박스 내장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v0.4 이벤트 드리븐 재설계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GroupChat: 여러 에이전트 토론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77356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약점 / 주의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77356" y="2148840"/>
            <a:ext cx="536295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4에이전트 5라운드 = 20회 LLM 호출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대화 히스토리로 비용 폭발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v0.2/v0.4/AG2 분화로 생태계 혼란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Qwen3 Thinking 모드 시 비용 심화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/ 52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OpenAI Agents SDK는 경량 핸드오프로 빠르게 시작할 수 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특징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36295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Swarm 후속 — 경량 에이전트 런타임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핸드오프: Agent A → Agent B 전환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@function_tool 데코레이터로 도구 정의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Guardrail 입출력 검증 내장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77356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Self-hosted 연결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77356" y="2148840"/>
            <a:ext cx="536295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set_default_openai_client(base_url=...)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ModelProvider로 에이전트별 모델 지정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한계: 병렬 실행 내장 미지원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한계: 체크포인팅 미지원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 / 52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smolagents는 코드 실행으로 LLM 호출을 최소화한다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HuggingFace의 최소주의 코드 중심 에이전트 프레임워크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에이전트가 Python 코드를 생성하고 실행하여 목표 달성 (ReAct 패턴)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도구 호출을 하나의 코드 블록에서 수행 → LLM 호출 횟수 절감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OpenAIServerModel로 Qwen3 직접 연결 가능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매니저 에이전트 패턴으로 서브에이전트 위임/수집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한계: 프로덕션 관측성 부족, 코드 실행 보안 관리 필요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 / 52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Claude Code는 오케스트레이터-워커 패턴에 깊이 1 제한을 적용한다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부모 에이전트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서브에이전트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컨텍스트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전체 대화 히스토리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격리됨 (자체 프롬프트만)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컨텍스트 크기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대화 누적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독립 200K 토큰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도구/스킬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모든 도구 사용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상속된 서브셋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 조율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단일 최종 메시지만 반환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서브에이전트 생성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불가 (깊이 1 제한)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실행 환경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메인 워크스페이스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격리된 git worktree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 / 52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자체 구현과 프레임워크 사용은 상호 배타가 아니다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자체 구현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36295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완전한 제어, 최소 의존성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Qwen3 특화 최적화 가능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빠른 PoC에 적합 (검증 단계)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엣지케이스 처리를 직접 구현해야 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77356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프레임워크 사용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77356" y="2148840"/>
            <a:ext cx="536295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수천 시간의 엣지케이스 처리 내장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체크포인팅, 관측성, 재시도 기본 제공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 단계에 적합 (프로덕션)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추상화 레이어로 디버깅 복잡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553212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권장: MVP 자체 구현 → 검증 완료 후 LangGraph 마이그레이션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/ 52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상황별로 최적의 프레임워크가 달라진다</a:t>
            </a:r>
            <a:endParaRPr lang="en-US" sz="2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1순위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2순위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복잡한 리서치 파이프라인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LangGraph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AutoGen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 관리, 체크포인팅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빠른 프로토타이핑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CrewAI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smolagents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최소 코드, 직관적 역할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코드 생성/리뷰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AutoGen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LangGraph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에이전트 토론 패턴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TypeScript 웹 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Mastra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Agents SDK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TS 네이티브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오픈소스 LLM 최적화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smolagents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CrewAI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HuggingFace 생태계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Claude Code 패턴 재현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LangGraph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자체 구현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오케스트레이터-워커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 / 52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아키텍처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Orchestrator + 독립 Agent 패턴의 구체적 설계와 구현 방법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 / 52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Orchestrator + 독립 컨텍스트 Agent가 핵심 패턴이다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 Orchestrator: 사용자 대화 + 태스크 분해 + 결과 통합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서브에이전트: 독립 API 세션 (별도 system prompt + messages + tools)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병렬 실행: asyncio.gather로 동시 API 호출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깊이 1 제한: 서브에이전트는 추가 서브에이전트 생성 불가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수집: 메인이 서브에이전트 결과를 자신의 컨텍스트에 삽입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 / 52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각 서브에이전트는 독립된 API 호출 세션으로 동작한다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0" y="1463040"/>
            <a:ext cx="3959352" cy="54864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0" y="1463040"/>
            <a:ext cx="3959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인터페이스 (CLI / Web / API)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94476" y="2011680"/>
            <a:ext cx="0" cy="365760"/>
          </a:xfrm>
          <a:prstGeom prst="line">
            <a:avLst/>
          </a:prstGeom>
          <a:noFill/>
          <a:ln w="25400">
            <a:solidFill>
              <a:srgbClr val="4A7B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286000" y="2377440"/>
            <a:ext cx="7616952" cy="1280160"/>
          </a:xfrm>
          <a:prstGeom prst="roundRect">
            <a:avLst>
              <a:gd name="adj" fmla="val 5714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286000" y="2377440"/>
            <a:ext cx="7616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Main Orchestrator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0" y="292608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43200" y="29260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Task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Decomposer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292608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29260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Context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Manager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292608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0" y="29260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Integrator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0" y="292608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229600" y="29260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Tool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Registry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3657600"/>
            <a:ext cx="0" cy="365760"/>
          </a:xfrm>
          <a:prstGeom prst="line">
            <a:avLst/>
          </a:prstGeom>
          <a:noFill/>
          <a:ln w="25400">
            <a:solidFill>
              <a:srgbClr val="4A7B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094476" y="3657600"/>
            <a:ext cx="0" cy="365760"/>
          </a:xfrm>
          <a:prstGeom prst="line">
            <a:avLst/>
          </a:prstGeom>
          <a:noFill/>
          <a:ln w="25400">
            <a:solidFill>
              <a:srgbClr val="4A7B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686800" y="3657600"/>
            <a:ext cx="0" cy="365760"/>
          </a:xfrm>
          <a:prstGeom prst="line">
            <a:avLst/>
          </a:prstGeom>
          <a:noFill/>
          <a:ln w="25400">
            <a:solidFill>
              <a:srgbClr val="4A7B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103120" y="40233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103120" y="40233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Sub-Agent 1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(독립 컨텍스트)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57800" y="40233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257800" y="40233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Sub-Agent 2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(독립 컨텍스트)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12480" y="40233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412480" y="40233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Sub-Agent 3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(독립 컨텍스트)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4754880"/>
            <a:ext cx="0" cy="36576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094476" y="4754880"/>
            <a:ext cx="0" cy="36576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8778240" y="4754880"/>
            <a:ext cx="0" cy="36576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2286000" y="5120640"/>
            <a:ext cx="7616952" cy="640080"/>
          </a:xfrm>
          <a:prstGeom prst="roundRect">
            <a:avLst>
              <a:gd name="adj" fmla="val 11429"/>
            </a:avLst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2286000" y="5120640"/>
            <a:ext cx="7616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Qwen3 API (vLLM Server) — OpenAI-compatible + Continuous Batching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 / 52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3개 핵심 컴포넌트로 MVP를 구성한다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Agent 클래스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독립 API 세션 + tool-use 루프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system_prompt, messages, tools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max_turns 제한으로 무한 루프 방지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Orchestrator 클래스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태스크 분해 → 병렬 실행 → 통합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asyncio.gather로 동시 실행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타임아웃 + 에러 핸들링 내장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ToolRegistry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중앙 도구 관리 및 에이전트별 할당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OpenAI function calling 포맷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동기/비동기 함수 래핑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ContextManager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 카운팅 + 컨텍스트 압축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오래된 메시지 요약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서브에이전트 결과 핵심 추출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 / 52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vLLM에서 Function Calling을 Hermes 파서로 활성화한다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vLLM serve 명령: --enable-auto-tool-choice --tool-call-parser hermes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--reasoning-parser deepseek_r1 로 Thinking 모드 파싱 활성화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--max-num-seqs 16 으로 동시 처리 시퀀스 수 제한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OpenAI의 tools / tool_choice 파라미터 완전 호환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parallel_tool_calls: 한 턴에 여러 도구 동시 호출 지원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streaming + tool calls 동시 가능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 / 52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asyncio.gather로 서브에이전트를 병렬 실행한다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" cy="4572000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70916" y="1755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태스크 분석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Main Agent가 사용자 입력을 분석하고 태스크를 분해 (API 호출 #1)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7432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70916" y="2898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10896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병렬 실행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4290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Orchestrator가 asyncio.gather로 서브에이전트 3~5개 동시 실행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8862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70916" y="4041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1440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25196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수집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5720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에이전트의 최종 출력을 수집 (타임아웃/에러 포함)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" y="50292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70916" y="5184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14400" y="5074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539496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응답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57150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Main Agent가 결과를 통합하여 최종 응답 생성 (API 호출 #2)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37 / 52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메인은 Thinking 모드, 서브는 Non-Thinking으로 비용을 최적화한다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메인 Orchestrator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36295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enable_thinking = True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태스크 분해 판단에 활용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통합 시 품질 향상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 추가 소비 감수 (품질 우선)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77356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서브에이전트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77356" y="2148840"/>
            <a:ext cx="536295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enable_thinking = False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속도와 비용 최적화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특화 단순 실행에 집중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 예산 엄격 관리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 / 52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컨텍스트 압축과 핵심 추출로 토큰 예산을 관리한다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에이전트별 독립 컨텍스트: 각자의 messages 리스트 유지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컨텍스트 80% 도달 시 자동 압축: system prompt 보존 + 최근 6개 메시지 보존 + 나머지 요약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서브에이전트 결과는 핵심만 추출하여 메인에 삽입 (전문 전달 X)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 예산: 서브에이전트별 max_total_tokens 사전 할당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초과 시 해당 에이전트 조기 종료 (Graceful)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 / 52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Semaphore로 동시 요청 수를 제한하여 서버 과부하를 방지한다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vLLM continuous batching: 동시 요청을 자동 배치 처리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asyncio.Semaphore(max_concurrent=8)로 동시 API 호출 제한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MoE 모델: active 22B이지만 전체 가중치(470GB)가 메모리에 상주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KV Cache에 할당 가능한 메모리가 동시 처리량을 결정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8xA100 또는 4xH100 구성에서 max_num_seqs 16 정도가 현실적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 / 52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서브에이전트 실패 시 재시도와 Graceful Degradation을 적용한다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타임아웃(120s) + 재시도(max 2회): 타임아웃 시 max_tokens 줄여서 재시도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Graceful Degradation: 일부 실패해도 가용한 결과로 통합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실패 시: 단일 에이전트 모드로 폴백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에이전트 이름과 사유를 메인에 전달하여 통합 시 반영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메트릭 수집: 에이전트별 토큰, 시간, 성공률, 도구 호출 횟수 기록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 / 52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6가지 비용 최적화 전략으로 토큰 소비를 통제한다</a:t>
            </a:r>
            <a:endParaRPr lang="en-US" sz="28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 효과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서브에이전트 Non-Thinking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enable_thinking=False 강제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토큰 2~3배 절감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컨텍스트 압축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오래된 메시지 요약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 토큰 50~70% 절감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 핵심 추출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서브 결과 요약 후 메인 전달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메인 컨텍스트 절약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도구 선택 제한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에이전트별 필요 도구만 할당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시스템 프롬프트 절감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조기 종료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충분한 결과 시 남은 에이전트 취소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불필요한 호출 방지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KV Cache 최적화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vLLM prefix caching 활용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동일 프롬프트 공유 효과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 / 52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및 검증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상충점, 실패 모드, 그리고 검증 기반 의사결정 전략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 / 52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근거 신뢰도는 높음에서 낮음까지 혼재되어 있다</a:t>
            </a:r>
            <a:endParaRPr lang="en-US" sz="28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주장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확신도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 필요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LiveCodeBench 65.9%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아니오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SWE-bench Pro 21.4%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아니오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Function calling 공식 지원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 (안정성)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IFBench 36.6%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 (멀티에이전트)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 81% 저렴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 (TCO)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Thinking 토큰 2~5배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 (실측)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MVP 1~2주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 / 52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3건의 상충점이 발견되어 실측 검증이 필요하다</a:t>
            </a:r>
            <a:endParaRPr lang="en-US" sz="28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상충 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R1 주장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R3 주장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통합 판단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Thinking 토큰 오버헤드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2~5배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2~3배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3배 가정, 반드시 검증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Function calling 안정성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긍정적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부정적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"지원"은 사실, "안정"은 미검증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자체 구현 vs 프레임워크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자체 구현 우선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초기 자체→확장 시 프레임워크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11480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4206240"/>
            <a:ext cx="107259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Critic 결론: "지원 여부"와 "프로덕션 안정성"은 별개 문제. PoC에서 function calling 성공률을 직접 측정해야 이후 결정이 유효하다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 / 52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5가지 핵심 실패 모드에 대비해야 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3477463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무한 도구 호출 루프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모델이 도구 결과를 이해 못하고 반복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대응: max_turns 제한 + 패턴 탐지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6999" y="16459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355287" y="1645920"/>
            <a:ext cx="3477463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19879" y="18288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Hallucinated Tool Call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19879" y="21488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존재하지 않는 도구 호출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대응: Registry 검증 + 친절한 에러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5358" y="16459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143646" y="1645920"/>
            <a:ext cx="3477463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308238" y="18288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 전달 시 핵심 유실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08238" y="21488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Truncation으로 정보 손실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대응: 구조화된 핵심 추출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66928" y="4160520"/>
            <a:ext cx="3477463" cy="54864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31520" y="43434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Thinking+Tool 충돌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6634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&lt;think&gt; 블록과 tool call 파싱 혼재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대응: reasoning-parser 설정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36999" y="41605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355287" y="4160520"/>
            <a:ext cx="3477463" cy="54864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19879" y="43434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시스템 프롬프트 무시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19879" y="46634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IF 36.6%의 한계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대응: 프롬프트 단순화 + 출력 검증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25358" y="41605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143646" y="4160520"/>
            <a:ext cx="3477463" cy="54864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308238" y="43434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에이전트 간 결과 상충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08238" y="46634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서브에이전트 간 모순된 결과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대응: 메인에서 상충점 명시 통합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46 / 52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IFBench 36.6%는 복잡한 시스템 프롬프트 준수에 리스크다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Code는 높은 IF 능력의 Claude 모델에 최적화된 설계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Qwen3의 IFBench 36.6%로 동일 패턴 적용 시 실패 가능성 존재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시스템 프롬프트(역할+제약+도구 사용 규칙)를 일관되게 따르지 못할 수 있음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대응 전략: 프롬프트 극도로 단순화 + 핵심 지시 반복 + 출력 검증 레이어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Instruct-2507 버전으로 업그레이드 시 개선 기대 (추가 IF 강화)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 / 52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프로덕션 멀티에이전트 배포 사례가 아직 없다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자료에서 Qwen3-235B-A22B 기반 프로덕션 멀티에이전트 사례 미발견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대부분 튜토리얼/PoC 수준 (AutoGen 감정 분석, Qwen-Agent MCP 연동 등)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엔터프라이즈 프로덕션에서의 장기 안정성 데이터 없음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이것이 "불가능"을 의미하지는 않지만, 자체 검증이 필수적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선행자 부재 = 참고 자료 부족 + 예상치 못한 문제 발생 가능성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 / 52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단일 에이전트 대비 멀티에이전트의 실질 개선을 검증해야 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실험 설계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362956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태스크를 (a) 단일, (b) 멀티로 실행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최소 10개 태스크, 3회 반복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태스크 복잡도별 분기점 도출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77356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비교 지표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77356" y="2148840"/>
            <a:ext cx="5362956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품질 (사람 평가)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토큰 소비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시간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 / 52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검증 결과에 따라 전략을 동적으로 전환한다</a:t>
            </a:r>
            <a:endParaRPr lang="en-US" sz="28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 결과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권장 전략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FC 안정 + IF 충분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멀티에이전트 전면 도입, LangGraph 추진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FC 안정 + IF 부족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프롬프트 극도 단순화 + 출력 검증 레이어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FC 불안정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멀티에이전트 보류. 단일+도구 확장 또는 모델 교체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토큰 비용 과다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엄격한 예산 + Non-Thinking 강제 + 모델 라우팅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동시 요청 병목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max_num_seqs 조정 + 에이전트 수 제한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292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FC = Function Calling, IF = Instruction Following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 / 52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액션 플랜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→ MVP → 확장 판단의 3단계 실행 계획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 / 52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검증 → MVP → 확장 판단의 3단계로 진행한다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" cy="4572000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70916" y="1755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(1주)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10725912" cy="518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Function calling 안정성, Thinking 토큰 오버헤드, 시스템 프롬프트 준수율 실측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31242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70916" y="3279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3169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53568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 (2~4주)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947160"/>
            <a:ext cx="10725912" cy="518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+ Orchestrator + ToolRegistry 구현. 기본 도구 3종. 단일 vs 멀티 비교 실험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46482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70916" y="4803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14400" y="4693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505968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 판단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5471160"/>
            <a:ext cx="10725912" cy="518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검증/실험 결과 리뷰. 전면 멀티에이전트 / 하이브리드 / 단일+도구 중 전략 결정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 / 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Step 1: Function Calling 안정성과 IF 능력을 먼저 검증한다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Function calling 안정성: 10+ 도구 스키마로 성공률 측정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Thinking 토큰 오버헤드: 5개 태스크에서 thinking vs non-thinking 비교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프롬프트 준수율: 복잡한 역할 지시 10개로 준수율 측정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JSON 파싱 오류율: 중첩 객체, 다중 도구 동시 호출 테스트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기간: 1주 (풀타임 1명 기준)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53 / 52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Step 2: Agent + Orchestrator + ToolRegistry MVP를 구현한다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클래스: 독립 API 세션 + tool-use 루프 (max_turns 제한)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Orchestrator: asyncio.gather 병렬 실행 + 타임아웃 + 에러 핸들링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ToolRegistry: 파일 읽기, 웹 검색, 코드 실행 3종 기본 도구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에이전트 vs 멀티에이전트 비교 실험 (10개 태스크, 3회 반복)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기간: 2~4주 (검증 결과에 따라 범위 조정)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 / 52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Step 3: 검증 결과에 따라 전면/하이브리드/단일 전략을 결정한다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검증/실험 결과를 종합 리뷰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전략 A: 전면 멀티에이전트 — FC 안정 + IF 충분 시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전략 B: 하이브리드 — 복잡 태스크만 멀티, 단순은 단일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전략 C: 단일 + 도구 확장 — FC 불안정 시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프레임워크 도입 여부 결정 (LangGraph vs 현 구조 유지)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라우팅 전략 수립 (235B + Coder-480B + 소형)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55 / 52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3가지 예상 밖 발견이 전략에 영향을 미친다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Qwen3 패밀리 내 역할 분리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Coder-480B는 SWE-bench 38.7%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vs 235B의 21.4%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코딩은 Coder, 범용은 235B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라우팅이 비용-품질 최적화 핵심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하이브리드 접근이 더 현실적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태스크에 멀티에이전트 X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태스크 복잡도별 단일/멀티 동적 선택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 호스팅 제약에 더 적합한 구조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Instruct-2507이 최적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262K 컨텍스트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강화된 IF + Tool Use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용도라면 이 버전 선택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 재정의가 핵심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"Claude Code처럼"이 아니라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"검증 기반 최적 전략 결정"으로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문제를 재정의해야 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56 / 52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3개의 후속 탐색 질문이 다음 리서치를 이끈다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Qwen3의 function calling 정확도는 실제로 어느 수준인가?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24028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도구 스키마(중첩 객체, 다중 도구 동시 호출)에서의 성공률 직접 측정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3108960"/>
            <a:ext cx="102687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152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29184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모델 라우팅의 실질적 효과는?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7947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235B(범용) + Coder-480B(코딩) + 소형(단순) 혼합 사용 시 비용-품질 트레이드오프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4663440"/>
            <a:ext cx="102687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31520" y="489204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31520" y="4892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484632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프롬프트 엔지니어링으로 IF 한계를 보완할 수 있는가?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534924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단순화된 지시문으로 Claude Code 스타일 에이전트 성능 유지 가능 여부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57 / 52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641848" y="1828800"/>
            <a:ext cx="91440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94457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800" i="1" dirty="0">
                <a:solidFill>
                  <a:srgbClr val="1A1F36"/>
                </a:solidFill>
                <a:latin typeface="ChosunNm" pitchFamily="34" charset="0"/>
                <a:ea typeface="ChosunNm" pitchFamily="34" charset="-122"/>
                <a:cs typeface="ChosunNm" pitchFamily="34" charset="-120"/>
              </a:rPr>
              <a:t>“검증 없는 구현은</a:t>
            </a:r>
            <a:endParaRPr lang="en-US" sz="28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800" i="1" dirty="0">
                <a:solidFill>
                  <a:srgbClr val="1A1F36"/>
                </a:solidFill>
                <a:latin typeface="ChosunNm" pitchFamily="34" charset="0"/>
                <a:ea typeface="ChosunNm" pitchFamily="34" charset="-122"/>
                <a:cs typeface="ChosunNm" pitchFamily="34" charset="-120"/>
              </a:rPr>
              <a:t>추정 위의 아키텍처다”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475488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이번 리서치의 핵심 교훈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58 / 52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3가지를 기억하고 검증부터 시작하자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102687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Qwen3-235B-A22B는 기술적으로 멀티에이전트 구현이 가능하나, function calling 안정성과 IF 능력의 검증이 선행되어야 한다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06324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926080"/>
            <a:ext cx="102687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 구현 MVP → LangGraph 마이그레이션 경로가 가장 현실적이며, 하이브리드 접근(태스크 복잡도별 단일/멀티 선택)이 자체 호스팅 제약에 적합하다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4114800"/>
            <a:ext cx="102687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"바로 구현"이 아닌 "먼저 검증" — Step 1 검증(1주) 결과가 전체 프로젝트의 방향을 결정한다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577840"/>
            <a:ext cx="110916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Next Step: Qwen3 function calling 안정성 벤치마크 실행 (1주)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59 / 52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3795</Words>
  <Application>Microsoft Macintosh PowerPoint</Application>
  <PresentationFormat>와이드스크린</PresentationFormat>
  <Paragraphs>841</Paragraphs>
  <Slides>59</Slides>
  <Notes>59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59</vt:i4>
      </vt:variant>
    </vt:vector>
  </HeadingPairs>
  <TitlesOfParts>
    <vt:vector size="66" baseType="lpstr">
      <vt:lpstr>ChosunNm</vt:lpstr>
      <vt:lpstr>Pretendard</vt:lpstr>
      <vt:lpstr>Pretendard Black</vt:lpstr>
      <vt:lpstr>Pretendard ExtraBold</vt:lpstr>
      <vt:lpstr>Pretendard SemiBold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정원 변</cp:lastModifiedBy>
  <cp:revision>2</cp:revision>
  <dcterms:created xsi:type="dcterms:W3CDTF">2026-03-20T07:44:50Z</dcterms:created>
  <dcterms:modified xsi:type="dcterms:W3CDTF">2026-03-20T07:45:43Z</dcterms:modified>
</cp:coreProperties>
</file>