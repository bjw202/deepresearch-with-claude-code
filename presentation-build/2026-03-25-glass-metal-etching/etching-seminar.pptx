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03120"/>
            <a:ext cx="73152" cy="23774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제조업 현장 엔지니어를 위한 교육 세미나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에칭 기술 완전 가이드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화학에서 레이저까지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4251960"/>
            <a:ext cx="4114800" cy="27432"/>
          </a:xfrm>
          <a:prstGeom prst="rect">
            <a:avLst/>
          </a:prstGeom>
          <a:solidFill>
            <a:srgbClr val="3A446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화학적 에칭  |  반도체 에칭  |  물리적 에칭  |  레이저 에칭  |  에칭 방식 선택 가이드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87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2026-03-25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배울 것: 에칭의 원리, 종류, 선택법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 및 강의 구성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20040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84832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에칭이란 무엇인가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화학-물리 스펙트럼 위에 있는 에칭 방식의 전체 지도를 이해한다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32004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136392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화학적 에칭의 원리와 실무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1927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유리·금속별 에칭액 선택, 언더컷·에칭팩터, HF 안전 관리를 익힌다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320040" cy="9144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187952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반도체·물리적 에칭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37083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RIE, DRIE, ALE, 레이저 에칭의 원리와 차이를 파악한다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83480"/>
            <a:ext cx="32004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239512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07492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현장 의사결정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542239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소재-목적-비용 기준으로 최적 에칭 방식을 선택하는 프레임워크를 갖는다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18288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강의 구성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2578608"/>
            <a:ext cx="36576" cy="2560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섹션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92440" y="2697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에칭의 기초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0" y="26974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88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0" y="3145536"/>
            <a:ext cx="36576" cy="2560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3081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섹션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92440" y="32644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화학적 에칭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0" y="3264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88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0" y="3712464"/>
            <a:ext cx="36576" cy="2560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6" name="Text 34"/>
          <p:cNvSpPr/>
          <p:nvPr/>
        </p:nvSpPr>
        <p:spPr>
          <a:xfrm>
            <a:off x="8092440" y="36484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섹션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92440" y="38313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에칭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0" y="3831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88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12장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55280" y="4279392"/>
            <a:ext cx="36576" cy="2560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0" name="Text 38"/>
          <p:cNvSpPr/>
          <p:nvPr/>
        </p:nvSpPr>
        <p:spPr>
          <a:xfrm>
            <a:off x="8092440" y="4215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섹션 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92440" y="43982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에칭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15600" y="43982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88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955280" y="4846320"/>
            <a:ext cx="36576" cy="2560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4" name="Text 42"/>
          <p:cNvSpPr/>
          <p:nvPr/>
        </p:nvSpPr>
        <p:spPr>
          <a:xfrm>
            <a:off x="8092440" y="4782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섹션 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92440" y="4965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비교와 선택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15600" y="49651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88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5장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955280" y="5413248"/>
            <a:ext cx="36576" cy="2560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8" name="Text 46"/>
          <p:cNvSpPr/>
          <p:nvPr/>
        </p:nvSpPr>
        <p:spPr>
          <a:xfrm>
            <a:off x="8092440" y="5349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마무리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92440" y="5532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515600" y="55321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88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2장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2A305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에칭이란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무엇인가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0" y="20116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섹션에서 배울 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2606040"/>
            <a:ext cx="137160" cy="1371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254203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에칭의 정의와 핵심 원리 — "선택적 제거"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3264408"/>
            <a:ext cx="137160" cy="1371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화학-물리 스펙트럼으로 보는 에칭 방식의 전체 지도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3922776"/>
            <a:ext cx="137160" cy="1371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8587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선택비·등방성·에칭속도 3대 핵심 개념 정리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4581144"/>
            <a:ext cx="137160" cy="1371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451713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언더컷과 에칭팩터(EF)의 실무적 의미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5239512"/>
            <a:ext cx="137160" cy="1371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51755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1950s부터 현재까지 에칭 기술 발전 로드맵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에칭은 원하는 부분만 골라서 깎는 기술이다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에칭(Etching)의 정의와 핵심 원리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에칭(Etching) = 화학물질, 이온, 레이저 등을 이용해 재료 표면의 일부를 선택적으로 제거하는 가공 기술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3016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926080"/>
            <a:ext cx="359359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도장 파기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3264408" cy="2423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고무 도장을 칼로 파는 것처럼,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부분만 남기고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나머지를 깎아낸다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2926080"/>
            <a:ext cx="363016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2926080"/>
            <a:ext cx="359359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310896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눈사람 녹이기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44568" y="3429000"/>
            <a:ext cx="3264408" cy="2423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비닐봉지를 씌운 곳은 그대로,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드러난 곳만 녹는다.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마스크가 곧 보호막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74736" y="2926080"/>
            <a:ext cx="363016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2926080"/>
            <a:ext cx="359359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3108960"/>
            <a:ext cx="326440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선택적 제거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7616" y="3429000"/>
            <a:ext cx="3264408" cy="2423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"수단"은 다르지만 "원하는 곳만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깎는다"는 본질은 동일하다.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수단 선택 = 품질/비용 결정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55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방식은 화학-물리 스펙트럼 위에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화학에서 순수 물리까지 — 이분법이 아닌 연속체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770632" cy="50292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6" name="Shape 4"/>
          <p:cNvSpPr/>
          <p:nvPr/>
        </p:nvSpPr>
        <p:spPr>
          <a:xfrm>
            <a:off x="3319272" y="1920240"/>
            <a:ext cx="2770632" cy="502920"/>
          </a:xfrm>
          <a:prstGeom prst="rect">
            <a:avLst/>
          </a:prstGeom>
          <a:solidFill>
            <a:srgbClr val="6A5FBF"/>
          </a:solidFill>
          <a:ln/>
        </p:spPr>
      </p:sp>
      <p:sp>
        <p:nvSpPr>
          <p:cNvPr id="7" name="Shape 5"/>
          <p:cNvSpPr/>
          <p:nvPr/>
        </p:nvSpPr>
        <p:spPr>
          <a:xfrm>
            <a:off x="6089904" y="1920240"/>
            <a:ext cx="2770632" cy="502920"/>
          </a:xfrm>
          <a:prstGeom prst="rect">
            <a:avLst/>
          </a:prstGeom>
          <a:solidFill>
            <a:srgbClr val="A64F9A"/>
          </a:solidFill>
          <a:ln/>
        </p:spPr>
      </p:sp>
      <p:sp>
        <p:nvSpPr>
          <p:cNvPr id="8" name="Shape 6"/>
          <p:cNvSpPr/>
          <p:nvPr/>
        </p:nvSpPr>
        <p:spPr>
          <a:xfrm>
            <a:off x="8860536" y="1920240"/>
            <a:ext cx="2770632" cy="50292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BD5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순수 화학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11512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04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순수 물리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52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습식 에칭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HF, FeCl₃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액체에 담가 녹임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2834640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852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플라즈마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화학 에칭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반응 가스 라디칼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화학 반응 주도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834640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852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246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반응성 이온 에칭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이온 폭격+화학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2834640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B44F88"/>
          </a:solidFill>
          <a:ln w="12700">
            <a:solidFill>
              <a:srgbClr val="B44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852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CAIBE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246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화학보조 이온빔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이온빔+반응가스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0" y="2834640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852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스퍼터 에칭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3246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Ar+ 이온 충돌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운동에너지 제거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01200" y="2834640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2852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46920" y="3246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집속이온빔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Ga+/Xe+ 조각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0" y="2834640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18520" y="2852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018520" y="3246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광에너지→기화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8F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비열적 제거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2148840"/>
            <a:ext cx="11091672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16052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160520"/>
            <a:ext cx="73152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포인트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" y="4572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RIE(반응성 이온 에칭)는 화학과 물리의 경계에 있는 하이브리드 기술이다. 같은 RIE 장비라도 가스 종류와 이온 에너지 비율에 따라 화학 쪽이나 물리 쪽으로 성격이 변한다. "건식 에칭"과 "물리적 에칭" 두 섹션에서 모두 다루는 이유가 여기에 있다.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3대 핵심 개념: 선택비, 등방성, 에칭속도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가지를 이해하면 어떤 에칭 방식이든 평가할 수 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선택비 (Selectivity)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대상 속도 ÷ 마스크 속도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손톱만 깎고 손가락은 안 다치는 능력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숫자가 높을수록 정밀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HF의 유리/포토레지스트 = 10:1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73736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9924" y="173736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등방성 / 이방성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4516" y="224028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등방성: 사방으로 균일하게 깎임 (사과를 설탕물에)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이방성: 수직 방향으로만 깎임 (나무를 나뭇결 따라)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미세 패턴에는 이방성이 필수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습식 에칭은 기본적으로 등방성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406908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5196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속도 (Etch Rate)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시간당 재료가 녹는 깊이 (µm/min)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 HF(유리): 0.1~8 µm/min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 FeCl₃(구리): 25~50 µm/min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ALE: ~0.1 nm/사이클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온도·농도·교반으로 제어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9924" y="406908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425196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3가지를 함께 봐야 하나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4516" y="457200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지표는 서로 트레이드오프 관계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속도 → 선택비 저하 가능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이방성 → 장비 비용 증가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선택비 → 화학 반응 의존 → 등방성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"목적에 맞는 균형점"을 찾는 것이 에칭 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등방성은 사방으로, 이방성은 수직으로만 깎는다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방향성의 차이와 실무적 의미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62956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등방성 에칭 (Isotropic)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4572000" cy="1097280"/>
          </a:xfrm>
          <a:prstGeom prst="rect">
            <a:avLst/>
          </a:prstGeom>
          <a:solidFill>
            <a:srgbClr val="B0C4D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03120"/>
            <a:ext cx="1463040" cy="2926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2103120"/>
            <a:ext cx="1463040" cy="2926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Shape 9"/>
          <p:cNvSpPr/>
          <p:nvPr/>
        </p:nvSpPr>
        <p:spPr>
          <a:xfrm>
            <a:off x="1783080" y="2103120"/>
            <a:ext cx="137160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32461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← 언더컷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사과를 설탕물에 담그면 모든 방향에서 골고루 녹는다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109728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방향으로 동일한 속도로 에칭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109728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434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마스크 아래로 언더컷(Undercut) 발생 필연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109728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8463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유리, 구리, 알루미늄 등 다결정/비정질 재료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303520"/>
            <a:ext cx="109728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257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정밀도 한계: 깊이 1µm = 옆 방향도 ~1µm 손실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7356" y="169164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7356" y="1691640"/>
            <a:ext cx="5362956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이방성 에칭 (Anisotropic)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20840" y="2377440"/>
            <a:ext cx="4572000" cy="1097280"/>
          </a:xfrm>
          <a:prstGeom prst="rect">
            <a:avLst/>
          </a:prstGeom>
          <a:solidFill>
            <a:srgbClr val="B0C4DE"/>
          </a:solidFill>
          <a:ln/>
        </p:spPr>
      </p:sp>
      <p:sp>
        <p:nvSpPr>
          <p:cNvPr id="26" name="Shape 24"/>
          <p:cNvSpPr/>
          <p:nvPr/>
        </p:nvSpPr>
        <p:spPr>
          <a:xfrm>
            <a:off x="6720840" y="2103120"/>
            <a:ext cx="1463040" cy="2926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7" name="Shape 25"/>
          <p:cNvSpPr/>
          <p:nvPr/>
        </p:nvSpPr>
        <p:spPr>
          <a:xfrm>
            <a:off x="8915400" y="2103120"/>
            <a:ext cx="1463040" cy="2926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0" y="2103120"/>
            <a:ext cx="731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2461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수직 측벽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나무를 나뭇결 따라 쪼개면 한 방향으로만 갈라진다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4069080"/>
            <a:ext cx="109728" cy="10972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방향으로만 에칭 (이온이 수직 가속)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4480560"/>
            <a:ext cx="109728" cy="10972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4434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언더컷 최소 → 미세 패턴 구현 가능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4892040"/>
            <a:ext cx="109728" cy="10972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8463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RIE, DRIE: 반도체 공정의 표준 방식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5303520"/>
            <a:ext cx="109728" cy="10972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5257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3nm 선폭 구현의 핵심 요건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언더컷은 등방성 에칭의 숙명이다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에칭팩터(EF)로 정밀도를 정량화한다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4360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언더컷(Undercut)이란?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마스크 가장자리 아래로 에칭액이 파고들어 보호해야 할 영역까지 재료가 녹는 현상.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등방성 에칭(습식)에서 피할 수 없는 부산물이다.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5303520" cy="640080"/>
          </a:xfrm>
          <a:prstGeom prst="rect">
            <a:avLst/>
          </a:prstGeom>
          <a:solidFill>
            <a:srgbClr val="B0C4D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971800"/>
            <a:ext cx="1371600" cy="2926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2971800"/>
            <a:ext cx="1371600" cy="2926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2926080"/>
            <a:ext cx="292608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977640"/>
            <a:ext cx="548640" cy="1828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3977640"/>
            <a:ext cx="548640" cy="1828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4005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언더컷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4005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언더컷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73736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에칭팩터(Etch Factor, EF)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23317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EF = 에칭 깊이 ÷ 언더컷 거리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2788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EF가 높을수록 측면 손실이 적고 정밀도가 높다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3154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EF ≥ 3.0 → 고정밀 가공 기준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074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수치 예시 — 두께 150µm 금속판 관통 에칭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754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깊이: 150µm  |  양측 언더컷: 각 50µm  |  EF = 150 ÷ 50 = 3.0  |  실제 슬롯 폭 = 설계 폭 + 100µm (언더컷 보상 필수)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28523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CAD 설계 시 언더컷 분량만큼 아트워크(포토마스크)를 미리 수축 보정해야 한다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기술은 60년간 진화해왔다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1950년대 화학 밀링에서 현재 하이브리드 공정까지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10972800" cy="4572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383280"/>
            <a:ext cx="274320" cy="27432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874520"/>
            <a:ext cx="18288" cy="1508760"/>
          </a:xfrm>
          <a:prstGeom prst="rect">
            <a:avLst/>
          </a:prstGeom>
          <a:solidFill>
            <a:srgbClr val="C0C8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1950s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밀링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(Chemical Milling)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항공우주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금속 대형 가공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38328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3657600"/>
            <a:ext cx="18288" cy="1508760"/>
          </a:xfrm>
          <a:prstGeom prst="rect">
            <a:avLst/>
          </a:prstGeom>
          <a:solidFill>
            <a:srgbClr val="C0C8D8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5230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1960s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5504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 에칭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(Wet Etching)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6126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반도체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초기 공정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338328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1874520"/>
            <a:ext cx="18288" cy="1508760"/>
          </a:xfrm>
          <a:prstGeom prst="rect">
            <a:avLst/>
          </a:prstGeom>
          <a:solidFill>
            <a:srgbClr val="C0C8D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1970s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17556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플라즈마/RIE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건식 에칭 등장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이방성 에칭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첫 구현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3383280"/>
            <a:ext cx="274320" cy="2743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3657600"/>
            <a:ext cx="18288" cy="1508760"/>
          </a:xfrm>
          <a:prstGeom prst="rect">
            <a:avLst/>
          </a:prstGeom>
          <a:solidFill>
            <a:srgbClr val="C0C8D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5230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1990s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5504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DRIE / ICP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고종횡비 가능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6126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MEMS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딥 트렌치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80960" y="338328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08976" y="1874520"/>
            <a:ext cx="18288" cy="1508760"/>
          </a:xfrm>
          <a:prstGeom prst="rect">
            <a:avLst/>
          </a:prstGeom>
          <a:solidFill>
            <a:srgbClr val="C0C8D8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2010s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17556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원자층 에칭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10nm 이하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반도체 표준화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26880" y="3383280"/>
            <a:ext cx="274320" cy="27432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54896" y="3657600"/>
            <a:ext cx="18288" cy="1508760"/>
          </a:xfrm>
          <a:prstGeom prst="rect">
            <a:avLst/>
          </a:prstGeom>
          <a:solidFill>
            <a:srgbClr val="C0C8D8"/>
          </a:solidFill>
          <a:ln/>
        </p:spPr>
      </p:sp>
      <p:sp>
        <p:nvSpPr>
          <p:cNvPr id="33" name="Text 31"/>
          <p:cNvSpPr/>
          <p:nvPr/>
        </p:nvSpPr>
        <p:spPr>
          <a:xfrm>
            <a:off x="8778240" y="5230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5504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공정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에칭+증착 복합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8240" y="6126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3D NAND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GAA 트랜지스터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0" y="338328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00816" y="1874520"/>
            <a:ext cx="18288" cy="1508760"/>
          </a:xfrm>
          <a:prstGeom prst="rect">
            <a:avLst/>
          </a:prstGeom>
          <a:solidFill>
            <a:srgbClr val="C0C8D8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416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424160" y="17556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레이저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Cold Ablation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24160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비열적 나노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가공 실현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6400800"/>
            <a:ext cx="11091672" cy="320040"/>
          </a:xfrm>
          <a:prstGeom prst="roundRect">
            <a:avLst>
              <a:gd name="adj" fmla="val 17143"/>
            </a:avLst>
          </a:prstGeom>
          <a:solidFill>
            <a:srgbClr val="EEF2FF"/>
          </a:solidFill>
          <a:ln w="6350">
            <a:solidFill>
              <a:srgbClr val="4A7B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41908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섹션: 가장 오래되고 직관적인 방식인 화학적 에칭(습식 에칭)부터 시작한다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55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1 핵심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에칭의 기초 — 꼭 기억해야 할 4가지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02920" cy="9601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299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= 선택적 제거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7627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화학물질, 이온, 레이저 등 수단은 다르지만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"원하는 곳만 깎는다"는 본질은 동일하다.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수단 선택이 곧 품질/비용/정밀도를 결정한다.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16352"/>
            <a:ext cx="502920" cy="960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88950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화학-물리 연속 스펙트럼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2552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습식(순수 화학) ~ RIE(하이브리드) ~ 스퍼터/레이저(순수 물리).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RIE는 스펙트럼 중앙의 하이브리드 기술.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이분법으로 나누면 혼란이 생긴다.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95344"/>
            <a:ext cx="502920" cy="9601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879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96849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3대 성능 지표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433425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선택비(마스크 보호 능력) + 등방성/이방성(방향) + 에칭속도.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가지만 이해하면 어떤 에칭 방식이든 핵심 성능을 평가할 수 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74336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74336"/>
            <a:ext cx="50292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6694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504748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언더컷과 에칭팩터(EF)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54132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등방성 에칭에서 언더컷은 피할 수 없다.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 = 에칭 깊이 ÷ 언더컷 거리. EF 3.0 이상이 고정밀.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단계에서 언더컷 보상이 필수.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1264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18134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섹션 2: 가장 직관적인 에칭 방식 — 화학적 에칭(습식 에칭)의 원리와 실무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2A305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화학적 에칭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액체로 녹여서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깎는다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0" y="20116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섹션에서 배울 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2606040"/>
            <a:ext cx="137160" cy="137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254203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 에칭 원리 — 산화·용해·확산 3단계 메커니즘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3200400"/>
            <a:ext cx="137160" cy="137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31363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 에칭 실무 — HF, BOE, 유리 종류별 특성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3794760"/>
            <a:ext cx="137160" cy="137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7307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에칭 실무 — 소재별 에칭액 매칭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4389120"/>
            <a:ext cx="137160" cy="137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432511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PCB 공정의 구리 에칭 — FeCl₃의 70% 점유율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4983480"/>
            <a:ext cx="137160" cy="137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49194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HF 안전 — 무증상 피부침투의 치명적 위험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0" y="5577840"/>
            <a:ext cx="137160" cy="137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551383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폐액 처리 — 중화·침전·분리 3단계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습식 에칭은 산화-용해-확산 3단계로 작동한다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반응의 세 단계 — 가장 느린 단계가 전체 속도를 결정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965960"/>
            <a:ext cx="731520" cy="73152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0299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산화 (Oxidation)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에칭액의 산 또는 산화제가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표면 원자를 이온으로 변환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HF + SiO₂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SiF₄(기체) + H₂O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965960"/>
            <a:ext cx="731520" cy="7315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0299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2788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용해 (Dissolution)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32461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이온화된 재료가 에칭액에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녹아들어 표면에서 분리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마치 각설탕이 물에 녹아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없어지는 것처럼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182880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1965960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0299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0960" y="2788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확산 (Diffusion)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0" y="32461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녹아 나온 이온이 에칭액 속으로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퍼지고, 신선한 에칭액이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표면에 다시 접근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교반으로 속도 촉진 가능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3520440"/>
            <a:ext cx="13716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60920" y="3520440"/>
            <a:ext cx="13716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68756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세 단계 중 가장 느린 단계가 전체 에칭 속도를 결정한다.  교반(Agitation)은 확산 단계를 빠르게 해 전체 속도를 높인다.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속도는 온도, 농도, 교반으로 결정된다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영향 요인 — 조절 가능한 것과 재료 고유 특성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53035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88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 요인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 증가 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실무 조절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88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높을수록 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(히터/쿨러)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10°C 상승 시 반응속도 약 1.5~2배 (아레니우스 법칙)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HF는 활성화 에너지 낮아 실제 1.5~2배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높을수록 빠름 (포화 후 정체)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(희석/농축)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일정 수준 이상에서 속도 포화 — 과도한 농도는 낭비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88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교반 (Agitation)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교반할수록 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(스프레이/버블)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소진된 에칭액을 신선한 액으로 교체하는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확산 단계 속도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길수록 깊어짐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(타이머)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과에칭(Over-etch) 주의 — 타이머+소형 쿠폰 테스트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88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 결정 구조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다결정 &gt; 단결정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 (재료 고유)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결정립계(grain boundary)에서 에칭 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단결정 Si는 KOH로 이방성 에칭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EF2FF"/>
          </a:solidFill>
          <a:ln w="6350">
            <a:solidFill>
              <a:srgbClr val="4A7B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9560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실무 포인트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276088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온도·농도·교반은 모두 조절 가능하다. 공정 초기 "소형 쿠폰 테스트"로 목표 에칭 속도를 캘리브레이션한 뒤 양산에 적용하는 것이 원칙이다. 에칭 속도는 ±50% 범위 변동이 흔하며, 문헌 수치를 그대로 믿으면 안 된다.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유리 에칭 공정 흐름: 세정에서 검사까지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8단계 플로차트 — 에칭은 공정의 일부, 전후 단계가 품질을 좌우한다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5336" y="1993392"/>
            <a:ext cx="731520" cy="73152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5336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기판 세정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(Cleaning)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7355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유기물·오염물 제거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DI Water + 탈지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715768"/>
            <a:ext cx="164592" cy="3657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Shape 9"/>
          <p:cNvSpPr/>
          <p:nvPr/>
        </p:nvSpPr>
        <p:spPr>
          <a:xfrm>
            <a:off x="3456432" y="182880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3128" y="1993392"/>
            <a:ext cx="731520" cy="73152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7889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마스크 증착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(Deposition)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7872" y="327355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포토레지스트 또는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Cr/Au 금속막 도포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9632" y="2715768"/>
            <a:ext cx="164592" cy="3657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224" y="182880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993392"/>
            <a:ext cx="731520" cy="731520"/>
          </a:xfrm>
          <a:prstGeom prst="ellipse">
            <a:avLst/>
          </a:prstGeom>
          <a:solidFill>
            <a:srgbClr val="5A6FC0"/>
          </a:solidFill>
          <a:ln w="12700">
            <a:solidFill>
              <a:srgbClr val="5A6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664" y="27889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UV 노광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(Exposure)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55664" y="327355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포토마스크 밀착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패턴 전사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07424" y="2715768"/>
            <a:ext cx="164592" cy="3657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2016" y="182880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68712" y="1993392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68712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63456" y="27889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현상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(Development)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63456" y="327355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노광 영역 마스크 제거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패턴 오픈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5336" y="4142232"/>
            <a:ext cx="731520" cy="7315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45336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9377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(Wet Etching)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542239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HF 또는 BOE 침지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목표 깊이까지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4864608"/>
            <a:ext cx="164592" cy="3657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4" name="Shape 32"/>
          <p:cNvSpPr/>
          <p:nvPr/>
        </p:nvSpPr>
        <p:spPr>
          <a:xfrm>
            <a:off x="3456432" y="397764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53128" y="4142232"/>
            <a:ext cx="731520" cy="731520"/>
          </a:xfrm>
          <a:prstGeom prst="ellipse">
            <a:avLst/>
          </a:prstGeom>
          <a:solidFill>
            <a:srgbClr val="D97040"/>
          </a:solidFill>
          <a:ln w="12700">
            <a:solidFill>
              <a:srgbClr val="D97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3128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47872" y="49377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린스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(Rinse)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47872" y="542239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DI Water 세척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에칭액 잔류 제거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4864608"/>
            <a:ext cx="164592" cy="3657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0" name="Shape 38"/>
          <p:cNvSpPr/>
          <p:nvPr/>
        </p:nvSpPr>
        <p:spPr>
          <a:xfrm>
            <a:off x="6364224" y="397764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0920" y="4142232"/>
            <a:ext cx="731520" cy="731520"/>
          </a:xfrm>
          <a:prstGeom prst="ellipse">
            <a:avLst/>
          </a:prstGeom>
          <a:solidFill>
            <a:srgbClr val="C09030"/>
          </a:solidFill>
          <a:ln w="12700">
            <a:solidFill>
              <a:srgbClr val="C09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55664" y="49377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마스크 제거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(Strip)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55664" y="542239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유기 용제(NMP) 또는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O₂ 플라즈마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107424" y="4864608"/>
            <a:ext cx="164592" cy="3657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6" name="Shape 44"/>
          <p:cNvSpPr/>
          <p:nvPr/>
        </p:nvSpPr>
        <p:spPr>
          <a:xfrm>
            <a:off x="9272016" y="3977640"/>
            <a:ext cx="2724912" cy="1874520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68712" y="4142232"/>
            <a:ext cx="731520" cy="7315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68712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363456" y="49377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검사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(Inspection)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63456" y="542239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에칭 깊이·치수·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표면 거칠기 확인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HF는 유리(SiO₂)를 기체로 바꿔 없앤다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불산(Hydrofluoric Acid)의 반응 원리와 농도별 에칭 속도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SiO₂  +  4HF  →  SiF₄↑  +  2H₂O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사불화규소(SiF₄)는 기체로 날아가고 물(H₂O)만 남는다 — 각설탕이 물에 녹아 없어지듯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59436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HF 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속도 (µm/min)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1~5% HF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0.1~0.5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매끄러움 (Ra &lt; 0.5 µm)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마이크로구조 정밀 패터닝, MEMS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10~25% HF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0.5~2.0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유리 에칭, 반도체 BOE 대체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49% HF (진한 불산)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2~8+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거칠어질 수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깊은 에칭 (&gt;600µm), 퓨즈드 실리카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3CD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4937760"/>
            <a:ext cx="73152" cy="12344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047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수치 투명성 주의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5349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4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속도는 유리 종류·온도·교반에 따라 크게 달라진다. 49% HF의 8 µm/min은 퓨즈드 실리카·교반·25°C 조건의 상한값이다. 소다라임 유리는 퓨즈드 실리카보다 15~30% 빠르다. (출처: Iliescu et al., 2012 microfluidics review)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4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공정 적용 전 소형 쿠폰 테스트 필수.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HF vs BOE: 속도냐 안정성이냐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완충산화에칭액(BOE = HF + NH₄F)의 원리와 비교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434840"/>
          </a:xfrm>
          <a:prstGeom prst="roundRect">
            <a:avLst>
              <a:gd name="adj" fmla="val 2062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62956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순수 HF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빠르지만 불안정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속도: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(농도 의존)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속도 균일성: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 큼 — F⁻ 이온 소진으로 점점 느려짐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표면 품질: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가변적, 조건에 민감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 호환성: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HF가 포토레지스트를 공격할 수 있음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 적합성: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 — 속도 제어 어려움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1691640"/>
            <a:ext cx="5362956" cy="4434840"/>
          </a:xfrm>
          <a:prstGeom prst="roundRect">
            <a:avLst>
              <a:gd name="adj" fmla="val 2062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7356" y="1691640"/>
            <a:ext cx="5362956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BOE (완충 산화 에칭액)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느리지만 안정적 — CMOS 공정 표준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속도: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낮고 안정적 (~1 µm/min)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속도 균일성: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388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매우 안정 — NH₄F가 F⁻ 이온 지속 공급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794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표면 품질: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균일, 재현성 높음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 호환성: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포토레지스트와 잘 호환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 적합성: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8388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— CMOS 공정 표준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7356" y="512064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EEF8F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519379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BOE 원리: NH₄F → NH₄⁺ + F⁻ 로 F⁻ 이온을 지속 공급하여 반응 속도를 일정하게 유지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레시피 예: NH₄F 40g + DI water 60ml + 49% HF 10ml (조성은 목적에 따라 6:1, 10:1 등 다양)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유리 종류마다 에칭 속도가 다르다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소다라임·보로실리케이트·퓨즈드실리카·알루미노실리케이트 비교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749808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1499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 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성분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HF 에칭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거칠기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응용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소다라임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(Soda-lime)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SiO₂ 73%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Na₂O 14%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~2~3 µm/min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 수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(거칠어질 수 있음)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알칼리 이온 많아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빠르나 불균일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건축용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장식 에칭, 음각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보로실리케이트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(Borosilicate,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파이렉스 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SiO₂ 80%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B₂O₃ 13%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~1~2 µm/min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 &lt;1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비교적 매끄러움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열충격 강함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B₂O₃ 비율에 따라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속도 변동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마이크로플루이딕스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실험실 기기, MEMS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퓨즈드 실리카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(Fused Silica)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SiO₂ &gt;99.9%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느림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~1~1.5 µm/min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 &lt;0.5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매끄러움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최고 순도 SiO₂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투과 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광학계, 고정밀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9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알루미노실리케이트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(스마트폰 강화유리)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SiO₂, Al₂O₃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알루미나 치환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느림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Al₂O₃ 함유로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HF 반응성 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스마트폰 커버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고강도 응용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8E7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5961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보로실리케이트의 에칭 속도는 B₂O₃ 함량에 따라 달라지므로, 특정 제품은 반드시 데이터시트로 확인해야 한다. 에칭 속도 역전 사례는 문헌에서 직접 보고된 바 없으나, 고함량 B₂O₃에서 가능성 있음.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금속 에칭의 핵심: 소재-에칭액 매칭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소재마다 에칭액이 다르다 — 4가지 핵심 조합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구리 (Copper) — FeCl₃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에칭액: 염화철(FeCl₃) 35~45% 수용액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속도: 25~50 µm/min (30~45°C)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반응: Cu + 2FeCl₃ → CuCl₂ + 2FeCl₂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PCB 제조의 70% 이상이 FeCl₃ 사용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CuCl₂는 재사용 가능 — 환경 선호도 증가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9924" y="173736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알루미늄 (Al) — NaOH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4516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에칭액: 수산화나트륨(NaOH) 5~20%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온도: 50~70°C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반응: 2Al + 2NaOH + 2H₂O → 2NaAlO₂ + 3H₂↑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수소 가스 발생 → 밀폐 공간 사용 금지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박막 Al 배선은 H₃PO₄:HNO₃ 혼합 사용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스테인리스 (SUS) — FeCl₃+HCl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에칭액: FeCl₃ 600 g/L + HCl 적량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온도: 40~50°C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Cr₂O₃ 부동태 피막을 HCl의 Cl⁻ 이온이 파괴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FeCl₃만으로는 에칭이 느림 (HCl 필수)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SUS304 기준: 1~5 µm/min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티타늄 (Ti) — HF+HNO₃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에칭액: HF 1~5% + HNO₃ 15~30% 혼합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온도: 20~25°C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HF: TiO₂ 부동태 피막 파괴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HNO₃: Ti 금속 산화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임플란트 표면 처리 (골유착 향상)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HNO₃ 비율이 높으면 부동태화 → 에칭 중단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PCB 제조의 70%는 FeCl₃ 구리 에칭이다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포토화학 에칭(PCE) 공정 개요와 에칭액 비교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434840"/>
          </a:xfrm>
          <a:prstGeom prst="roundRect">
            <a:avLst>
              <a:gd name="adj" fmla="val 2062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PCE(포토화학 에칭) 핵심 흐름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368296"/>
            <a:ext cx="228600" cy="22860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59152"/>
            <a:ext cx="228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3042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판재 → 세정(탈지)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916936"/>
            <a:ext cx="228600" cy="22860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07792"/>
            <a:ext cx="228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8529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드라이 필름 포토레지스트 라미네이션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465576"/>
            <a:ext cx="228600" cy="22860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56432"/>
            <a:ext cx="228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401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UV 노광 (포토마스크 밀착)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014216"/>
            <a:ext cx="228600" cy="22860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05072"/>
            <a:ext cx="228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9502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현상 (비노광부 PR 제거)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562856"/>
            <a:ext cx="228600" cy="22860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228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449884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에칭 (FeCl₃ 스프레이)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111496"/>
            <a:ext cx="228600" cy="22860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02352"/>
            <a:ext cx="228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50474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스트립 → 린스 → 검사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577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응용: PCB·리드프레임·스텐실·항공우주 부품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1691640"/>
          <a:ext cx="5362956" cy="475488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</a:tblGrid>
              <a:tr h="59436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FeCl₃ vs CuCl₂ 에칭액 비교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94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FeCl₃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CuCl₂ (산성)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9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(25~50 µm/min)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빠름 (40~80 µm/min)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어려움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용이 (HCl+O₂로 재생)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9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폐수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 (철·구리 이온)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비교적 간단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9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 규제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철 이온 처리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선호도 증가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점유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~70% (PCB 기준)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증가 추세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팩터 높이기: 4가지 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 = 에칭 깊이 ÷ 언더컷 거리 — 높을수록 정밀한 가공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EF(에칭팩터) = 에칭 깊이 ÷ 언더컷 거리    |    EF ≥ 3.0 → 고정밀 기준    |    목표: 설계 정밀도 확보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542032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2491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 양면 에칭 (Double-Side)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5042916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위아래에서 동시에 에칭하면 각 방향의 깊이가 절반으로 줄어들고,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측면의 언더컷도 절반으로 감소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EF가 약 2배 향상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두께 150µm 금속판에 효과적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1636" y="2542032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9924" y="2542032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6414516" y="272491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 스프레이 에칭 (Spray)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4516" y="3044952"/>
            <a:ext cx="5042916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담금(Immersion) 방식보다 신선한 에칭액을 지속 공급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소진된 에칭 부산물을 빠르게 제거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확산 단계 속도 향상 → EF 개선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대량 생산 PCB 라인의 표준 방식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66344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3. 아트워크 보정 (Artwork Compensation)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166360"/>
            <a:ext cx="5042916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CAD 설계 단계에서 예상 언더컷 분량만큼 포토마스크 패턴을 미리 수축 보정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실제 에칭 결과가 설계 치수와 일치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비용 없이 정밀도 향상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언더컷 거리를 사전 캘리브레이션으로 예측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1636" y="4663440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9924" y="466344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14516" y="484632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4. 온도/농도/시간 최적화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4516" y="5166360"/>
            <a:ext cx="5042916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과에칭(Over-etch)이 언더컷 주요 원인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온도 ±2°C 관리, 에칭 시간 타이머 제어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소형 쿠폰 사전 테스트로 최적점 확인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에칭 종점 검출(End-Point Detection) 활용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마스킹 재료 선택: 에칭 깊이가 기준이다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포토레지스트·크롬금·폴리실리콘·드라이필름 비교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64008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106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마스크 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HF 내성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해상도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에칭 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106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포토레지스트 (PR)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액상/드라이필름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낮음~중간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(&lt;1 µm 가능)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&lt;20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얕은 패턴에 경제적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노광 표준 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크롬/금 금속 마스크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(Cr/Au)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(서브마이크론)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&gt;100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반도체급 정밀 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스퍼터 증착 후 리프트오프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06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폴리실리콘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(Poly-Si)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&gt;200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MEMS 공정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깊은 트렌치에 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왁스/파라핀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(수작업 수십 µm)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예술·공예 에칭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비정밀 장식용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06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드라이 필름 레지스트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(DFR)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(~50 µm)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30~80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소량 맞춤 생산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롤투롤 라미네이션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 원칙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8756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깊이 &lt; 20µm → 포토레지스트(경제적)  |  20~80µm → 드라이 필름  |  &gt; 100µm → 크롬/금 또는 폴리실리콘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마스크 재료와 에칭액 호환성을 반드시 사전 확인한다. 호환성 불량은 마스크 박리·언더컷 과다로 이어진다.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55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HF는 무증상 피부침투로 심장을 멈출 수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불산의 특수 독성 — 일반 산과 근본적으로 다른 위험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0512"/>
            <a:ext cx="10881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경고: HF는 10~25% 저농도에서도 피부 접촉 후 수 시간이 지나야 통증이 시작된다 — 무증상 = 안전 아님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1672" cy="56692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1133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노출 경로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응급 처치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 접촉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지연성 화상·뼈 손상·심장 부정맥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F⁻ 이온이 칼슘·마그네슘 결합 → 혈중 Ca 급감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흐르는 물로 15분 세척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칼슘글루코네이트 2.5% 젤 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무증상이어도 즉시 응급실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눈 접촉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즉각적 화상·각막 손상·실명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대량의 물로 15분 이상 세척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안과 또는 응급실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흡입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폐부종·호흡 정지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신선한 공기로 이동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병원 (지연 시 사망 위험)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섭취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치명적 — 소량도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응급실 (구토 유발 금지)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834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필수 PPE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537667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방호 고글  |  네오프렌/부틸 고무 장갑 (라텍스 불가)  |  얼굴 보호대  |  화학 방호 앞치마  |  퓸 후드(환기 필수)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49834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5074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작업장 필수 비치 품목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080" y="537667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칼슘글루코네이트 2.5% 젤 — 피부 노출 시 즉시 도포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OSHA 기준: 8시간 평균 3 ppm / ACGIH 권고 0.5 ppm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손가락 한두 개 면적 노출로도 사망 사례 보고됨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폐액은 중화-침전-분리 3단계로 처리한다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불소 방류 기준 15 mg/L 준수 필수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922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HF 폐액 처리 흐름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272491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40864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 중화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Ca(OH)₂ 또는 CaCO₃ 첨가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HF + Ca(OH)₂ → CaF₂↓ + H₂O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898648"/>
            <a:ext cx="164592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224028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2240280"/>
            <a:ext cx="272491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2340864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 침전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93592" y="267919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CaF₂(형석) 침전 형성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 조정 (7~9 목표)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2898648"/>
            <a:ext cx="164592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224" y="224028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2240280"/>
            <a:ext cx="272491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340864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3. 분리·처리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01384" y="267919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여과 분리 → 탈수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불소 농도 15 mg/L 이하 확인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07424" y="2898648"/>
            <a:ext cx="164592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2" name="Shape 20"/>
          <p:cNvSpPr/>
          <p:nvPr/>
        </p:nvSpPr>
        <p:spPr>
          <a:xfrm>
            <a:off x="9272016" y="224028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2240280"/>
            <a:ext cx="272491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9409176" y="2340864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4. 인계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09176" y="2679192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 폐수 처리 업체 인계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재활용 가능 형태로 처리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50292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1005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FeCl₃ 구리 폐액 처리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1005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005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NaOH 투입 → Fe³⁺ + 3OH⁻ → Fe(OH)₃↓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수산화철 침전 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중금속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Cu²⁺ 포함 → 중금속 폐수 별도 분류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폐수 배출 시설 허가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005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친환경 대안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CuCl₂ 재생 시스템: HCl + O₂로 재산화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FeCl₃ 대비 폐수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6350">
            <a:solidFill>
              <a:srgbClr val="4A7B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국내 규제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7240" y="573328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불소 화합물: 「수질 및 수생태계 보전에 관한 법률」 — 방류 기준 15 mg/L 이하 (특정 수질 유해 물질)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중금속(Cu, Fe, Ni) 폐수: 「폐수 배출 시설 설치 허가」 필요  |  친환경 동향: CuCl₂ 재생 시스템 도입 가속화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2 핵심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화학적 에칭 — 기억해야 할 5가지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19072"/>
            <a:ext cx="457200" cy="7498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77393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습식 에칭 = 빠르고 저렴하지만 등방성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066544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산화→용해→확산 3단계. 유리 HF 최대 8µm/min, 구리 FeCl₃ 최대 50µm/min. 단, 등방성이므로 언더컷이 필연적으로 발생한다.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60320"/>
            <a:ext cx="457200" cy="7498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797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61518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소재별 에칭액 매칭이 핵심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구리→FeCl₃, 알루미늄→NaOH, 스테인리스→FeCl₃+HCl, 티타늄→HF+HNO₃. 에칭액과 소재의 조합이 맞지 않으면 에칭 자체가 불가하거나 부동태화된다.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01568"/>
            <a:ext cx="457200" cy="7498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210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45643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EF로 정밀도를 관리한다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74904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에칭팩터(EF) = 에칭 깊이 ÷ 언더컷. EF ≥ 3.0이 고정밀 기준. 양면 에칭·스프레이·아트워크 보정 3가지 방법으로 EF를 높인다.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42816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42816"/>
            <a:ext cx="457200" cy="7498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622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2976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HF 안전 최우선 — 무증상이어도 병원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59028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저농도 HF는 수 시간 무증상 후 심장 부정맥 유발 가능. 칼슘글루코네이트 젤 필수 비치, 노출 즉시 응급실.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084064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84064"/>
            <a:ext cx="457200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03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513892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폐액 처리는 법적 의무다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543153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불소 방류 기준 15 mg/L, 중금속 폐수는 배출 시설 허가 필요. 환경 규제 준수 = 공정 설계의 일부.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4360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016752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섹션 3: 습식 에칭은 옆으로도 깎이는 한계가 있다 — 반도체는 이 한계를 어떻게 넘었는가?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55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676656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에칭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건식으로 바뀌었나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840480"/>
            <a:ext cx="2286000" cy="274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828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섹션에서 배울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2331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습식 에칭의 한계와 건식 전환 이유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715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플라즈마의 개념과 에칭에서의 두 역할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30998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반응성 이온 에칭(RIE) 원리와 파라미터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34838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보쉬 프로세스(DRIE)로 깊이 파는 기술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8679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유도결합 플라즈마(ICP)와 원자층 에칭(ALE)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42519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소재별 에칭 가스 선택 원칙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636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3D NAND 극한 에칭의 도전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 공정에서 에칭은 수십 번 반복된다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FEOL → BEOL 공정 흐름 속 에칭의 위치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포토리소그래피가 "그림을 그리는" 단계라면, 에칭은 "실제로 깎는" 단계다.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0" cy="347472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128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FEOL — 트랜지스터 형성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4663440" cy="502920"/>
          </a:xfrm>
          <a:prstGeom prst="rect">
            <a:avLst/>
          </a:prstGeom>
          <a:solidFill>
            <a:srgbClr val="1A1F36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70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포토리소그래피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077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노광 → 현상 → 마스크 완성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264408"/>
            <a:ext cx="4663440" cy="502920"/>
          </a:xfrm>
          <a:prstGeom prst="rect">
            <a:avLst/>
          </a:prstGeom>
          <a:solidFill>
            <a:srgbClr val="FF6B6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826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에칭 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 / SiO₂ / Si₃N₄ 패터닝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877056"/>
            <a:ext cx="4663440" cy="502920"/>
          </a:xfrm>
          <a:prstGeom prst="rect">
            <a:avLst/>
          </a:prstGeom>
          <a:solidFill>
            <a:srgbClr val="1A1F36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95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이온 주입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1330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도핑 (Doping)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4489704"/>
            <a:ext cx="4663440" cy="502920"/>
          </a:xfrm>
          <a:prstGeom prst="rect">
            <a:avLst/>
          </a:prstGeom>
          <a:solidFill>
            <a:srgbClr val="1A1F36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079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박막 증착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7457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CVD / PVD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3749040"/>
            <a:ext cx="365760" cy="2743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3611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45352" y="2148840"/>
            <a:ext cx="5029200" cy="3474720"/>
          </a:xfrm>
          <a:prstGeom prst="rect">
            <a:avLst/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22128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BEOL — 배선 연결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28232" y="2651760"/>
            <a:ext cx="4663440" cy="502920"/>
          </a:xfrm>
          <a:prstGeom prst="rect">
            <a:avLst/>
          </a:prstGeom>
          <a:solidFill>
            <a:srgbClr val="1A1F36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670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층간 절연막 형성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29077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Low-k 유전체 증착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28232" y="3264408"/>
            <a:ext cx="4663440" cy="502920"/>
          </a:xfrm>
          <a:prstGeom prst="rect">
            <a:avLst/>
          </a:prstGeom>
          <a:solidFill>
            <a:srgbClr val="FF6B6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32826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에칭 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73952" y="3520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비아(Via) / 트렌치 형성 — Cu 배선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28232" y="3877056"/>
            <a:ext cx="4663440" cy="502920"/>
          </a:xfrm>
          <a:prstGeom prst="rect">
            <a:avLst/>
          </a:prstGeom>
          <a:solidFill>
            <a:srgbClr val="1A1F36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895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금속 증착 + 충전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3952" y="41330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 전기도금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28232" y="4489704"/>
            <a:ext cx="4663440" cy="502920"/>
          </a:xfrm>
          <a:prstGeom prst="rect">
            <a:avLst/>
          </a:prstGeom>
          <a:solidFill>
            <a:srgbClr val="1A1F36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45079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CMP 평탄화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73952" y="47457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화학기계적 연마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에칭은 FEOL·BEOL 모두에 필수. 공정 전체에서 수십 회 반복 — 웨이퍼 한 장이 완성되기까지 에칭만 30~50번 이상 진행된다.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습식 에칭의 한계: 3nm 선폭에서 옆으로 파이면 끝이다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언더컷(Undercut) vs 수직 측벽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48056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 에칭 (Wet Etching)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212848"/>
            <a:ext cx="109728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2212848"/>
            <a:ext cx="109728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487168"/>
            <a:ext cx="3291840" cy="10972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487168"/>
            <a:ext cx="365760" cy="4572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2487168"/>
            <a:ext cx="365760" cy="4572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42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언더컷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2542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언더컷 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밥그릇 단면 (등방성 에칭)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모든 방향으로 균등히 녹음 (등방성)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4531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마스크 아래까지 침식 → 언더컷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8371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선폭 ~수μm 이하에서 패턴 붕괴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2212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3nm 노드? → 원천적으로 불가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6052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환경 규제 / 폐액 처리 부담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7356" y="1691640"/>
            <a:ext cx="5362956" cy="448056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8796" y="17556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건식 에칭 (Dry Etching)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2212848"/>
            <a:ext cx="109728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2212848"/>
            <a:ext cx="109728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2487168"/>
            <a:ext cx="1097280" cy="10972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2487168"/>
            <a:ext cx="1097280" cy="10972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3310128"/>
            <a:ext cx="914400" cy="2926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2514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수직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90° 수직 측벽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0" y="4069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이온이 수직으로 쏟아짐 (이방성)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4531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측벽 침식 없음 → 수직 프로파일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8371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3~5nm 선폭 패터닝 가능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2212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진공 건식 공정 → 오염 최소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56052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가스/파워로 정밀 제어 가능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플라즈마는 이온과 전자가 뒤섞인 전기적 기체다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물질의 4번째 상태 — 에칭에서 두 역할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377440" cy="1371600"/>
          </a:xfrm>
          <a:prstGeom prst="rect">
            <a:avLst/>
          </a:prstGeom>
          <a:solidFill>
            <a:srgbClr val="4A7BF7"/>
          </a:solidFill>
          <a:ln w="635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55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분자 결합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단단히 고정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44368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377440" cy="1371600"/>
          </a:xfrm>
          <a:prstGeom prst="rect">
            <a:avLst/>
          </a:prstGeom>
          <a:solidFill>
            <a:srgbClr val="00D4AA"/>
          </a:solidFill>
          <a:ln w="635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55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 느슨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 가능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96128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52160" y="1691640"/>
            <a:ext cx="2377440" cy="1371600"/>
          </a:xfrm>
          <a:prstGeom prst="rect">
            <a:avLst/>
          </a:prstGeom>
          <a:solidFill>
            <a:srgbClr val="FFB020"/>
          </a:solidFill>
          <a:ln w="6350">
            <a:solidFill>
              <a:srgbClr val="1A1F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755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분자 자유 이동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 없음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47888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1691640"/>
            <a:ext cx="2377440" cy="1371600"/>
          </a:xfrm>
          <a:prstGeom prst="rect">
            <a:avLst/>
          </a:prstGeom>
          <a:solidFill>
            <a:srgbClr val="FF6B6B"/>
          </a:solidFill>
          <a:ln w="6350">
            <a:solidFill>
              <a:srgbClr val="1A1F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755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 분리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이온+전자 혼재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또는 에너지 증가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11091672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118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 속 플라즈마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번개 — 자연 방전 플라즈마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네온사인 — 유리관 안 플라즈마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형광등 — 수은 증기 이온화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태양 — 거대 플라즈마 덩어리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91672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26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에칭에서 플라즈마의 두 역할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19472"/>
            <a:ext cx="5394960" cy="1325880"/>
          </a:xfrm>
          <a:prstGeom prst="rect">
            <a:avLst/>
          </a:prstGeom>
          <a:solidFill>
            <a:srgbClr val="F7F8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1: 화학적 에칭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53492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반응성 라디칼(F·, Cl·)이 재료와 반응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 + 4F· → SiF₄(기체) → 펌프로 배출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화학 반응으로 재료 제거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45352" y="4919472"/>
            <a:ext cx="5394960" cy="1325880"/>
          </a:xfrm>
          <a:prstGeom prst="rect">
            <a:avLst/>
          </a:prstGeom>
          <a:solidFill>
            <a:srgbClr val="F7F8F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2: 물리적 스퍼터링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36792" y="53492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이온이 전기장에 가속 → 수직으로 충돌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운동에너지로 표면 원자를 직접 타격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이방성(수직 에칭) 확보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반응성 이온 에칭(RIE): 이온이 수직으로 떨어져 아래만 깎는다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 챔버 개념도 — RF 전원이 수직 이온 충돌을 만드는 원리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691640"/>
            <a:ext cx="5120640" cy="4572000"/>
          </a:xfrm>
          <a:prstGeom prst="rect">
            <a:avLst/>
          </a:prstGeom>
          <a:solidFill>
            <a:srgbClr val="F7F8FA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 챔버 (진공 + 에칭 가스)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1371600" cy="3657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가스 주입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SF₆ / Cl₂ / HBr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0" y="2651760"/>
            <a:ext cx="4572000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517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 영역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이온⁺ + 라디칼 + 전자⁻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0" y="3703320"/>
            <a:ext cx="36576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3703320"/>
            <a:ext cx="36576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3703320"/>
            <a:ext cx="36576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703320"/>
            <a:ext cx="36576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703320"/>
            <a:ext cx="36576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703320"/>
            <a:ext cx="36576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3703320"/>
            <a:ext cx="36576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 가속 영역 (Sheath) — 음극 바이어스로 수직 가속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4480560"/>
            <a:ext cx="457200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웨이퍼 (RF 전극 위 — 음극 바이어스 형성)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4983480"/>
            <a:ext cx="1371600" cy="3200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0" y="4983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진공 펌프 (부산물 배출)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52160" y="4343400"/>
            <a:ext cx="12801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전원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13.56 MHz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4572000"/>
            <a:ext cx="548640" cy="274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175564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원리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2240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가스 주입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SF₆, Cl₂ 등 반응성 가스 → 챔버 내부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23760" y="29535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플라즈마 생성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32278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에너지로 가스 이온화 → 이온+라디칼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23760" y="3666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음극 바이어스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394106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RF가 웨이퍼 쪽에 음(-) 전압 형성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23760" y="43799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수직 가속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23760" y="465429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양이온(+)이 음극에 끌려 수직으로 충돌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23760" y="50932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이방성 에칭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23760" y="53675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방향만 깎임 → 측벽 보존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RIE 공정 파라미터: 5가지 조절 노브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파라미터가 에칭 결과에 미치는 영향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468880"/>
                <a:gridCol w="2468880"/>
                <a:gridCol w="2743200"/>
              </a:tblGrid>
              <a:tr h="0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높이면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낮추면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RF 파워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50–1,000 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속도↑, 이온 손상↑, 플라즈마 밀도↑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속도↓, 손상↓, 선택비↑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속도와 손상 균형 조절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챔버 압력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10–500 mTorr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등방성↑, 충돌↑, 언더컷 가능성↑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이방성↑, 이온 직진성↑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수직 측벽이 필요하면 저압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재료별 선택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함량↑ → 화학적 에칭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 증가 → 물리적 스퍼터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Si=SF₆, SiO₂=C₄F₈, Al=Cl₂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유량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10–200 sccm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 물질 공급↑ → 균일성↑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부족 → 에칭 속도 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균일성 및 부산물 배출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기판 온도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-100 ~ +200°C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 속도↑, 패시베이션 약화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측벽 보호막 강화, 이방성↑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저온: 보쉬 프로세스 측벽 보호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1672" cy="594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6509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트레이드오프: RF 파워↑ → 속도 빠르지만 이온 손상↑ | 압력↓ → 이방성↑ 하지만 속도↓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가스 배합으로 화학적/물리적 비율을 조절하는 것이 RIE 엔지니어링의 핵심이다.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55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보쉬 프로세스: 에칭-보호 반복으로 깊이 판다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DRIE(깊은 반응성 이온 에칭) — SF₆ ↔ C₄F₈ 사이클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182880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에칭 (SF₆ 주입)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SF₆ → F· 라디칼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 + 4F· → SiF₄(기체) 방출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방향: 등방성 (위아래 + 옆으로 깎임)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⟲ 수백~수천 회 반복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029200" cy="182880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330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패시베이션 (C₄F₈ 주입)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C₄F₈ → 불소 폴리머 막 코팅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테플론(Teflon)-like 보호막 형성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측벽 + 바닥 모두 코팅됨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 진행에 따른 단면 변화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2359152"/>
            <a:ext cx="1280160" cy="1554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977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8388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9" name="Shape 17"/>
          <p:cNvSpPr/>
          <p:nvPr/>
        </p:nvSpPr>
        <p:spPr>
          <a:xfrm>
            <a:off x="7360920" y="2359152"/>
            <a:ext cx="1280160" cy="1554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2359152"/>
            <a:ext cx="457200" cy="365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3977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1사이클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7824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4" name="Shape 22"/>
          <p:cNvSpPr/>
          <p:nvPr/>
        </p:nvSpPr>
        <p:spPr>
          <a:xfrm>
            <a:off x="8778240" y="2359152"/>
            <a:ext cx="1280160" cy="1554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9720" y="2359152"/>
            <a:ext cx="457200" cy="8229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3977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3사이클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19556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18520" y="2176272"/>
            <a:ext cx="45720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95560" y="2359152"/>
            <a:ext cx="1280160" cy="1554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07040" y="2359152"/>
            <a:ext cx="457200" cy="13716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5560" y="3977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10사이클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4343400"/>
            <a:ext cx="5486400" cy="1417320"/>
          </a:xfrm>
          <a:prstGeom prst="rect">
            <a:avLst/>
          </a:prstGeom>
          <a:solidFill>
            <a:srgbClr val="F7F8F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44074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스캘럽(Scallop) 현상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47548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사이클마다 측벽에 작은 물결 무늬(scallop)가 남는다.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사이클 짧게 → 스캘럽 감소, 하지만 속도↓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DRIE 달성: 종횡비 100:1, 깊이 수백 μm 가능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유도결합 플라즈마(ICP): 플라즈마 밀도와 이온 에너지를 분리 제어한다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 한계 → ICP 해결책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214884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RIE의 한계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RF 전원으로 두 가지를 동시에 제어: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플라즈마 밀도 (에칭 속도 결정)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이온 에너지 (표면 손상 결정)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02920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RF 올리면 속도↑지만 손상도↑ — 동시 개선 불가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0644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해결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93992" y="1737360"/>
            <a:ext cx="4846320" cy="214884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18013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ICP의 해결책: 2개 RF 분리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85432" y="2212848"/>
            <a:ext cx="4663440" cy="5486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85432" y="22128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코일(위) RF → 플라즈마 밀도 독립 제어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85432" y="2834640"/>
            <a:ext cx="466344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85432" y="2834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하부 RF → 이온 에너지(바이어스) 독립 제어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5330952"/>
              </a:tblGrid>
              <a:tr h="0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RIE vs ICP 비교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플라즈마 밀도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10⁹–10¹⁰ cm⁻³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10¹¹–10¹² cm⁻³ (100배 이상)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이온 에너지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밀도와 연동됨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제어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기판 손상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상대적으로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(저에너지 이온)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응용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반도체 패터닝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MEMS, 3D NAND, FinFET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원자층 에칭(ALE): 원자 한 층씩 깎는 궁극의 정밀도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ALD의 반대 개념 — 2단계 자기제한 사이클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4572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ALD (원자층 증착) — 한 층씩 쌓기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62472" y="1737360"/>
            <a:ext cx="557784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6062472" y="17373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 (원자층 에칭) — 한 층씩 제거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 사이클 (2단계 반복)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212080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529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표면 개질 (Surface Modification)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273552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Cl₂ 등 반응 가스 흡착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최표면 원자층만 반응 (화학 결합 변경)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자기제한(Self-limiting): 더 깊이 침투 안 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가스 퍼지로 잔여 가스 제거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0644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28232" y="2788920"/>
            <a:ext cx="5212080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8529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제거 (Removal)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9672" y="3273552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 또는 중성 빔 조사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개질된 층만 휘발 (아래층은 건드리지 않음)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1사이클 = ~0.1 nm 제거 (원자 1층)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가스 퍼지 후 1단계로 반복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19472"/>
            <a:ext cx="11091672" cy="1298448"/>
          </a:xfrm>
          <a:prstGeom prst="rect">
            <a:avLst/>
          </a:prstGeom>
          <a:solidFill>
            <a:srgbClr val="F7F8F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ALE가 필수인가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309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3nm 이하 반도체에서는 원자 1~2층의 두께 오차가 소자 전기 특성에 치명적이다. RIE로는 이 수준의 제어가 불가능하다.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ALE는 현재 EUV 리소그래피와 함께 첨단 노드(3nm, 2nm)의 핵심 기술로 자리잡았다. 삼성 3nm GAA, TSMC N2 공정에 적용 중.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소재마다 에칭 가스가 다르다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반응하면 기체로 날아가는 화합물을 만드는 가스를 선택한다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14039" cy="205740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14039" cy="38404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514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실리콘 (Si)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5140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SF₆ / Cl₂ / HBr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2121408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SF₆: F 라디칼 → SiF₄ (빠름, 등방성)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Cl₂: SiCl₄ → 이방성 우수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HBr: 측벽 보호막 형성 → 고선택비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용도: DRAM 셀, FinFET 게이트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6999" y="1691640"/>
            <a:ext cx="3514039" cy="205740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6999" y="1691640"/>
            <a:ext cx="3514039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336999" y="1691640"/>
            <a:ext cx="3514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산화막 (SiO₂)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36999" y="1947672"/>
            <a:ext cx="35140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C₄F₈ / CHF₃ / CF₄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10151" y="2121408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불소화탄소계 가스 사용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CFₓ 라디칼 → Si-O 결합 파괴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C/F 비율로 선택비 조절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용도: 트렌치, 층간 절연막, 게이트 산화막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5358" y="1691640"/>
            <a:ext cx="3514039" cy="2057400"/>
          </a:xfrm>
          <a:prstGeom prst="rect">
            <a:avLst/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5358" y="1691640"/>
            <a:ext cx="3514039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125358" y="1691640"/>
            <a:ext cx="3514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질화막 (Si₃N₄)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5358" y="1947672"/>
            <a:ext cx="35140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CHF₃ + O₂ / CF₄ + O₂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98510" y="2121408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SiO₂와 선택적 에칭 가능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습식: 인산(H₃PO₄) 160°C — 선택비 10:1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건식: CHF₃ 비율 조정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용도: CMP 스톱층, 에칭 마스크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14039" cy="2057400"/>
          </a:xfrm>
          <a:prstGeom prst="rect">
            <a:avLst/>
          </a:prstGeom>
          <a:solidFill>
            <a:srgbClr val="F7F8F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31920"/>
            <a:ext cx="3514039" cy="3840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3514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알루미늄 (Al)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87952"/>
            <a:ext cx="35140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Cl₂ + BCl₃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" y="4361688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AlCl₃(휘발성)으로 변환 후 제거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주의: 에칭 후 수분에 즉시 부식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포토레지스트 즉시 제거 필수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용도: BEOL 배선 (Al 세대)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36999" y="3931920"/>
            <a:ext cx="3514039" cy="205740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6999" y="3931920"/>
            <a:ext cx="3514039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4336999" y="3931920"/>
            <a:ext cx="3514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 (Cu) — 다마신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36999" y="4187952"/>
            <a:ext cx="35140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에칭 ✗ → 주변 유전체 에칭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10151" y="4361688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CuClₓ 부산물이 상온에서 비휘발성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해결: 다마신 공정 — 트렌치 먼저 파고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Cu 채운 뒤 CMP로 평탄화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용도: 현대 BEOL 배선 표준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25358" y="3931920"/>
            <a:ext cx="3514039" cy="2057400"/>
          </a:xfrm>
          <a:prstGeom prst="rect">
            <a:avLst/>
          </a:prstGeom>
          <a:solidFill>
            <a:srgbClr val="F7F8FA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5358" y="3931920"/>
            <a:ext cx="3514039" cy="38404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2" name="Text 30"/>
          <p:cNvSpPr/>
          <p:nvPr/>
        </p:nvSpPr>
        <p:spPr>
          <a:xfrm>
            <a:off x="8125358" y="3931920"/>
            <a:ext cx="3514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텅스텐 (W)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25358" y="4187952"/>
            <a:ext cx="35140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SF₆ + Ar / NF₃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98510" y="4361688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WF₆(휘발성)으로 변환 후 제거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Ar은 물리적 스퍼터 보조 역할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용도: 비아 플러그, 게이트 전극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고내열성 금속 에칭에 유리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3D NAND는 종횡비 100:1의 극한 에칭이다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머리카락 굵기 홀을 6m 깊이로 파는 비율 — ARDE와 극저온 대응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217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64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직경 ~100nm 홀 × 깊이 6μm+ = 종횡비 60:1~100:1   |   머리카락(70μm) 굵기 홀을 6m 깊이로 파는 것과 같은 비율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5029200" cy="3383280"/>
          </a:xfrm>
          <a:prstGeom prst="rect">
            <a:avLst/>
          </a:prstGeom>
          <a:solidFill>
            <a:srgbClr val="F7F8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511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 NAND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2743200" cy="2011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172968"/>
            <a:ext cx="274320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419856"/>
            <a:ext cx="2743200" cy="2011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666744"/>
            <a:ext cx="274320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913632"/>
            <a:ext cx="2743200" cy="2011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274320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407408"/>
            <a:ext cx="2743200" cy="2011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654296"/>
            <a:ext cx="274320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산화막/질화막 교대 적층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(ONON 스택)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0" y="2926080"/>
            <a:ext cx="274320" cy="197510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4560" y="2926080"/>
            <a:ext cx="274320" cy="197510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56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←홀→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직경 ~100nm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5650992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300mm 웨이퍼 1장 = 약 100조(10¹⁴)개 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2487168"/>
            <a:ext cx="5788152" cy="3383280"/>
          </a:xfrm>
          <a:prstGeom prst="rect">
            <a:avLst/>
          </a:prstGeom>
          <a:solidFill>
            <a:srgbClr val="F7F8F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551176"/>
            <a:ext cx="5605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도전 과제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2971800"/>
            <a:ext cx="5605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ARDE (종횡비 의존 에칭)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3264408"/>
            <a:ext cx="5605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홀이 깊어질수록 에칭이 느려짐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가스·이온 공급 감소 → 홀마다 깊이 편차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불량 메모리 셀 발생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931920"/>
            <a:ext cx="5605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극저온 에칭 대응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4224528"/>
            <a:ext cx="5605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-100°C 이하 에칭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측벽 보호막 형성 강화 → 수직 프로파일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속도 2.5배 향상 효과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892040"/>
            <a:ext cx="5605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플라즈마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5184648"/>
            <a:ext cx="5605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이온과 라디칼 비율을 시간에 따라 조절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ARDE 억제, 균일 깊이 확보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3 핵심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건식 에칭 — 나노 세계를 가능하게 한 기술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457200" cy="20116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801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건식 에칭 = 이방성 확보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212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 에칭의 "옆으로도 깎이는" 한계를 극복. 이온이 수직으로 충돌하여 수직 측벽 실현 → 나노미터 패터닝 가능.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1636" y="1691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1636" y="1691640"/>
            <a:ext cx="457200" cy="2011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231636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4556" y="1801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 → ICP → ALE 진화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4556" y="2212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RIE(이방성 기본 확보) → ICP(밀도·에너지 분리 제어, 고속+저손상) → ALE(원자층 단위 0.1nm 제어). 점점 더 정밀해지는 방향.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457200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087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보쉬 프로세스 = 깊이 파는 핵심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498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SF₆ 에칭 + C₄F₈ 패시베이션 반복. 종횡비 100:1 이상의 깊은 홀/트렌치 실현. MEMS, 3D NAND의 핵심.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1636" y="3977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1636" y="3977640"/>
            <a:ext cx="457200" cy="20116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6231636" y="4617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4556" y="4087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소재별 가스 선택이 핵심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34556" y="4498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Si=SF₆/HBr, SiO₂=C₄F₈, Al=Cl₂+BCl₃, Cu=다마신 우회. "반응하면 기체로 날아가는 화합물" 만드는 가스를 선택한다.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053328"/>
            <a:ext cx="11091672" cy="5486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6089904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다음: RIE에서 이온 충돌이 핵심이었다. 이 물리적 메커니즘을 극대화하면? → 섹션 4: 물리적 에칭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676656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에칭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입자와 빛으로 깎는다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840480"/>
            <a:ext cx="2286000" cy="2743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828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섹션에서 배울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2331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화학적 vs 물리적 에칭의 근본 차이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715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스퍼터 에칭: Ar 이온으로 어떤 재료든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30998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집속이온빔(FIB): 갈륨 이온 바늘 조각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34838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레이저 에칭: 펄스 길이가 품질을 결정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8679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나노초 / 피코초 / 펨토초 비교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42519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CO₂ / 파이버 / 엑시머 / 펨토초 레이저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636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펨토초의 유리 내부 가공과 LIPSS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502005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샌드블라스팅 vs 전기화학 가공(ECM)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화학적 vs 물리적: 녹이냐 두드리냐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 원리의 근본적 차이 — 5가지 비교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52628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62956" cy="4572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화학적 에칭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식초가 달걀껍데기를 서서히 녹이듯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화학물질이 재료와 반응하여 용해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 원리: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반응 (용해·분해)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방향성: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520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등방성 — 모든 방향으로 파임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69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선택성: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4069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재료별 반응성 차이 활용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환경: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4617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액체 화학약품 (습식)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66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규모: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5166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일괄 처리에 유리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691640"/>
            <a:ext cx="5362956" cy="452628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7356" y="1691640"/>
            <a:ext cx="5362956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277356" y="169164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에칭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68796" y="222199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샌드블라스터로 돌에 모래를 쏘듯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운동에너지로 표면 원자를 때려 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68796" y="292608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9" name="Text 27"/>
          <p:cNvSpPr/>
          <p:nvPr/>
        </p:nvSpPr>
        <p:spPr>
          <a:xfrm>
            <a:off x="6368796" y="2971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 원리: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40396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입자 충돌 (운동에너지)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68796" y="347472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2" name="Text 30"/>
          <p:cNvSpPr/>
          <p:nvPr/>
        </p:nvSpPr>
        <p:spPr>
          <a:xfrm>
            <a:off x="6368796" y="3520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방향성: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40396" y="3520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이방성 — 입자 방향으로만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68796" y="402336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5" name="Text 33"/>
          <p:cNvSpPr/>
          <p:nvPr/>
        </p:nvSpPr>
        <p:spPr>
          <a:xfrm>
            <a:off x="6368796" y="4069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선택성: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40396" y="4069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비교적 재료 무관 가공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68796" y="457200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8" name="Text 36"/>
          <p:cNvSpPr/>
          <p:nvPr/>
        </p:nvSpPr>
        <p:spPr>
          <a:xfrm>
            <a:off x="6368796" y="4617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환경: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40396" y="4617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건식 (진공 또는 가스)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68796" y="5120640"/>
            <a:ext cx="5120640" cy="274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1" name="Text 39"/>
          <p:cNvSpPr/>
          <p:nvPr/>
        </p:nvSpPr>
        <p:spPr>
          <a:xfrm>
            <a:off x="6368796" y="5166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규모: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40396" y="5166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패터닝에 강점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스퍼터 에칭: Ar 이온으로 어떤 재료든 깎는다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당구공 충돌 원리 — 스퍼터링 수율(S)과 응용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2743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당구공 충돌 비유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Ar⁺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83080" y="2487168"/>
            <a:ext cx="457200" cy="2743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22402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A7B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22402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A7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22402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A7BF7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26974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A7B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017520" y="26974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A7BF7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17830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16002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↑ 튕겨남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이온(Ar⁺) → 정지 원자(표면) 충돌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표면 원자가 튕겨나옴 = 스퍼터링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02920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360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아르곤(Ar)인가?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5604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화학적으로 불활성 → 표면 재료와 반응 안 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원자량 40 amu → 충돌 효율 높음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지구 대기 ~1% → 저렴하고 구하기 쉬움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52160" y="18013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스퍼터링 수율 (S)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130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= 방출된 표면 원자 수 / 입사 이온 수</a:t>
            </a:r>
            <a:endParaRPr lang="en-US" sz="10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46888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011680"/>
              </a:tblGrid>
              <a:tr h="0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 (Ar⁺ 500eV)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실리콘 (Si)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~0.5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알루미늄 (Al)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연한 금속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 (Cu)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~2.3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 깎임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 (Au)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~2.8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귀금속 중 최고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텅스텐 (W)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~0.6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고경도 내화금속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852160" y="4572000"/>
            <a:ext cx="5486400" cy="1600200"/>
          </a:xfrm>
          <a:prstGeom prst="rect">
            <a:avLst/>
          </a:prstGeom>
          <a:solidFill>
            <a:srgbClr val="F7F8FA"/>
          </a:solidFill>
          <a:ln w="10160">
            <a:solidFill>
              <a:srgbClr val="9CA3A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46360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소재 무관 · 청결한 표면 · 조성 변화 없음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943600" y="4983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단점: 느린 속도 · 재증착(Redeposition) · 낮은 선택비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43600" y="53492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응용: MRAM 자성 소자 · 귀금속(Pt, Ir) 패터닝 · TEM 시편 제작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55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집속이온빔(FIB): 갈륨 이온 바늘로 나노 조각한다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붓 vs 바늘 — 5~10nm 분해능의 나노 가공 도구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2286000"/>
          </a:xfrm>
          <a:prstGeom prst="rect">
            <a:avLst/>
          </a:prstGeom>
          <a:solidFill>
            <a:srgbClr val="F7F8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넓은빔 vs FIB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1828800" cy="13716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76272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(BIB)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전면 에칭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붓으로 넓게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176272"/>
            <a:ext cx="365760" cy="13716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3291840"/>
            <a:ext cx="164592" cy="256032"/>
          </a:xfrm>
          <a:prstGeom prst="roundRect">
            <a:avLst>
              <a:gd name="adj" fmla="val 27778"/>
            </a:avLst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나노 조각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3611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바늘 끝으로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029200" cy="2103120"/>
          </a:xfrm>
          <a:prstGeom prst="rect">
            <a:avLst/>
          </a:prstGeom>
          <a:solidFill>
            <a:srgbClr val="F7F8F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605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갈륨(Ga⁺) 이온 소스 원리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5079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Ga 금속을 텅스텐 바늘 끝에 녹여 유지 (융점 29.8°C)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강한 전기장(10⁸ V/m)으로 Ga⁺ 이온 추출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2760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전자기 렌즈로 이온빔 집속 → 빔 지름 5~10 nm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6601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Ga⁺ (가속 5~30 kV) → 표면 충돌 → 국소 스퍼터 에칭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18013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FIB 핵심 응용 분야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2148840"/>
            <a:ext cx="54864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2128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회로 수정 (Circuit Edit)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51460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칩 배선을 직접 끊거나 연결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설계 검증 · CPU 디버깅 (Intel 활용)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3172968"/>
            <a:ext cx="54864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2369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단면 분석 (Cross-Section)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353872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SEM-FIB 복합 장비로 소자 단면 절개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나노미터 정밀도 내부 구조 관찰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4197096"/>
            <a:ext cx="54864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426110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 시편 제작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456285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위치의 초박막(~100nm) 라멜라 제작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투과전자현미경 분석용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5221224"/>
            <a:ext cx="54864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5285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마스크 리페어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558698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EUV 포토마스크 결함을 nm 단위 수정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수억짜리 마스크 재생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에칭의 핵심: 펄스 길이가 품질을 결정한다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나노초(열 주도) vs 펨토초(비열적 냉각 어블레이션)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338328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21208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나노초(ns) 레이저 — 느린 다리미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시간: 10⁻⁹ s (1 ns = 10억분의 1초)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4937760" cy="32918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7860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에너지 흡수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62656"/>
            <a:ext cx="4937760" cy="32918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6265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전자 여기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4937760" cy="32918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4670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격자 진동 (열 발생)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30752"/>
            <a:ext cx="4937760" cy="32918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307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온도 상승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4937760" cy="32918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용융 · 기화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590288"/>
            <a:ext cx="493776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902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넓은 열 영향부(HAZ) · 재주조층 · 버(Burr)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28232" y="1737360"/>
            <a:ext cx="5212080" cy="338328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1737360"/>
            <a:ext cx="521208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1737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펨토초(fs) 레이저 — 순간 번개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221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시간: 10⁻¹⁵ s (1 fs = 1,000조분의 1초)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2578608"/>
            <a:ext cx="4937760" cy="32918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57860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극초단 펄스 → 전자에 에너지 집중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2962656"/>
            <a:ext cx="4937760" cy="32918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96265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전자 온도만 수만 K (격자는 차가움)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3346704"/>
            <a:ext cx="4937760" cy="32918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34670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열 확산 시간보다 펄스가 짧음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3730752"/>
            <a:ext cx="4937760" cy="32918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7307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다광자 흡수 / 쿨롱 폭발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4114800"/>
            <a:ext cx="4937760" cy="32918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11480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재료 직접 기화 · 이온화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4590288"/>
            <a:ext cx="493776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45902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HAZ 최소 · 재주조층 없음 · 날카로운 경계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212080"/>
            <a:ext cx="11091672" cy="502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5248656"/>
            <a:ext cx="10972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나노초 = 느린 다리미 → 열이 퍼져 주변이 눌림  |  펨토초 = 순간 번개 → 닿는 순간만 작용하고 열이 퍼지기 전에 끝남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펄스 길이별 비교: 나노초, 피코초, 펨토초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범위 / 열적 특성 / 정밀도 / 열 영향부 / 대표 응용</a:t>
            </a:r>
            <a:endParaRPr lang="en-US" sz="1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920240"/>
                <a:gridCol w="1371600"/>
                <a:gridCol w="1828800"/>
                <a:gridCol w="2313432"/>
              </a:tblGrid>
              <a:tr h="0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 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열적 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영향부(HAZ)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응용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나노초 (ns)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10⁻⁹ 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(1~수백 ns)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주도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(용융·기화)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±수십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수십~수백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마킹,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조각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피코초 (ps)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10⁻¹² 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(0.1~100 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부분 열 축적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열-기계적 어블레이션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±수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미세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(fs)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10⁻¹⁵ 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(10~900 fs)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비열적 (콜드)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쿨롱 폭발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±수십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&lt;1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 패터닝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 내부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11091672" cy="15087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7274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선택 기준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5056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 우선: 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48840" y="50566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나노초 — 빠르고 저렴. 마킹, 조각, 대량 처리에 최적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54041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균형: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148840" y="540410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피코초 — 중간 정밀도. 반도체 마이크로 가공, 정밀 절단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57515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정밀도 우선: 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148840" y="575157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— HAZ 최소. 의료기기, 나노 패터닝, 유리 내부 가공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55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종류별 특성과 용도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/ 파이버 / 엑시머 / 펨토초 — 용도에 맞는 파장 선택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08676" cy="224028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08676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190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레이저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 10.6 μm (적외선)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240280"/>
            <a:ext cx="5212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유리, 아크릴, 폴리머에 잘 흡수됨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금속은 반사율 높아 비효율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열적 에칭 → 서리낀 텍스처 마킹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응용: 유리 마킹, 가죽 패터닝, 아크릴 절단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출력: 수십 W ~ 수 kW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1636" y="1691640"/>
            <a:ext cx="5408676" cy="224028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1636" y="1691640"/>
            <a:ext cx="5408676" cy="5029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6323076" y="17190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레이저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3076" y="196596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 1.064 μm (근적외선)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1364" y="2240280"/>
            <a:ext cx="5212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금속 흡수율 높음 → 금속 가공 최적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집광 스폿 작음 → 에너지 밀도 높음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수명 25,000시간+, 유지보수 불필요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응용: SUS/Al/Cu 마킹·에칭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MOPA 타입: 펄스 폭 4~200 ns 조절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408676" cy="2240280"/>
          </a:xfrm>
          <a:prstGeom prst="rect">
            <a:avLst/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60520"/>
            <a:ext cx="5408676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879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엑시머 레이저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 193~351 nm (UV)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4709160"/>
            <a:ext cx="5212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UV 광자 에너지 높음 → 광분해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분자 결합을 직접 끊음 (화학적 분해)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HAZ 거의 없음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응용: 폴리이미드(PI) 가공, 의료 카테터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EUV 리소그래피 광원 전 세대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1636" y="4160520"/>
            <a:ext cx="5408676" cy="224028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1636" y="4160520"/>
            <a:ext cx="5408676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6323076" y="41879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레이저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3076" y="44348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 800 nm / 1030 nm (Ti:사파이어 / Yb)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1364" y="4709160"/>
            <a:ext cx="5212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비열적 콜드 어블레이션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HAZ 최소 · 재주조층 없음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유리 내부 가공 가능 (3D)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응용: 나노 패터닝, 스텔스 다이싱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LIPSS 생성, 의료기기 정밀 가공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펨토초 레이저는 유리 내부도 가공할 수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손상 없이 내부 균열/기포 생성 — 스텔스 다이싱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347472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 내부 가공 원리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2212848"/>
            <a:ext cx="36576" cy="548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빔 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3291840" cy="18288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 (SiO₂)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3520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40416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내부 초점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균열/기포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5285232"/>
            <a:ext cx="5029200" cy="822960"/>
          </a:xfrm>
          <a:prstGeom prst="rect">
            <a:avLst/>
          </a:prstGeom>
          <a:solidFill>
            <a:srgbClr val="F7F8FA"/>
          </a:solidFill>
          <a:ln w="1016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3095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 열전도율 ~1 W/m·K (알루미늄의 1/200)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열이 퍼지지 않고 집중 → 내부 국소 가공 가능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1801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 사례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2212848"/>
            <a:ext cx="548640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2768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마킹 (Subsurface Engraving)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596896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초점을 내부에 맞춰 표면 손상 없이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 균열/기포 어레이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크리스탈 기념품, 보안 마킹, 의료기기 인식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511296"/>
            <a:ext cx="548640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5753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스텔스 다이싱 (Stealth Dicing)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895344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웨이퍼 내부에 균열선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외력으로 깔끔하게 절단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블레이드 다이싱 대비 파편·오염 감소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4809744"/>
            <a:ext cx="548640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8737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 포토닉 구조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5193792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 내부에 3차원 광도파로 패턴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광통신, AR 광학, 센서 칩 응용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에칭 방법으로는 구현 불가능한 영역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LIPSS: 레이저가 만드는 뜻밖의 나노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유도 주기적 표면 구조 — 불량에서 의도적 활용으로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2331720"/>
          </a:xfrm>
          <a:prstGeom prst="rect">
            <a:avLst/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LIPSS 생성 원리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Laser-Induced Periodic Surface Structures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빔과 표면에서 형성된 표면 전자기파(surface electromagnetic wave)의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간섭 → 주기적 세기 패턴 → 재료가 주기적으로 제거 → 나노 줄무늬(ripple)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521208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7880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바닷가에서 파도가 밀려오면 모래사장에 규칙적인 파문이 생기듯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레이저파와 표면파의 간섭이 규칙적인 나노 패턴을 만든다.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5212080" cy="1143000"/>
          </a:xfrm>
          <a:prstGeom prst="rect">
            <a:avLst/>
          </a:prstGeom>
          <a:solidFill>
            <a:srgbClr val="F7F8FA"/>
          </a:solidFill>
          <a:ln w="1016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47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특성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주기: 레이저 파장의 0.5~1배 (수백 nm)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형성 조건: 다중 펄스 조사 + 적절한 플루언스(J/cm²)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출처: Springer Applied Physics A, 2025 (Cr/Ag 박막 LIPSS 연구)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801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LIPSS 응용 분야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212848"/>
            <a:ext cx="54864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2768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반사방지 구조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59689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나노 주기 구조로 빛 반사 억제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반사율 95% → 0.1% 수준까지 감소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태양전지, 광학 렌즈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3291840"/>
            <a:ext cx="54864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3558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친수/소수성 제어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67588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에너지를 나노 구조로 조절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생의료 임플란트 표면 기능화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세포 부착성 향상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4370832"/>
            <a:ext cx="54864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434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마찰 제어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475488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윤활 특성 조절 — 자동차 엔진 부품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피스톤/실린더 표면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마찰계수 최대 40% 감소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5449824"/>
            <a:ext cx="548640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55138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구조색 (착색)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583387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표면에 나노 구조로 구조색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페인트 없이 색상 구현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위조 방지 보안 마킹에 활용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샌드블라스팅과 전기화학 가공(ECM)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저비용 대면적 vs 초정밀 무마모 — 서로 다른 니치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572000"/>
          </a:xfrm>
          <a:prstGeom prst="rect">
            <a:avLst/>
          </a:prstGeom>
          <a:solidFill>
            <a:srgbClr val="F7F8F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62956" cy="4572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샌드블라스팅 (연마 분사)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원리: 압축공기(0.3~0.8 MPa)로 연마 입자를 고속 분사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표면과 충돌 → 미세 파편 제거</a:t>
            </a:r>
            <a:endParaRPr lang="en-US" sz="10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920240"/>
              </a:tblGrid>
              <a:tr h="0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연마재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연마재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경도(Mohs)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모래(SiO₂)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6.5–7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저렴, 유리 분진 유해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알루미나(Al₂O₃)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고경도, 재사용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글라스 비드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5.5–6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구형, 부드러운 피닝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탄화규소(SiC)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9–9.5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초경도 재료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48646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유리 무광 텍스처, 금속 앵커 패턴, 도막 제거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5212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정밀도: 0.5mm 이하 구현 어려움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55595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저비용 · 대면적 처리 · 장비 간단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59070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단점: 분진 관리 필수 · 깊이 제어 어려움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77356" y="1691640"/>
            <a:ext cx="5362956" cy="457200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7356" y="1691640"/>
            <a:ext cx="5362956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3"/>
          <p:cNvSpPr/>
          <p:nvPr/>
        </p:nvSpPr>
        <p:spPr>
          <a:xfrm>
            <a:off x="6277356" y="169164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전기화학 가공 (ECM)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68796" y="22219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원리: 공작물(+) / 공구(-) / 전해질 용액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전기분해로 금속 원자를 이온화하여 제거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 → Fe²⁺ + 2e⁻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68796" y="2999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공구 마모 없음: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97596" y="2999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공구가 직접 접촉 안 함 → 복잡 형상 무한 반복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68796" y="3502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잔류 응력 없음: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97596" y="3502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절삭력 없음 → 내부 응력 발생 안 함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68796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무관: 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97596" y="40050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경도 관계없이 전도성 금속이면 가공 가능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68796" y="4507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97596" y="4507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전도성 재료만 가능 · 전해질 폐수 처리 필요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68796" y="50474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항공기 터빈 블레이드 · 의료기기 임플란트 · 금형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55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펨토초 레이저의 "열 없음"은 조건부다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고반복률에서 열 축적 발생 — 반복률과 플루언스 동시 관리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Critic 지적: "펨토초 = HAZ 없음"은 단순화된 표현. 고반복률(&gt;MHz) 조건에서는 열 축적이 발생한다.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5212080" cy="2743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축적 메커니즘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레이저의 단일 펄스는 비열적이다.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반복률이 MHz 이상이 되면: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다음 펄스가 오기 전에 이전 펄스의 열이 완전히 식지 않음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펄스마다 소량의 열이 축적됨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축적 열 → HAZ 발생 가능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"펄스 에너지"와 "반복률"을 동시에 제어해야 한다</a:t>
            </a:r>
            <a:endParaRPr lang="en-US" sz="10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450592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828800"/>
                <a:gridCol w="2011680"/>
              </a:tblGrid>
              <a:tr h="0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반복률별 열 축적 특성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 간격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축적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100 kHz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 10 μs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(충분히 식음)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펨토초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 kHz ~ 1 MHz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1~10 μs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(조건 의존)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플루언스 낮춰 보정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 1 MHz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1 μs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(주의 필요)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버스트 모드 또는 저출력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285232"/>
            <a:ext cx="11091672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가이드라인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5650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열에 민감한 재료(유리, 얇은 박막) + 고반복률 가공 시 → 플루언스(J/cm²) + 반복률을 함께 모니터링. "펨토초 = 무조건 안전"이라는 가정은 피해야 한다.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4 핵심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에칭 — 재료를 가리지 않는 가공 기술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457200" cy="20116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801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무관 가공 가능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212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반응 없이 운동에너지(이온)나 빛(레이저)으로 어떤 재료든 에칭. 귀금속, 세라믹, 유리 모두 가능. 단, 재증착과 낮은 선택비 주의.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1636" y="1691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1636" y="1691640"/>
            <a:ext cx="457200" cy="2011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231636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4556" y="1801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레이저는 펄스 길이 선택이 핵심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4556" y="2212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 = 빠르지만 HAZ 있음 / ps = 중간 / fs = HAZ 최소, 유리 내부 가공·LIPSS 등 독특한 응용. 단, 고반복률에서는 열 축적 발생.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457200" cy="2011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087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재증착 / HAZ가 주요 실패 모드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498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스퍼터 에칭의 재증착(떨어진 원자가 다시 붙음), 나노초 레이저의 HAZ/재주조층이 품질을 떨어뜨리는 주요 원인.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1636" y="3977640"/>
            <a:ext cx="5408676" cy="2011680"/>
          </a:xfrm>
          <a:prstGeom prst="rect">
            <a:avLst/>
          </a:prstGeom>
          <a:solidFill>
            <a:srgbClr val="F7F8FA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1636" y="3977640"/>
            <a:ext cx="457200" cy="20116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6231636" y="4617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4556" y="4087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FIB · ECM은 특수 정밀 공구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34556" y="449884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FIB: 마스크 없이 나노 가공, 반도체 디버깅에 필수. ECM: 공구 마모 없음, 잔류 응력 없음 — 항공·의료 부품에 활용.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053328"/>
            <a:ext cx="11091672" cy="5486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6089904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다음: 화학적 · 반도체 · 물리적 에칭 모두 배웠다. 내 상황에는 어떤 방식을 써야 하는가? → 섹션 5: 비교와 선택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676656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상황에 맞는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방식 고르기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3840480"/>
            <a:ext cx="3657600" cy="91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0233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배운 모든 에칭 방식을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비교하고,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상황에 맞는 방식을 선택한다.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섹션에서 다루는 내용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2103120"/>
            <a:ext cx="411480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소재별 에칭 방식 적합도 매트릭스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2834640"/>
            <a:ext cx="411480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880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규모 비교: 수백만원에서 수십억원까지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3566160"/>
            <a:ext cx="411480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방식별 Top-3 실패 모드와 예방법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0" y="4297680"/>
            <a:ext cx="411480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방식 의사결정 흐름도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소재별 에칭 방식 적합도 매트릭스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◎ 최적  ○ 가능  △ 제한적  × 부적합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55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11430000" cy="45720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02920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습식 화학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RIE/건식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스퍼터/FIB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샌드블라스팅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소다라임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HF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 CO₂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보로실리케이트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BOE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 CO₂/UV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퓨즈드 실리카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HF 49%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펨토초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FeCl₃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 비휘발성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 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알루미늄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NaOH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Cl₂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 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스테인리스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 FeCl₃+HCl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 (반도체)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 KOH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RIE/DRIE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귀금속 (Pt, Au)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◎ 스퍼터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 펨토초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티타늄: 습식 ○ HF+HNO₃ / 스퍼터 ○ / 레이저 ○  |  SiO₂: 습식 ◎ / RIE ◎ — 행 통합 표시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비용 규모 비교: 수백만원에서 수십억원까지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초기 "감잡기"용 — 실제 도입 시 벤더 견적 필수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55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11430000" cy="448056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02920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장비 투자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소모품/운영(월)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폐수·후처리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습식 에칭 (소규모)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수십~수백만원/년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진입 장벽 가장 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습식 에칭 (산업 자동화)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수천만원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수천만원/년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PCB 대량 생산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샌드블라스팅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분진 처리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물리적 에칭 최저비용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수백만~수천만원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 (건식)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비금속·유리 마킹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레이저 (나노초)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수천만원~1억원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 (건식)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마킹·에칭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RIE (연구용)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수천만~1억원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(가스 스크러버)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대학/연구소 클린룸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수억~수십억원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 정밀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ICP-RIE / DRIE / ALE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수억~수십억원+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수천만원 이상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(가스 처리)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팹 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FIB(집속이온빔): 수억~수십억원, 소모품 수백만원/월 — R&amp;D·단면분석 특화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방식별 Top-3 실패 모드와 예방법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실패는 대부분 전후 공정 연결 고리에서 발생한다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55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1247120" cy="3200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습식 화학 에칭</a:t>
            </a:r>
            <a:endParaRPr lang="en-US" sz="12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11247120" cy="118872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과에칭(Over-etch)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시간 초과·온도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타이머+온도 ±2°C 관리, 쿠폰 사전 테스트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언더컷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 팩터 미달·마스크 접착 불량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양면에칭·스프레이 방식·아트워크 보정 설계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마스크 박리·손상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에칭액이 마스크 공격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마스크-에칭액 호환성 확인, 라미네이션 품질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017520"/>
            <a:ext cx="112471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044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RIE·건식 에칭 (반도체)</a:t>
            </a:r>
            <a:endParaRPr lang="en-US" sz="120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11247120" cy="118872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보잉(Bowing)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측벽 보호막 부족·이온 산란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C₄F₈ 비율 증가, 저온 운전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노칭(Notching)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바닥에서 이온 반사·과집중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압력 조절, 에칭 종점 검출(EPD) 활용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ARDE(종횡비 의존 에칭)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좁은 구멍에 가스·이온 공급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보쉬 사이클 최적화, 더미 패턴, 펄스 플라즈마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4617720"/>
            <a:ext cx="11247120" cy="320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6451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물리적 에칭 (스퍼터·FIB·레이저)</a:t>
            </a:r>
            <a:endParaRPr lang="en-US" sz="1200" dirty="0"/>
          </a:p>
        </p:txBody>
      </p:sp>
      <p:graphicFrame>
        <p:nvGraphicFramePr>
          <p:cNvPr id="15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937760"/>
          <a:ext cx="11247120" cy="118872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재증착(Redeposition)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제거 원자가 측벽에 재부착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시료 각도 조절, 가스 보조(CAIBE) 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영향부(HAZ) —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나노초 레이저의 열 확산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레이저 전환, 반복률·플루언스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이온빔 손상·Ga 오염 — FIB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Ga⁺ 이온 시료 내 주입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Xe⁺ PFIB 사용, 저에너지 마무리 패스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 방식 의사결정 흐름도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→ 목적 → 규모/허용조건 3단계로 최적 방식을 선택한다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55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5087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A1F3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방식 선택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05856" y="2011680"/>
            <a:ext cx="18288" cy="2286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Shape 7"/>
          <p:cNvSpPr/>
          <p:nvPr/>
        </p:nvSpPr>
        <p:spPr>
          <a:xfrm>
            <a:off x="5660136" y="2130552"/>
            <a:ext cx="109728" cy="1097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240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4A7BF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대상 소재는?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34440" y="2482596"/>
            <a:ext cx="3520440" cy="1828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174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유리·세라믹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05856" y="2743200"/>
            <a:ext cx="18288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0136" y="3136392"/>
            <a:ext cx="109728" cy="1097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743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2482596"/>
            <a:ext cx="640080" cy="1828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2174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웨이퍼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25296" y="2491740"/>
            <a:ext cx="18288" cy="7543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9576" y="3136392"/>
            <a:ext cx="109728" cy="1097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6176" y="2491740"/>
            <a:ext cx="18288" cy="7543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3136392"/>
            <a:ext cx="109728" cy="1097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2461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0D4AA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목적은?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0D4AA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생산 규모는?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32461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0D4AA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선폭 요구는?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25296" y="3749040"/>
            <a:ext cx="18288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9576" y="4142232"/>
            <a:ext cx="109728" cy="1097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2519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대면적/장식 → 습식 HF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샌드블라스팅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마이크로채널 → BOE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나노/내부 → 펨토초 레이저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2519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97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대면적/장식 → 습식 HF 또는 샌드블라스팅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마이크로채널(&lt;100µm) → BOE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나노 패터닝 → 펨토초 레이저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마킹/로고 → CO₂ 레이저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05856" y="3749040"/>
            <a:ext cx="18288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0136" y="4142232"/>
            <a:ext cx="109728" cy="1097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6" name="Shape 34"/>
          <p:cNvSpPr/>
          <p:nvPr/>
        </p:nvSpPr>
        <p:spPr>
          <a:xfrm>
            <a:off x="3749040" y="42519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297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대량(PCB/리드프레임) → 화학 PCE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FeCl₃ 또는 CuCl₂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소량 정밀+HAZ 허용 → 파이버 레이저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소량 정밀+HAZ 불허 → 펨토초/ECM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66176" y="3749040"/>
            <a:ext cx="18288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0456" y="4142232"/>
            <a:ext cx="109728" cy="1097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0" y="42519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4297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&gt;1µm → 습식 or RIE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10nm~1µm → ICP-RIE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&lt;10nm (첨단 노드) → ALE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(원자층 에칭)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95935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4A7BF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959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유리·세라믹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49040" y="395935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0D4AA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3959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0" y="395935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959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웨이퍼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핵심 5가지를 기억하자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5가지만 이해하면 어떤 에칭 상황에서도 판단할 수 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55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52704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에칭은 "선택적 제거"다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화학물질·이온·레이저 등 수단은 달라도, "원하는 곳만 깎는다"는 본질은 같다.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수단 선택이 곧 품질·비용·정밀도를 결정한다.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11247120" cy="91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441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59736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에칭은 화학–물리 스펙트럼 위에 있다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7157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습식(순수 화학) ~ RIE(하이브리드) ~ 스퍼터(순수 물리)의 연속체로 이해하면 방식 간 관계가 명확해진다. 이분법은 혼란을 낳는다.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11247120" cy="91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374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39242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선택비·등방성·에칭속도 3요소가 품질을 좌우한다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6484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개념만 이해하면 어떤 에칭 방식이든 핵심 성능을 평가할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선택비 높을수록, 이방성 강할수록, 속도는 목적에 맞게.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61104"/>
            <a:ext cx="11247120" cy="91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3068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3251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소재–목적–규모가 에칭 방식을 결정한다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58114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"무엇을(소재), 왜(목적/정밀도), 얼마나(규모/비용)" 세 질문으로 최적 방식을 좁힐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매트릭스와 흐름도를 활용하라.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193792"/>
            <a:ext cx="11247120" cy="91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5239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52578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에칭은 단독 공정이 아닌 연결체다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5138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마스킹-에칭-검사-클리닝이 한 세트다.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모드 대부분은 이 연결 고리(전처리·후처리)에서 발생한다.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0292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배운 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278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에칭 = 선택적 제거. 화학-물리 스펙트럼으로 모든 방식을 이해한다.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221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선택비·등방성·에칭속도 3요소가 품질의 핵심 지표다.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165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소재-목적-규모 3질문으로 최적 방식을 좁힌다.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914400"/>
            <a:ext cx="5212080" cy="5303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097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학습 자료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1508760"/>
            <a:ext cx="4572000" cy="274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1691640"/>
            <a:ext cx="457200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01-chemical-etching.md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0756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화학적 에칭 — HF·FeCl₃ 실무,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안전·환경 가이드 (유리/금속)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926080"/>
            <a:ext cx="457200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02-semiconductor-etching.md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3101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RIE·DRIE·ICP·ALE 심층 분석,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공정 응용 사례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4160520"/>
            <a:ext cx="457200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03-physical-etching.md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45445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스퍼터·FIB·레이저·ECM,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레이저 나노 가공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탐색 질문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074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레이저 vs 화학 에칭의 손익분기점은 몇 개부터?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54223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레이저 어블레이션 후 잔류 응력과 장기 신뢰성?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57698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Q3. 나노임프린트(NIL) vs 레이저 에칭 — 어느 쪽이 경제적?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2026-03-25T02:47:35Z</dcterms:created>
  <dcterms:modified xsi:type="dcterms:W3CDTF">2026-03-25T02:47:35Z</dcterms:modified>
</cp:coreProperties>
</file>