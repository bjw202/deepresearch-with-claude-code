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 레이저</c:v>
                </c:pt>
              </c:strCache>
            </c:strRef>
          </c:tx>
          <c:spPr>
            <a:solidFill>
              <a:srgbClr val="4A7BF7"/>
            </a:solidFill>
            <a:ln w="25400" cap="flat">
              <a:solidFill>
                <a:srgbClr val="4A7BF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4A7BF7"/>
              </a:solidFill>
              <a:ln w="9525" cap="flat">
                <a:solidFill>
                  <a:srgbClr val="4A7B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Debris 감소</c:v>
                  </c:pt>
                  <c:pt idx="1">
                    <c:v>가공 속도</c:v>
                  </c:pt>
                  <c:pt idx="2">
                    <c:v>비용 효율</c:v>
                  </c:pt>
                  <c:pt idx="3">
                    <c:v>HAZ 최소화</c:v>
                  </c:pt>
                  <c:pt idx="4">
                    <c:v>표면 품질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90</c:v>
                </c:pt>
                <c:pt idx="2">
                  <c:v>90</c:v>
                </c:pt>
                <c:pt idx="3">
                  <c:v>20</c:v>
                </c:pt>
                <c:pt idx="4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 레이저</c:v>
                </c:pt>
              </c:strCache>
            </c:strRef>
          </c:tx>
          <c:spPr>
            <a:solidFill>
              <a:srgbClr val="00D4AA"/>
            </a:solidFill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Debris 감소</c:v>
                  </c:pt>
                  <c:pt idx="1">
                    <c:v>가공 속도</c:v>
                  </c:pt>
                  <c:pt idx="2">
                    <c:v>비용 효율</c:v>
                  </c:pt>
                  <c:pt idx="3">
                    <c:v>HAZ 최소화</c:v>
                  </c:pt>
                  <c:pt idx="4">
                    <c:v>표면 품질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</c:v>
                </c:pt>
                <c:pt idx="1">
                  <c:v>65</c:v>
                </c:pt>
                <c:pt idx="2">
                  <c:v>65</c:v>
                </c:pt>
                <c:pt idx="3">
                  <c:v>80</c:v>
                </c:pt>
                <c:pt idx="4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fs 레이저</c:v>
                </c:pt>
              </c:strCache>
            </c:strRef>
          </c:tx>
          <c:spPr>
            <a:solidFill>
              <a:srgbClr val="FFB020"/>
            </a:solidFill>
            <a:ln w="25400" cap="flat">
              <a:solidFill>
                <a:srgbClr val="FFB02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FFB020"/>
              </a:solidFill>
              <a:ln w="9525" cap="flat">
                <a:solidFill>
                  <a:srgbClr val="FFB0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Debris 감소</c:v>
                  </c:pt>
                  <c:pt idx="1">
                    <c:v>가공 속도</c:v>
                  </c:pt>
                  <c:pt idx="2">
                    <c:v>비용 효율</c:v>
                  </c:pt>
                  <c:pt idx="3">
                    <c:v>HAZ 최소화</c:v>
                  </c:pt>
                  <c:pt idx="4">
                    <c:v>표면 품질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85</c:v>
                </c:pt>
                <c:pt idx="1">
                  <c:v>30</c:v>
                </c:pt>
                <c:pt idx="2">
                  <c:v>30</c:v>
                </c:pt>
                <c:pt idx="3">
                  <c:v>95</c:v>
                </c:pt>
                <c:pt idx="4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싱귤레이션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흄/파티클 2차 오염 제어 전략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몰딩 기판 패키지 어레이의 피코초 레이저 절단 공정 최적화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2026.03.20  |  Deep Research Report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3중 방어 체계가 최적의 오염 제어 전략이다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구리와 EMC의 어블레이션 임계값 ~10배 차이가 근본 문제 → 층별 적응형 파라미터 전략 필요</a:t>
            </a:r>
            <a:endParaRPr lang="en-US" sz="170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"발생 억제 + 즉시 배출 + 재증착 방지"의 3중 방어가 최적 전략</a:t>
            </a:r>
            <a:endParaRPr lang="en-US" sz="170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 레이저가 생산성과 품질의 최적 균형점 (ns 대비 debris 현저 감소, fs 대비 비용 유리)</a:t>
            </a:r>
            <a:endParaRPr lang="en-US" sz="170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다층 구조의 재료 인터페이스 전환점이 최대 오염 위험 구간</a:t>
            </a:r>
            <a:endParaRPr lang="en-US" sz="170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과도한 어시스트 가스 압력은 Mach Stem Disk 형성으로 역효과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구리와 EMC의 임계값 ~10배 차이가 근본 문제이다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반도체 패키지 레이저 싱귤레이션의 3대 도전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167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어블레이션 부산물(흄, 파티클)이 인접 다이/패키지에 재증착 → 전기적 단락, 접합 불량, 외관 불량</a:t>
            </a:r>
            <a:endParaRPr lang="en-US" sz="170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다양한 재료(Cu + EMC + FR-4)가 혼합된 구조로 부산물 조성이 복잡</a:t>
            </a:r>
            <a:endParaRPr lang="en-US" sz="1700" dirty="0"/>
          </a:p>
          <a:p>
            <a:pPr marL="342900" indent="-342900">
              <a:lnSpc>
                <a:spcPct val="160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생산성(처리 속도)과 품질(오염 최소화) 사이의 트레이드오프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4572000"/>
            <a:ext cx="73152" cy="1188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6344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인사이트: 단일 파라미터 세트로는 Cu(문턱값 0.05-0.07 J/cm²)와 EMC(문턱값 0.23-0.55 J/cm²) 양쪽 모두에서 부산물을 최소화할 수 없다. 층별 적응형 파라미터 전략이 필수이다.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핵심 수치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22928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3중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방어 체계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발생억제 + 배출 + 방지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90138" y="164592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3527298" y="1737360"/>
            <a:ext cx="22928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~10x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7298" y="265176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임계값 차이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7298" y="301752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vs EMC 어블레이션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1636" y="164592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68796" y="1737360"/>
            <a:ext cx="22928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5개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68796" y="265176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결론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8796" y="301752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Researcher + Critic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73134" y="1645920"/>
            <a:ext cx="2567178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1737360"/>
            <a:ext cx="229285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12개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210294" y="265176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검증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0294" y="3017520"/>
            <a:ext cx="2292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매트릭스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리서치는 3개 관점에서 병렬 조사되었다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Researcher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파라미터 최적화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펄스폭, 파장, 플루언스, 반복률,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빔 프로파일, 멀티패스, 버스트 모드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Researcher 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배출 및 제거 시스템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어시스트 가스, 흡입/배기,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 필름, 세정, 인라인 모니터링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Researcher 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재료별 어블레이션 특성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Cu, EMC, FR-4, 솔더마스크,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다층 인터페이스, 오염 메커니즘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Critic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검증 (6개 체크리스트)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적용성, 수치 근거,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상충점, 누락, 확신도, 문제 정의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어블레이션 메커니즘과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부산물 생성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재료별 어블레이션 거동과 부산물 특성을 이해하여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효과적인 제어 전략의 기반을 마련한다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펄스폭에 따라 어블레이션 메커니즘이 근본적으로 달라진다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열영향부 (HAZ)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부산물 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비용/생산성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(&gt;1 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열적 어블레이션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(photothermal)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(40+ um)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마이크론급 구형 입자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용융 재증착, 탄화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낮은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높은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(1-100 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준-냉간 어블레이션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(플라즈마 플룸 지배)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좁음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(수 um)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나노~서브마이크론 입자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대비 현저히 적은 debris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(&lt;1 ps)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냉간 어블레이션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(cold ablation)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극소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(&lt;2 um)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 작은 나노입자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응집체 형성 경향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높은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낮은 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ps 레이저가 생산성과 품질의 최적 균형점이다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656832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79792" y="164592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7662672" y="17830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판단 기준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62672" y="2286000"/>
            <a:ext cx="3794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ps는 ns 대비 debris를 현저히 감소시키면서도 실용적 가공 속도를 유지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fs는 HAZ 극소화에 최적이지만 장비 비용 2-3배, 속도 저하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산업 현장에서 ps가 de facto 표준으로 자리잡는 추세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품질 최우선 시 fs, 범용 생산 시 ps 선택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fs 레이저는 HAZ를 줄이지만 나노파티클 수는 증가한다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Cold Ablation의 통념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레이저 = "깨끗한 가공" 으로 알려져 있음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&lt; 2 um (실질적 열영향 없음)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용융 재증착(recast) 거의 없음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표면 rim 형성 최소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실제 발견: 파티클 역설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fs는 오히려 더 많은 수의 나노파티클 생성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입자는 수십 nm이지만 응집체 5-10 um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수밀도(number density)로 포집 난이도 증가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"깨끗함"은 HAZ 관점에서만 사실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754880"/>
            <a:ext cx="73152" cy="1188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포인트: fs 선택 시 HAZ 최소화 이점은 확실하지만, 나노파티클 관리를 위한 추가적인 흡입/필터 시스템 강화가 필요하다. 파티클 관리 부담까지 고려하면 ps가 총합적으로 유리한 경우가 많다.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구리와 EMC의 어블레이션 임계값이 ~10배 차이난다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문턱값 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0.05-0.07 J/cm²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MDPI Materials 2022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~0.07 J/cm²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MDPI Materials 2022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FR-4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0.52-0.55 J/cm²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MDPI Materials 2022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FR-4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0.23-0.26 J/cm²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MDPI Materials 2022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에폭시(CFRP)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1064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16.3 J/cm²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PMC 7763314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73152" cy="16459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297680"/>
            <a:ext cx="10634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근본적 도전: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 문턱값(0.05-0.07 J/cm²)과 FR-4/EMC 문턱값(0.23-0.55 J/cm²)의 ~10배 차이는 하나의 플루언스로 모든 재료를 최적 절단하기 어렵다는 것을 의미한다. 8 J/cm² 이상 고플루언스에서는 "두 번째 어블레이션 체제"가 나타나 부산물이 급증한다.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 vs EMC: 상반된 어블레이션 거동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263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997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 (Cu)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9971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전도성 나노파티클 → 전기적 단락 최대 위험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CuO/Cu₂O 산화물 형성 (자기제한 5.5nm)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열전도율 → 열소산 빠름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낮은 어블레이션 문턱값 (0.05-0.07 J/cm²)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N₂ assist gas로 산화 방지 필수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7356" y="1645920"/>
            <a:ext cx="5362956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95644" y="1645920"/>
            <a:ext cx="53263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60236" y="1783080"/>
            <a:ext cx="49971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EMC (Epoxy Molding Compound)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60236" y="2286000"/>
            <a:ext cx="49971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유기 VOC 흄 + 실리카 필러 이원적 부산물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페놀, 비스페놀A 유도체 등 유해 VOC 발생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필러 크기가 어블레이션 효율 좌우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어블레이션 문턱값 (0.23-0.55 J/cm²)</a:t>
            </a:r>
            <a:endParaRPr lang="en-US" sz="14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Chemical deflash + waterjet 후세정 필수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다층 인터페이스 전환점이 최대 오염 위험 구간이다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 흡수 특성 급변: 유기물(낮은 임계값) → 금속(높은 임계값) 전환 시 과잉 에너지가 폭발적 파티클 방출 유발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혼합 부산물 생성: Cu 나노파티클 + 에폭시 탄화물 + 실리카 필러 복합 debris → 단일 세정법으로 제거 곤란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재증착 복합 오염: 전도성(Cu) + 절연성(SiO₂) + 유기(탄화물) 파티클 혼재 → 전기적 거동 예측 불가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572000"/>
            <a:ext cx="73152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663440"/>
            <a:ext cx="10634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대응 전략: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 통과 시 에너지를 점진적으로 조정하는 공정 설계 수준의 접근 필요. 레이저 파라미터와 세정 기술 각각의 최적화만으로는 해결되지 않는다.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ScienceDirect 2025, 구리/기판 다층 구조 레이저 선택적 제거 연구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4가지 재료가 각각 다른 부산물을 생성한다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 (구리)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전도성 나노파티클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CuO/Cu₂O 산화물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전기적 단락 최대 위험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N₂ 분위기 필수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EMC (에폭시 몰딩)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VOC 흄 + SiO₂ 파티클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탄화 잔류물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필러 크기 의존적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Chemical deflash 필수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FR-4 (기판)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유리섬유 분진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에폭시 VOC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극단적 열적 차이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UV 레이저 권장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솔더마스크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저분자 유기 VOC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Smear 잔류물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UV 광화학 분해 최적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선택적 제거 가능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EMC 필러 크기가 어블레이션 전략 자체를 좌우한다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어블레이션 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필러 거동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부산물 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증발 (Evaporation)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수지만 제거, 필러 잔류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유기 VOC 위주, 필러 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방출 (Direct Ejection)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필러 입자 통째로 방출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파티클, 높은 제거율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전이 구간 (Transition)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 메커니즘 혼합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혼합 부산물, 예측 곤란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73152" cy="16459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297680"/>
            <a:ext cx="106344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발견 (Zhang &amp; Shin, J. Manuf. Process, 2025):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필러의 EMC는 동일 조건에서 어블레이션 효율이 낮으며, 직접 방출 개시에 더 높은 레이저 파워가 필요하다. EMC 재료 사양(필러 크기/함량)이 레이저 공정 파라미터의 독립 변수임이 확인되었다.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레이저 파라미터 최적화로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발생을 억제한다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1선 방어: 레이저 파라미터 조정으로 흄/파티클 발생 자체를 최소화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파장 선택이 구리 흡수율과 EMC 분해 방식을 결정한다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 흡수율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EMC/에폭시 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부산물 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IR (1064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(높은 반사율)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열적 분해 지배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넓은 HAZ, 탄화, 많은 debris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Green (532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중~높음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열적+광화학 혼합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적절한 HAZ, 깨끗한 절단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복합재료 실용적 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(355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광화학 어블레이션 지배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HAZ, 최소 debris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최고 품질 (비용 높음)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Tunna et al. (구리 파장별 효율), Semiconductor Digest 2008, Spectra-Physics Application Note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532nm Green 레이저가 복합재료에 실용적 최적이다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구리에서 어블레이션 효율이 가장 높음 (Tunna et al. 연구)</a:t>
            </a:r>
            <a:endParaRPr lang="en-US" sz="16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1064nm에서는 구리 반사율이 높아 비효율적, 355nm에서는 플라즈마 차폐 효과 증가</a:t>
            </a:r>
            <a:endParaRPr lang="en-US" sz="16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Spectra-Physics Talon GR70 (532nm, 70W)으로 Cu/PI/Cu FPCB 절단 시 "debris와 용융물이 특히 주목할 만큼 없었다"</a:t>
            </a:r>
            <a:endParaRPr lang="en-US" sz="1600" dirty="0"/>
          </a:p>
          <a:p>
            <a:pPr marL="342900" indent="-342900">
              <a:lnSpc>
                <a:spcPct val="16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UV 대비 비용 효과적이면서 Cu와 유기물 모두에 합리적 성능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74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"532nm 최적"은 Nd:YAG ns 레이저 기반 데이터이다. ps 레이저에서는 플라즈마 차폐 패턴이 달라질 수 있으며, ps 레이저에서의 파장별 구리 어블레이션 효율 비교 데이터는 제한적이다.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문턱값의 e²배 근처에서 어블레이션 효율이 최대가 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Nolte et al.의 이론: 최적 플루언스 = e² × Fth (문턱값의 약 7.4배)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이보다 높으면: 과잉 에너지가 열로 전환 → 용융/비산/재증착 증가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이보다 낮으면: 어블레이션 속도 저하 → 생산성 감소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 최적 플루언스: ~e² × 0.06 ≈ 0.44 J/cm² (이론적)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구리에서 8 J/cm² 이상: "두 번째 어블레이션 체제" → 열침투 깊이 지배, 부산물 급증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MDPI Materials 15(11):3932, 2022; SPIE 2015, "Understanding laser ablation efficiency"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파라미터로 Cu와 EMC 모두를 최적화할 수 없다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적응형 파라미터 전략</a:t>
            </a:r>
            <a:endParaRPr lang="en-US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층 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높은 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(~0.4 J/cm²)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100-300 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구리의 높은 반사율 + 낮은 문턱값 대응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층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낮은 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200-500 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유기물의 낮은 문턱값, 탄화 방지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인터페이스 통과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점진적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적응형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혼합 debris 최소화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663440"/>
            <a:ext cx="10634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LIBS(레이저 유도 플라즈마 분광) 또는 광다이오드 기반 인라인 모니터링으로 재료 전환을 실시간 감지 → 파라미터 자동 전환. 현재 연구 단계이나, threshold alarm 기반 이상 감지는 즉시 구현 가능.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저에너지 멀티패스가 고에너지 싱글패스보다 debris를 줄인다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멀티패스 전략의 장점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HAZ 및 debris 현저히 감소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깨끗한 엣지 품질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에너지 관점에서도 20-48% 효율적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패스 간 열소산 허용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최적 조건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패스당 제거 깊이: 수~수십 um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스캔(cross-hatch) 방식 권장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패키지 1mm 기준: 약 10회 패스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스캔 속도: 10-100 mm/s 범위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Semiconductor Digest 2008, PMC 6189863 (ps 레이저), MDPI Materials 2022 (배터리 전극)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8-12회 다회 패스가 실용적 최적이다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Semiconductor Digest (2008): "단일 패스로 1mm 관통 가능하지만, 과도한 HAZ 발생. 약 10회 패스가 속도와 엣지 품질의 최적 조합"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PMC 6189863 (2017): ps 레이저에서 정지 빔 다회 펄스는 재증착으로 깊이 정체. 스캔 다회 패스가 재증착을 피하며 완전 관통 달성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MDPI Materials (2022): 저플루언스 + 다회 패스가 총 에너지 관점에서도 20-48% 더 효율적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74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확신도 교정: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데이터는 2008년 ns 레이저 + 배터리 전극 데이터 기반이다. ps 레이저 + EMC/Cu 복합재료에서의 최적 패스 수는 재검증이 필요하다.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반복률 100-500 kHz에서 열축적과 생산성이 균형을 이룬다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열축적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입자 차폐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정밀 작업, 열에 민감한 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~100 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시작됨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실용적 생산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~MHz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현저함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마이크로초 스케일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고반복률에서 roughness 증가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열관리 주의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인큐베이션 효과: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펄스가 어블레이션 문턱값을 낮춰 더 낮은 플루언스에서도 제거가 가능해지는 긍정적 측면도 있다.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Top-hat 빔 프로파일이 균일한 어블레이션을 달성한다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Gaussian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Top-hat (Flat-top)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중심 피크, 주변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어블레이션 균일성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불균일 (중심 과어블레이션)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균일한 어블레이션 깊이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Debris/재증착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불균일한 방출, 응집 경향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제어된 제거, 재증착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효율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(주변부 낭비)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(&gt;96% throughput)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입자 균일도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넓은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좁은 분포 (~10-20 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Edmund Optics, PMC 12927492 (2026), SPIE 11107 (2019)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MHz 버스트 모드가 대형 파티클 형성을 억제한다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조도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Debris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펄스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MHz 버스트 (3-6)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인큐베이션 효과 활용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0.1-0.63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재증착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GHz 버스트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극단적 열축적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0.55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폴리싱 단계 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Biburst (MHz+GHz)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2단계 조합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0.45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MHz 제거 → GHz 마무리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663440"/>
            <a:ext cx="106344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확신도: 낮음-중간.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버스트 모드 데이터는 210 fs 펄스 + 구리/스테인리스강 단일 재료 기반(PMC 9890557). ps 펄스 + EMC/Cu 복합재료에서는 유사한 효과가 기대되나 정량적 검증이 필요하다.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레이저 파라미터 종합 권장안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1-10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ns 대비 debris 현저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 nm 또는 355 nm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흡수율 + EMC 광화학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(ns 데이터)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Cu: ~0.4 / EMC: 별도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문턱값의 e²배 근처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패스 전략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저에너지 8-12회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2008 ns + 배터리 전극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프로파일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Top-hat 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재료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100-500 kHz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열축적 최소화 + 생산성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어시스트 가스와 흡입으로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즉시 배출한다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2선 방어: 발생한 흄/파티클을 즉시 배출하여 재증착을 방지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N₂가 EMC 절단용 어시스트 가스의 최적 선택이다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흄/파티클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 (질소)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패키지 절단 표준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비반응성, 산화 방지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산화물 형성 억제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 (아르곤)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반응성 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완전 불활성, 높은 밀도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Debris 배출 효과적 (비용 높음)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 (압축공기)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저비용 범용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21% O₂, 약간 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탄화물 생성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 (헬륨)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특수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낮은 밀도, 높은 열전도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Compact flow 형성에 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Riveiro et al., Materials 12(1):157, 2019 (PMC6337310)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과도한 가스 압력은 Mach Stem Disk를 형성하여 역효과를 낳는다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Mach Stem Disk(MSD) 형성: 고압 가스가 커프 입구에서 정상충격파 형성 → 가스 침투력 감소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경계층 분리: 커프 내벽에서 가스 흐름 분리 → 용융물 제거 효율 저하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외기 혼입: 충격파와 와류가 주변 공기를 끌어들여 가스 순도 저하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사례: 7 bar → 4 bar 감압 시 커프 내 질량유량 오히려 증가, 품질 개선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74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주의: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데이터는 금속 판재 절단(mm급 커프) 기반이다. 반도체 패키지 싱귤레이션(수십 um급 커프)에서 동일한 유체역학 현상이 발생하는지 검증이 필요하다.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Side-blow가 Coaxial보다 debris 배출에 효과적이다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분사 방식 비교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362956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Coaxial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 가스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경로 보호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~90% 면적 차단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(choking 발생)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Cross-jet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Side-blow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Choking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측면 debris 배출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비대칭 가스 분포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일측 품질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Dual/Hybrid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빔 보호 + 배출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동시 달성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복잡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유량 최적화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77356" y="1645920"/>
            <a:ext cx="5362956" cy="438912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/>
        </p:spPr>
      </p:sp>
      <p:sp>
        <p:nvSpPr>
          <p:cNvPr id="7" name="Text 4"/>
          <p:cNvSpPr/>
          <p:nvPr/>
        </p:nvSpPr>
        <p:spPr>
          <a:xfrm>
            <a:off x="6460236" y="178308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Choking 문제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60236" y="2286000"/>
            <a:ext cx="49971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 Rocca(1991)는 coaxial nozzle에서 가스 제트의 단면적이 커프보다 훨씬 커서 ~90%의 면적 차단(area blockage)이 발생함을 발견하였다.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커프 폭과 유사한 출구 직경의 비동축 노즐 사용을 권장한다.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특히 반도체 패키지의 좁은 스트리트(&lt; 100 um)에서는 side-blow 방식이 필수적이다.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가스 튜브를 레이저 경로와 평행 배치하여 실시간 배출한다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특허 WO2019054945A1 (2019) — EMC 기판 직접 대상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가스 튜브가 레이저 빔 경로를 따라 평행하게 배치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절단 스트리트(singulation street)를 따라 압축 가스 분사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기판은 진공 지그 위에 고정 (1-3cm 깊이, 1mm 이상 폭의 트렌치)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펄스 레이저(10kHz 이상 반복률)로 다중 패스 절단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ablation 파티클, 수지 입자, 열 잔류물을 배출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30352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특허 구조는 EMC 기판 절단에 직접 적용된 검증된 설계이며, 가스 튜브의 방향이 레이저 이동 방향과 일치하는 것이 핵심이다.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HEPA + 활성탄 필터 조합이 SiO₂와 VOC를 동시 처리한다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필터 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물질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Pre-filter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 입자·스파크 포집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파편, 대형 debris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메시, 세척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HEPA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미세 입자 포집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SiO₂ 필러, Cu 나노파티클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 um 이상 99.97%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활성탄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VOC·유기 가스 흡착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에폭시 분해 가스, 페놀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EMC/솔더마스크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(선택) 정전기 집진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하전 debris 포집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나노파티클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포집 효율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EMC 절단 시 SiO₂ 미립자(HEPA)와 유기 VOC(활성탄)를 동시에 처리해야 하므로, HEPA + 활성탄 복합 시스템이 필수적이다.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DISCO HogoMax가 재증착 방지의 업계 표준이다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수치/설명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235 cP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금속 불순물 (Na, K, Fe, Cu)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50 ppb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코팅 두께 (1000 rpm)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1.58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코팅 두께 (3000 rpm)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0.82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 편차 (1000 rpm)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0.04 um (최대)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제거 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 water, 30초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FT-IR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세정 후 잔류물 없음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77356" y="1645920"/>
            <a:ext cx="5362956" cy="4389120"/>
          </a:xfrm>
          <a:prstGeom prst="roundRect">
            <a:avLst>
              <a:gd name="adj" fmla="val 1667"/>
            </a:avLst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6460236" y="1783080"/>
            <a:ext cx="49971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기술적 차별점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60236" y="2286000"/>
            <a:ext cx="49971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표면장력 최적화로 볼 범프, 전극 등 요철부에서도 균일 코팅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레이저 열에 의한 가교결합(cross-linking) 억제 설계 — 경쟁 제품은 열에 의해 응고되어 제거 곤란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30초 DI water 세정 완전 제거 검증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DISCO TR21-02 (2022, 원문 확인 완료)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후세정 기술별 특성과 적용 조건이 다르다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세정 원리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입자 제거 능력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반도체 적합성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스노우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열충격 + 기계적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용매 + 승화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3-5 nm, 99.9%+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(건식)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인라인 가능, 비접촉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플라즈마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이온화 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화학적 에칭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유기물 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진공 필요, 손상 우려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액체 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캐비테이션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마이크론급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(습식)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기판 손상, 재오염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Chemical deflash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Waterjet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화학 용해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고압 세정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잔류물 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STMicro QFN 실증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EMC 가공 후에는 Chemical deflash가 필수이다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STMicroelectronics QFN 패키지 실증 데이터 (Antilano &amp; Arellano, 2019)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레이저: 파장 1030 nm, 40W, 200-800 kHz, 펄스폭 800 ± 200 fs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결과: EMC 어블레이션 후 리드프레임 측벽 노출 성공, HAZ 미관찰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잔류물: 잔류 수지 및 필러 → Chemical deflash + 고압 waterjet으로 제거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 water 세정만으로는 EMC 탄화물과 실리카 잔류물 불충분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07492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검증: R2(CO₂ 스노우)와 R3(Chemical deflash) 간 상충에서, 실제 EMC 패키지 가공 사례(STMicro)에 기반한 R3의 주장을 우선 채택하였다.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인라인 파티클 모니터링으로 이상을 즉시 감지한다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제품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검출 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에어로졸 파티클 카운터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PMS Airnet II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 um+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배기 라인 실시간 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인라인 파티클 센서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CyberOptics IPS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고출력 블루 레이저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LIBS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 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원소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플라즈마 조성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광다이오드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다수 연구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프로세스 의존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방출 광 강도로 간접 추론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피드백 제어(흄 농도 기반 레이저 자동 조정)는 연구 단계. 파티클 카운터 기반 threshold alarm은 즉시 구현 가능.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LPBF 크로스플로우 원리를 차용하여 가스 유동을 최적화한다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[이질 도메인: 금속 적층제조 (LPBF/SLM)]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LPBF 원리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절단 적용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Cross-flow 균일성이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부품 품질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절단 스트리트 전체에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균일한 가스 흐름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Ferrar et al.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바이패스 시스템으로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재순환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흄 재순환 방지용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바이패스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ANSYS Fluent 시뮬레이션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노즐 최적화로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난류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좁은 스트리트에 맞춘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노즐 단면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Chen et al., IHPC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Coanda 효과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가스가 챔버 벽면을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따라 흐르는 현상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IJCESEN paper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스케일 차이 주의: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LPBF의 1.5 m/s 가스 유속은 분말층 위 수평 흐름 기준이다. EMC 절단의 좁은 커프와 상이한 debris 특성으로 최적 유속은 다를 것이다.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재료마다 다른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오염 경로가 존재한다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 오염 메커니즘과 재료 의존적 대응 전략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구리 나노파티클 재증착이 전기적 단락의 최대 위험이다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나노파티클이 인접 패드/트레이스 간 브릿지 형성 → 전기적 단락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Cu₂O 자기제한 산화층: 5.5 ± 0.7 nm (Nilsson et al., in situ STEM)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100℃ 이상에서 Kirkendall void와 함께 산화 급격 진행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금속 Cu = 직접 단락, CuO/Cu₂O = 반도체 특성으로 접촉 저항 불안정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재증착 방지가 최우선, 불가피 시 산화 환경 제어가 2차 방어선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Liu et al. (UC Berkeley), Nilsson et al. (in situ STEM), Girardi et al. (JMEP 2015)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EMC는 유기 VOC와 실리카 파티클을 동시에 생성한다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부산물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유기 VOC 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페놀, 비스페놀A 파생물, CO, CO₂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호흡기 자극, 작업자 안전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탄화 잔류물 (char)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불완전 분해 시 커프 벽면 탄소질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오염, 접착 불량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실리카 파티클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미분해 필러의 물리적 방출 (um급)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비전도성, 기계적 오염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혼합 응집체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탄화물 + 실리카 + 수지 잔류물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세정 난이도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레이저 "cold ablation"에서도 초점 체적 내 순간 800-1200 K에 도달 (Zhang &amp; Shin, 2025, 시뮬레이션)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FR-4는 유리섬유와 에폭시의 극단적 열적 차이로 선택적 어블레이션이 일어난다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유리섬유 E-glass 융점 ~1725℃ vs 에폭시 Tg ~130-180℃ → 극단적 차이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에폭시가 먼저 기화/분해 → VOC 흄 발생, 유리섬유가 잔류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CO₂ 레이저(10.6 um): 탄화 경향 증가 → UV 레이저(355 nm) 권장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LPKF CleanCut 기술: 탄화, 연소, HAZ 없이 기술적 청정도 달성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074920"/>
            <a:ext cx="106344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숨은 변수: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FR-4의 수분 함량(0.10-0.20%)이 레이저 가공 시 급격한 증기화를 일으켜 디라미네이션 및 예측 불가능한 파티클 방출을 유발할 수 있다.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2차 오염은 전기적 단락, 접합 불량, 외관 불량으로 이어진다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오염 경로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 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메커니즘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나노파티클 재증착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리드프레임/배선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전도성 파티클이 패드 간 브릿지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산화물 파티클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어블레이션 후 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CuO/Cu₂O 조건부 전도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탄화 잔류물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EMC, 솔더마스크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탄소질 잔류물 부분 전도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와이어본딩 불량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본딩 패드 위 재증착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Au-Cu 본딩 계면 오염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솔더링 불량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산화물, EMC 잔류물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솔더 습윤성 저하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재료별로 최우선 과제와 대응 전략이 다르다</a:t>
            </a:r>
            <a:endParaRPr lang="en-US" sz="2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최우선 과제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레이저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필수 후처리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특수 고려사항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재증착 방지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(전기적 단락)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fs/ps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 water + IPA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 assist gas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필러 잔류물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탄화물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Chemical deflash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waterjet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필러 크기별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FR-4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유리섬유 분진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탄화 방지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(355nm)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디스미어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(필요 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회피, 수분 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인터페이스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혼합 debris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재료별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복합 세정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 점진적 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EMC 어블레이션 흄은 작업자 안전 위험을 수반한다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에폭시 수지 열분해 시 페놀, 비스페놀A 유도체, 이소시아네이트 등 유해물 발생 가능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EMC SDS: GHS H314 — 심한 피부 화상 및 눈 손상 유발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결정질 실리카 필러 포함 시 호흡성 분진으로 규폐증 위험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국소 배기(LEV: Local Exhaust Ventilation) 없이는 VOC 노출 위험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HEPA + 활성탄 복합 필터 시스템이 반도체 클린룸 환경의 표준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3중 방어 체계로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오염을 최소화한다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 억제 + 즉시 배출 + 재증착 방지의 통합 전략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가공 전→중→후 단계별 3중 방어 체계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3선 방어 — 재증착 방지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HogoMax 수용성 보호 필름 코팅 (0.82-1.58 um)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debris 재증착의 1차 방어선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898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중 — 1선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1선 방어 — 발생 억제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저에너지 멀티패스 + 적절한 펄스폭/파장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적응형 파라미터 전략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중 — 2선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2선 방어 — 즉시 배출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N₂ side-blow + 로컬 흡입 + 파티클 모니터링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HEPA + 활성탄 필터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5184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3선 방어 — 후세정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1차: DI water (HogoMax 제거)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2차: Chemical deflash + waterjet (EMC)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보조: CO₂ 스노우 (잔류 나노파티클)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1선 방어: 레이저 파라미터 4대 핵심 요소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펄스폭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1-10 ps 권장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 대비 debris 현저 감소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대비 비용/생산성 유리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532nm Green 또는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355nm UV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흡수율 + EMC 광화학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플루언스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문턱값의 ~e²배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Cu: ~0.4 J/cm²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EMC: 별도 최적화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패스 전략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저에너지 8-12회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스캔 방식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패스 간 열소산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2선 방어: 배출 시스템 4대 구성 요소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가스 종류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N₂ (순도 99.9%+)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 산화 방지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EMC 탄화물 억제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분사 방식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Side-blow / Cross-jet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Coaxial의 choking 회피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커프 폭 대응 노즐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로컬 흡입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절단점 근방 음압 형성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가스 튜브 평행 배치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(WO2019054945A1)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필터 시스템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HEPA + 활성탄 필수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SiO₂ + VOC 동시 처리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필터 모니터링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3선 방어: 재증착 방지 및 후세정 단계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HogoMax 보호 필름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전 코팅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재증착 1차 방어선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30초 DI water 제거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DI Water 세정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가공 후 1차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HogoMax + 표면 debris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 제거 (30초)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Chemical Deflash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EMC 가공 시 필수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잔류 수지, 실리카 필러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고압 waterjet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CO₂ 스노우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보조 세정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3-5 nm 파티클 제거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건식, 비접촉, 인라인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조건별로 전략 조합이 달라져야 한다</a:t>
            </a:r>
            <a:endParaRPr lang="en-US" sz="24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전략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Cu층 두꺼움 (&gt;18 um)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532nm + N₂ 필수 + 보호 필름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debris 지배적 → 산화방지 최우선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대형 필러 (&gt;20 um)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높은 레이저 파워 + 물리적 흡입 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방출 모드 → 대형 파티클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택트타임 여유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저에너지 멀티패스 + UV + fs/short ps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최고 품질, debris 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택트타임 제약 강함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532nm + 500kHz + 8-10 패스 + N₂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품질과 생산성 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스트리트 폭 &lt; 50 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Side-blow 필수, 보호필름 두께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좁은 커프에서 choking 심화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후세정 wet 불허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스노우 + 플라즈마 (건식 조합)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건식만 허용 시 선택지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기반 조정: 문제 발견 시 파라미터를 이렇게 바꿔라</a:t>
            </a:r>
            <a:endParaRPr lang="en-US" sz="2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발견 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1차 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2차 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3차 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 재증착 발견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 유량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(MSD 이하에서)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HogoMax 미사용 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멀티패스 수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(패스당 플루언스 감소)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탄화물 잔류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파장 → UV 전환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(광화학 어블레이션)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플루언스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패스 수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Chemical deflash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후세정 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커프 엣지 품질 불량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가스 압력 단계적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(MSD 의심)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반복률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(열축적 억제)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패스 간 냉각 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근거 검증과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후속 과제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 검증 결과와 본 리서치의 한계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주장 12개의 근거 신뢰도가 상이하다</a:t>
            </a:r>
            <a:endParaRPr lang="en-US" sz="24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도메인 일치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ps가 ns 대비 debris 현저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Cu/EMC 임계값 ~10배 차이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HogoMax 30초 완전 제거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Chemical deflash EMC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532nm Cu 최적 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(ns 데이터)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중간-높음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N₂가 EMC 최적 가스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(간접 추론)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멀티패스 &gt; 싱글패스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(2008 ns)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Top-hat &gt; Gaussian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 (단일 재료)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MSD 역효과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낮음-중간 (금속)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MHz 버스트 모드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(fs, 단일 금속)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낮음-중간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CO₂ 스노우 99.9%+ 효율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(제조사 자료)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3개 상충점을 근거 강도 기반으로 해결하였다</a:t>
            </a:r>
            <a:endParaRPr lang="en-US" sz="24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상충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R1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R3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최적 펄스폭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= 종합 최적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= 정밀 가공 권장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양립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ps 범용, fs 품질 최우선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fs 파티클 특성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"가장 작은 나노입자"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"수밀도 높음,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응집체 5-10 um"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 현상의 다른 프레이밍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실효 크기는 응집체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EMC 후세정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R2: CO₂ 스노우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/DI water 충분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R3: Chemical deflash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waterjet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R3 우선 채택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STMicro QFN 실증 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 정량화, 경쟁 기술 비교, 실패 모드 분석이 후속 과제이다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비용/생산성 정량화 부재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가격, 공정 추가 비용, 택트타임 영향의 정량 비교 없음. 의사결정자는 별도 벤치마크 필요.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 기술 대비 맥락 부재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블레이드/플라즈마/스텔스 다이싱 대비 레이저 흄 문제 심각도 미비교. "왜 레이저인가" 미답변.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실패 모드 미분석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레이저 출력 드리프트, 보호 필름 코팅 불량, 필터 포화 등 실패 시나리오 대응 미포함.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대상 도메인 직접 데이터 부족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주장 다수가 인접 도메인(금속 판재, 배터리 전극) 도출. ps + EMC/Cu 직접 실험 데이터 제한적.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3중 방어 체계 + 재료별 맞춤 전략이 핵심이다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 억제(레이저 파라미터) + 즉시 배출(가스/흡입) + 재증착 방지(보호 필름/후세정)의 3중 방어 체계를 구축하라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10268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Cu와 EMC의 ~10배 임계값 차이를 인식하고, 층별 적응형 파라미터 전략을 설계하라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566160"/>
            <a:ext cx="10268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다층 인터페이스 전환점의 혼합 오염이 최대 위험임을 고려하여 인터페이스 통과 시 에너지를 점진적으로 조정하라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46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후속 탐색 질문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EMC 필러 크기/함량별 최적 레이저 파라미터 맵 구축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인터페이스 전환 감지 및 적응형 제어의 현재 기술 수준 조사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레이저 vs 블레이드/플라즈마/스텔스 다이싱의 패키지 유형별 적합성 기준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2026-03-20T05:16:02Z</dcterms:created>
  <dcterms:modified xsi:type="dcterms:W3CDTF">2026-03-20T05:16:02Z</dcterms:modified>
</cp:coreProperties>
</file>